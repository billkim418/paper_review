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46" r:id="rId2"/>
    <p:sldId id="375" r:id="rId3"/>
    <p:sldId id="497" r:id="rId4"/>
    <p:sldId id="498" r:id="rId5"/>
    <p:sldId id="502" r:id="rId6"/>
    <p:sldId id="503" r:id="rId7"/>
    <p:sldId id="499" r:id="rId8"/>
    <p:sldId id="513" r:id="rId9"/>
    <p:sldId id="500" r:id="rId10"/>
    <p:sldId id="504" r:id="rId11"/>
    <p:sldId id="505" r:id="rId12"/>
    <p:sldId id="508" r:id="rId13"/>
    <p:sldId id="501" r:id="rId14"/>
    <p:sldId id="509" r:id="rId15"/>
    <p:sldId id="507" r:id="rId16"/>
    <p:sldId id="511" r:id="rId17"/>
    <p:sldId id="512" r:id="rId18"/>
    <p:sldId id="510" r:id="rId19"/>
    <p:sldId id="418" r:id="rId2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79FF9"/>
    <a:srgbClr val="F5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612" autoAdjust="0"/>
  </p:normalViewPr>
  <p:slideViewPr>
    <p:cSldViewPr snapToGrid="0">
      <p:cViewPr>
        <p:scale>
          <a:sx n="150" d="100"/>
          <a:sy n="150" d="100"/>
        </p:scale>
        <p:origin x="108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LogTrans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- Transformer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계산 복잡도 감소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69460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타우 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이전 모델들은 같은 시점에서의 정보만을 취합하여 진행한다는 특징을 가짐 </a:t>
                </a:r>
                <a:r>
                  <a:rPr lang="ko-KR" altLang="en-US" dirty="0" err="1"/>
                  <a:t>그렇다보니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차원간의</a:t>
                </a:r>
                <a:r>
                  <a:rPr lang="ko-KR" altLang="en-US" dirty="0"/>
                  <a:t> 연관성을 </a:t>
                </a:r>
                <a:r>
                  <a:rPr lang="ko-KR" altLang="en-US" dirty="0" err="1"/>
                  <a:t>파악할수는</a:t>
                </a:r>
                <a:r>
                  <a:rPr lang="ko-KR" altLang="en-US" dirty="0"/>
                  <a:t> 없다</a:t>
                </a:r>
                <a:r>
                  <a:rPr lang="en-US" altLang="ko-KR" dirty="0"/>
                  <a:t>,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68912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09721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23980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42924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DSW</a:t>
            </a:r>
            <a:r>
              <a:rPr lang="ko-KR" altLang="en-US" dirty="0"/>
              <a:t>를 바로 일반 트랜스포머 구조에 사용하면 단점이 많음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48541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구조에서 </a:t>
            </a:r>
            <a:r>
              <a:rPr lang="en-US" altLang="ko-KR" dirty="0"/>
              <a:t>MSA</a:t>
            </a:r>
            <a:r>
              <a:rPr lang="ko-KR" altLang="en-US" dirty="0"/>
              <a:t>는 계속 같은 파라미터를 학습합니다</a:t>
            </a:r>
            <a:r>
              <a:rPr lang="en-US" altLang="ko-KR" dirty="0"/>
              <a:t>. Head number : 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61602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2379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36902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</a:t>
            </a:r>
            <a:r>
              <a:rPr lang="en-US" altLang="ko-KR" dirty="0"/>
              <a:t>layer</a:t>
            </a:r>
            <a:r>
              <a:rPr lang="ko-KR" altLang="en-US" dirty="0"/>
              <a:t>를 제외한 행은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8650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Encoder : </a:t>
            </a:r>
            <a:r>
              <a:rPr lang="en-US" altLang="ko-KR" dirty="0" err="1"/>
              <a:t>Concat</a:t>
            </a:r>
            <a:r>
              <a:rPr lang="ko-KR" altLang="en-US" dirty="0"/>
              <a:t>해가며 학습이 진행되고 </a:t>
            </a:r>
            <a:r>
              <a:rPr lang="en-US" altLang="ko-KR" dirty="0"/>
              <a:t>+ Layer </a:t>
            </a:r>
            <a:r>
              <a:rPr lang="ko-KR" altLang="en-US" dirty="0"/>
              <a:t>수보다 </a:t>
            </a:r>
            <a:r>
              <a:rPr lang="en-US" altLang="ko-KR" dirty="0"/>
              <a:t>1</a:t>
            </a:r>
            <a:r>
              <a:rPr lang="ko-KR" altLang="en-US" dirty="0"/>
              <a:t>개 많은 결과가 나오게 되고 해당 값이 그대로 </a:t>
            </a:r>
            <a:r>
              <a:rPr lang="en-US" altLang="ko-KR" dirty="0"/>
              <a:t>decoder</a:t>
            </a:r>
            <a:r>
              <a:rPr lang="ko-KR" altLang="en-US" dirty="0"/>
              <a:t>에 투입됨</a:t>
            </a:r>
            <a:br>
              <a:rPr lang="en-US" altLang="ko-KR" dirty="0"/>
            </a:br>
            <a:r>
              <a:rPr lang="en-US" altLang="ko-KR" dirty="0"/>
              <a:t>Decoder : </a:t>
            </a:r>
            <a:r>
              <a:rPr lang="ko-KR" altLang="en-US" dirty="0"/>
              <a:t>고정된 크기를 가지는 이전 값을 원하는 만큼 </a:t>
            </a:r>
            <a:r>
              <a:rPr lang="ko-KR" altLang="en-US" dirty="0" err="1"/>
              <a:t>출력해나갈수</a:t>
            </a:r>
            <a:r>
              <a:rPr lang="ko-KR" altLang="en-US" dirty="0"/>
              <a:t> 있음 </a:t>
            </a:r>
            <a:r>
              <a:rPr lang="en-US" altLang="ko-KR" dirty="0"/>
              <a:t>-&gt; </a:t>
            </a:r>
            <a:r>
              <a:rPr lang="ko-KR" altLang="en-US" dirty="0"/>
              <a:t>기존 그대로 전달해 나가는 구조</a:t>
            </a:r>
            <a:br>
              <a:rPr lang="en-US" altLang="ko-KR" dirty="0"/>
            </a:br>
            <a:r>
              <a:rPr lang="en-US" altLang="ko-KR" b="1" dirty="0"/>
              <a:t>TSA</a:t>
            </a:r>
            <a:r>
              <a:rPr lang="ko-KR" altLang="en-US" dirty="0"/>
              <a:t>를 통해 시간 및 차원 간 의존성을 학습</a:t>
            </a:r>
            <a:r>
              <a:rPr lang="en-US" altLang="ko-KR" dirty="0"/>
              <a:t>. </a:t>
            </a:r>
            <a:r>
              <a:rPr lang="en-US" altLang="ko-KR" b="1" dirty="0"/>
              <a:t>MSA</a:t>
            </a:r>
            <a:r>
              <a:rPr lang="ko-KR" altLang="en-US" dirty="0"/>
              <a:t>를 통해 </a:t>
            </a:r>
            <a:r>
              <a:rPr lang="ko-KR" altLang="en-US" dirty="0" err="1"/>
              <a:t>디코더의</a:t>
            </a:r>
            <a:r>
              <a:rPr lang="ko-KR" altLang="en-US" dirty="0"/>
              <a:t> 출력과 인코더의 출력을 결합</a:t>
            </a:r>
            <a:r>
              <a:rPr lang="en-US" altLang="ko-KR" dirty="0"/>
              <a:t>. </a:t>
            </a:r>
            <a:r>
              <a:rPr lang="ko-KR" altLang="en-US" b="1" dirty="0" err="1"/>
              <a:t>잔차</a:t>
            </a:r>
            <a:r>
              <a:rPr lang="ko-KR" altLang="en-US" b="1" dirty="0"/>
              <a:t> 연결</a:t>
            </a:r>
            <a:r>
              <a:rPr lang="ko-KR" altLang="en-US" dirty="0"/>
              <a:t>을 통해 정보 손실을 방지하고 학습을 가속화</a:t>
            </a:r>
            <a:r>
              <a:rPr lang="en-US" altLang="ko-KR" dirty="0"/>
              <a:t>. </a:t>
            </a:r>
            <a:r>
              <a:rPr lang="en-US" altLang="ko-KR" b="1" dirty="0"/>
              <a:t>MLP</a:t>
            </a:r>
            <a:r>
              <a:rPr lang="ko-KR" altLang="en-US" dirty="0"/>
              <a:t>를 통해 비선형 변환을 추가하여 복잡한 패턴을 학습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6441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ILI : </a:t>
            </a:r>
            <a:r>
              <a:rPr lang="ko-KR" altLang="en-US" dirty="0"/>
              <a:t>해당 데이터셋은 매우 작다</a:t>
            </a:r>
            <a:r>
              <a:rPr lang="en-US" altLang="ko-KR" dirty="0"/>
              <a:t>. </a:t>
            </a:r>
            <a:r>
              <a:rPr lang="en-US" altLang="ko-KR" dirty="0" err="1"/>
              <a:t>Pyraformer</a:t>
            </a:r>
            <a:r>
              <a:rPr lang="en-US" altLang="ko-KR" dirty="0"/>
              <a:t>, </a:t>
            </a:r>
            <a:r>
              <a:rPr lang="en-US" altLang="ko-KR" dirty="0" err="1"/>
              <a:t>FEDformer</a:t>
            </a:r>
            <a:r>
              <a:rPr lang="en-US" altLang="ko-KR" dirty="0"/>
              <a:t> : </a:t>
            </a:r>
            <a:r>
              <a:rPr lang="ko-KR" altLang="en-US" dirty="0"/>
              <a:t>시계열 분해를 통해 성능을 올림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2985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DSW</a:t>
            </a:r>
            <a:r>
              <a:rPr lang="ko-KR" altLang="en-US" dirty="0"/>
              <a:t>의 </a:t>
            </a:r>
            <a:r>
              <a:rPr lang="ko-KR" altLang="en-US" dirty="0" err="1"/>
              <a:t>임베딩의</a:t>
            </a:r>
            <a:r>
              <a:rPr lang="ko-KR" altLang="en-US" dirty="0"/>
              <a:t> 장점</a:t>
            </a:r>
            <a:endParaRPr lang="en-US" altLang="ko-KR" dirty="0"/>
          </a:p>
          <a:p>
            <a:r>
              <a:rPr lang="en-US" altLang="ko-KR" dirty="0"/>
              <a:t>TSA</a:t>
            </a:r>
            <a:r>
              <a:rPr lang="ko-KR" altLang="en-US" dirty="0"/>
              <a:t>를 사용해야 </a:t>
            </a:r>
            <a:r>
              <a:rPr lang="ko-KR" altLang="en-US" dirty="0" err="1"/>
              <a:t>차원간의</a:t>
            </a:r>
            <a:r>
              <a:rPr lang="ko-KR" altLang="en-US" dirty="0"/>
              <a:t> 관계 </a:t>
            </a:r>
            <a:r>
              <a:rPr lang="ko-KR" altLang="en-US" dirty="0" err="1"/>
              <a:t>더잘</a:t>
            </a:r>
            <a:r>
              <a:rPr lang="ko-KR" altLang="en-US" dirty="0"/>
              <a:t> 포착</a:t>
            </a:r>
            <a:endParaRPr lang="en-US" altLang="ko-KR" dirty="0"/>
          </a:p>
          <a:p>
            <a:r>
              <a:rPr lang="ko-KR" altLang="en-US" dirty="0"/>
              <a:t>물론 모두 </a:t>
            </a:r>
            <a:r>
              <a:rPr lang="ko-KR" altLang="en-US" dirty="0" err="1"/>
              <a:t>사용하는게</a:t>
            </a:r>
            <a:r>
              <a:rPr lang="ko-KR" altLang="en-US" dirty="0"/>
              <a:t> 가장 성능이 좋음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56996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 : router </a:t>
            </a:r>
            <a:r>
              <a:rPr lang="ko-KR" altLang="en-US" dirty="0"/>
              <a:t>수</a:t>
            </a:r>
            <a:r>
              <a:rPr lang="en-US" altLang="ko-KR" dirty="0"/>
              <a:t>, </a:t>
            </a:r>
            <a:r>
              <a:rPr lang="ko-KR" altLang="en-US" dirty="0" err="1"/>
              <a:t>타우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예측 범위 </a:t>
            </a:r>
            <a:r>
              <a:rPr lang="en-US" altLang="ko-KR" dirty="0"/>
              <a:t>D : </a:t>
            </a:r>
            <a:r>
              <a:rPr lang="ko-KR" altLang="en-US" dirty="0"/>
              <a:t>차원수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930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Dlinear</a:t>
            </a:r>
            <a:r>
              <a:rPr lang="en-US" altLang="ko-KR" dirty="0"/>
              <a:t> – series decomposition</a:t>
            </a:r>
            <a:r>
              <a:rPr lang="ko-KR" altLang="en-US" dirty="0"/>
              <a:t>을 이용하여 모든 트랜스포머 모델 압도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8132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08/15/2024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08/15/2024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b="1" dirty="0" err="1">
                <a:latin typeface="Noto Sans KR" panose="020B0500000000000000" pitchFamily="34" charset="-128"/>
                <a:ea typeface="Noto Sans KR" panose="020B0500000000000000" pitchFamily="34" charset="-128"/>
              </a:rPr>
              <a:t>Crossformer</a:t>
            </a:r>
            <a:r>
              <a:rPr lang="en-US" altLang="ko-KR" sz="36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 : Transformer utilizing cross-dimension dependency for multivariate time series forecasting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31690-3B0E-06E3-2CC7-CD9929266BAD}"/>
              </a:ext>
            </a:extLst>
          </p:cNvPr>
          <p:cNvSpPr txBox="1"/>
          <p:nvPr/>
        </p:nvSpPr>
        <p:spPr>
          <a:xfrm>
            <a:off x="5258874" y="2458734"/>
            <a:ext cx="65902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“</a:t>
            </a:r>
            <a:r>
              <a:rPr lang="en-US" altLang="ko-KR" b="1" i="0" dirty="0" err="1">
                <a:solidFill>
                  <a:srgbClr val="2C3A4A"/>
                </a:solidFill>
                <a:effectLst/>
                <a:highlight>
                  <a:srgbClr val="FFFDFA"/>
                </a:highlight>
                <a:latin typeface="Noto Sans" panose="020B0502040504020204" pitchFamily="34" charset="0"/>
              </a:rPr>
              <a:t>Crossformer</a:t>
            </a:r>
            <a:r>
              <a:rPr lang="en-US" altLang="ko-KR" b="1" i="0" dirty="0">
                <a:solidFill>
                  <a:srgbClr val="2C3A4A"/>
                </a:solidFill>
                <a:effectLst/>
                <a:highlight>
                  <a:srgbClr val="FFFDFA"/>
                </a:highlight>
                <a:latin typeface="Noto Sans" panose="020B0502040504020204" pitchFamily="34" charset="0"/>
              </a:rPr>
              <a:t>: Transformer Utilizing Cross-Dimension Dependency for Multivariate Time Series Forecasting”</a:t>
            </a:r>
          </a:p>
          <a:p>
            <a:r>
              <a:rPr lang="en-US" altLang="ko-KR" b="1" dirty="0"/>
              <a:t>, 16 Feb 2023 </a:t>
            </a:r>
          </a:p>
          <a:p>
            <a:endParaRPr lang="en-US" altLang="ko-KR" b="1" dirty="0"/>
          </a:p>
          <a:p>
            <a:r>
              <a:rPr lang="en-US" altLang="ko-KR" b="1" dirty="0"/>
              <a:t>Y Zhang, J Yan</a:t>
            </a:r>
            <a:endParaRPr lang="nl-NL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Citation : 330, ICLR 2023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EE30D1-0969-5D84-D43A-4717E437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851" y="1609069"/>
            <a:ext cx="2840068" cy="492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6A49D-B812-4D54-2951-0BD502AA93B1}"/>
              </a:ext>
            </a:extLst>
          </p:cNvPr>
          <p:cNvSpPr txBox="1"/>
          <p:nvPr/>
        </p:nvSpPr>
        <p:spPr>
          <a:xfrm>
            <a:off x="530887" y="1420937"/>
            <a:ext cx="12071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MTS(Multivariate time series) : aims to forecast the future value of MTS using their historical values.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50" name="Picture 2" descr="Recurrent Neural Networks (RNNs) for Time Series Predictions | Encord">
            <a:extLst>
              <a:ext uri="{FF2B5EF4-FFF2-40B4-BE49-F238E27FC236}">
                <a16:creationId xmlns:a16="http://schemas.microsoft.com/office/drawing/2014/main" id="{1F9386FA-7313-9BDC-0C1C-EB175DB07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674" y="1790269"/>
            <a:ext cx="8660470" cy="273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62309B-799F-6A49-BCD0-A6799FCFB471}"/>
              </a:ext>
            </a:extLst>
          </p:cNvPr>
          <p:cNvSpPr txBox="1"/>
          <p:nvPr/>
        </p:nvSpPr>
        <p:spPr>
          <a:xfrm>
            <a:off x="3632599" y="6158760"/>
            <a:ext cx="95834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https://www.researchgate.net/figure/A-multiple-multivariate-time-series-forecasting-problem-where-each-multivariate_fig1_351129595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3E0B41-A1C6-7921-BD47-0F118174F554}"/>
              </a:ext>
            </a:extLst>
          </p:cNvPr>
          <p:cNvSpPr txBox="1"/>
          <p:nvPr/>
        </p:nvSpPr>
        <p:spPr>
          <a:xfrm>
            <a:off x="598162" y="5091083"/>
            <a:ext cx="11283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RNN, LSTM, Transformer </a:t>
            </a:r>
            <a:r>
              <a:rPr lang="en-US" altLang="ko-KR" dirty="0"/>
              <a:t>: Capture long-term temporal dependency (Cross-time dependency)</a:t>
            </a:r>
          </a:p>
          <a:p>
            <a:r>
              <a:rPr lang="en-US" altLang="ko-KR" b="1" dirty="0"/>
              <a:t>CNN(Convolution Neural Network), GNN(Graph Neural Network) </a:t>
            </a:r>
            <a:r>
              <a:rPr lang="en-US" altLang="ko-KR" dirty="0"/>
              <a:t>: Preserving the information of dimensions in the latent feature space (Cross-dimension dependency)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F125CB3-25FB-A0B4-923D-E73C4902292D}"/>
              </a:ext>
            </a:extLst>
          </p:cNvPr>
          <p:cNvCxnSpPr/>
          <p:nvPr/>
        </p:nvCxnSpPr>
        <p:spPr>
          <a:xfrm>
            <a:off x="2656865" y="4682509"/>
            <a:ext cx="44799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2055053-C2E3-0026-DC60-E8C4542A1B45}"/>
              </a:ext>
            </a:extLst>
          </p:cNvPr>
          <p:cNvSpPr txBox="1"/>
          <p:nvPr/>
        </p:nvSpPr>
        <p:spPr>
          <a:xfrm>
            <a:off x="3746295" y="4678370"/>
            <a:ext cx="304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Cross-time dependency</a:t>
            </a:r>
            <a:endParaRPr lang="ko-KR" altLang="en-US" dirty="0">
              <a:solidFill>
                <a:schemeClr val="accen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4D5FD30-C740-BBBC-5E77-9CFC6AECCE9F}"/>
              </a:ext>
            </a:extLst>
          </p:cNvPr>
          <p:cNvCxnSpPr/>
          <p:nvPr/>
        </p:nvCxnSpPr>
        <p:spPr>
          <a:xfrm>
            <a:off x="2479247" y="3493140"/>
            <a:ext cx="0" cy="38812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B65C50C-6347-4045-1362-5CF0E65ACD83}"/>
              </a:ext>
            </a:extLst>
          </p:cNvPr>
          <p:cNvCxnSpPr>
            <a:cxnSpLocks/>
          </p:cNvCxnSpPr>
          <p:nvPr/>
        </p:nvCxnSpPr>
        <p:spPr>
          <a:xfrm>
            <a:off x="3131607" y="3318264"/>
            <a:ext cx="0" cy="31960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15F183E-9EC8-FD03-6A54-D4E1D3ED11B2}"/>
              </a:ext>
            </a:extLst>
          </p:cNvPr>
          <p:cNvCxnSpPr>
            <a:cxnSpLocks/>
          </p:cNvCxnSpPr>
          <p:nvPr/>
        </p:nvCxnSpPr>
        <p:spPr>
          <a:xfrm>
            <a:off x="1638306" y="2838751"/>
            <a:ext cx="0" cy="12038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7B815F3-D06F-C374-BEF5-E35CA7FF2980}"/>
              </a:ext>
            </a:extLst>
          </p:cNvPr>
          <p:cNvCxnSpPr>
            <a:cxnSpLocks/>
          </p:cNvCxnSpPr>
          <p:nvPr/>
        </p:nvCxnSpPr>
        <p:spPr>
          <a:xfrm>
            <a:off x="2735806" y="3155566"/>
            <a:ext cx="0" cy="33757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ED4B5FD-D60B-E7C7-29E9-56D4C7051C92}"/>
              </a:ext>
            </a:extLst>
          </p:cNvPr>
          <p:cNvSpPr txBox="1"/>
          <p:nvPr/>
        </p:nvSpPr>
        <p:spPr>
          <a:xfrm>
            <a:off x="121378" y="3194760"/>
            <a:ext cx="15317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Cross-dimension</a:t>
            </a:r>
            <a:br>
              <a:rPr lang="en-US" altLang="ko-KR" sz="13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3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dependency</a:t>
            </a:r>
            <a:endParaRPr lang="ko-KR" altLang="en-US" sz="13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260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Related work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6A49D-B812-4D54-2951-0BD502AA93B1}"/>
              </a:ext>
            </a:extLst>
          </p:cNvPr>
          <p:cNvSpPr txBox="1"/>
          <p:nvPr/>
        </p:nvSpPr>
        <p:spPr>
          <a:xfrm>
            <a:off x="530887" y="1420937"/>
            <a:ext cx="11286463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Multivariate Time series Forecasting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Statistical model : Vector auto-regressive(VAR), Vector auto-regressive moving average (VARMA) – Linear cross-dimension and cross-time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Neural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TCN(CNN), 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DeepAR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(RNN) – Cross-dimension,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LSTnet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(RNN – Cross-time, CNN -Cross-dimension)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GNNs(Temporal convolution – Cross-time , Graph convolution - Cross-dimension)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Transformers for MTS forecasting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LogTrans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Informer, 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Autoformer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Pyraformer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FEDformer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Preformer</a:t>
            </a:r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Focus on reducing the complexity of cross-time dependency(limitation)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Vision Transformer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ViT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Split an image into non-overlapping medium-sized patches (Dimension-wise segment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발전시킴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Swin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Transformer – use window to reduce complexity and build hierarchical feature maps</a:t>
            </a:r>
            <a:endParaRPr lang="ko-KR" alt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62309B-799F-6A49-BCD0-A6799FCFB471}"/>
              </a:ext>
            </a:extLst>
          </p:cNvPr>
          <p:cNvSpPr txBox="1"/>
          <p:nvPr/>
        </p:nvSpPr>
        <p:spPr>
          <a:xfrm>
            <a:off x="3632599" y="6158760"/>
            <a:ext cx="95834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https://www.researchgate.net/figure/A-multiple-multivariate-time-series-forecasting-problem-where-each-multivariate_fig1_351129595</a:t>
            </a:r>
          </a:p>
        </p:txBody>
      </p:sp>
    </p:spTree>
    <p:extLst>
      <p:ext uri="{BB962C8B-B14F-4D97-AF65-F5344CB8AC3E}">
        <p14:creationId xmlns:p14="http://schemas.microsoft.com/office/powerpoint/2010/main" val="295799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MTS(Multi Time-Series) Forecasting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9B2761-DE49-B72E-DE84-5802E18F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07" y="1563076"/>
            <a:ext cx="5682132" cy="26324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19D24B4B-FB0B-5FA4-4266-F1470C745A5C}"/>
                  </a:ext>
                </a:extLst>
              </p:cNvPr>
              <p:cNvSpPr/>
              <p:nvPr/>
            </p:nvSpPr>
            <p:spPr>
              <a:xfrm>
                <a:off x="677506" y="2165648"/>
                <a:ext cx="513116" cy="513116"/>
              </a:xfrm>
              <a:prstGeom prst="ellips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19D24B4B-FB0B-5FA4-4266-F1470C745A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06" y="2165648"/>
                <a:ext cx="513116" cy="51311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C28BD88-7821-7F15-0FF8-61A3757A5BB0}"/>
                  </a:ext>
                </a:extLst>
              </p:cNvPr>
              <p:cNvSpPr/>
              <p:nvPr/>
            </p:nvSpPr>
            <p:spPr>
              <a:xfrm>
                <a:off x="2977546" y="2165648"/>
                <a:ext cx="513116" cy="513116"/>
              </a:xfrm>
              <a:prstGeom prst="ellips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C28BD88-7821-7F15-0FF8-61A3757A5B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546" y="2165648"/>
                <a:ext cx="513116" cy="51311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AD93D832-064D-D8B1-85BB-9F5B7E5226CB}"/>
              </a:ext>
            </a:extLst>
          </p:cNvPr>
          <p:cNvGrpSpPr/>
          <p:nvPr/>
        </p:nvGrpSpPr>
        <p:grpSpPr>
          <a:xfrm>
            <a:off x="1926951" y="2373365"/>
            <a:ext cx="463459" cy="48842"/>
            <a:chOff x="2691504" y="2236664"/>
            <a:chExt cx="463459" cy="48842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743E540A-0764-4E7A-EF21-EB0D4F0CD8DA}"/>
                </a:ext>
              </a:extLst>
            </p:cNvPr>
            <p:cNvSpPr/>
            <p:nvPr/>
          </p:nvSpPr>
          <p:spPr>
            <a:xfrm>
              <a:off x="2691504" y="2236665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65FD542-38CE-1C71-FB51-C930B87789C2}"/>
                </a:ext>
              </a:extLst>
            </p:cNvPr>
            <p:cNvSpPr/>
            <p:nvPr/>
          </p:nvSpPr>
          <p:spPr>
            <a:xfrm>
              <a:off x="2900374" y="2236664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13EC0408-0ED2-C4DB-C276-AB9476075A7C}"/>
                </a:ext>
              </a:extLst>
            </p:cNvPr>
            <p:cNvSpPr/>
            <p:nvPr/>
          </p:nvSpPr>
          <p:spPr>
            <a:xfrm>
              <a:off x="3109244" y="2239787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BF79D0B6-3D07-2DFE-E99C-F7B14F3B79AF}"/>
                  </a:ext>
                </a:extLst>
              </p:cNvPr>
              <p:cNvSpPr/>
              <p:nvPr/>
            </p:nvSpPr>
            <p:spPr>
              <a:xfrm>
                <a:off x="3920776" y="2168442"/>
                <a:ext cx="513116" cy="513116"/>
              </a:xfrm>
              <a:prstGeom prst="ellips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BF79D0B6-3D07-2DFE-E99C-F7B14F3B7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76" y="2168442"/>
                <a:ext cx="513116" cy="513116"/>
              </a:xfrm>
              <a:prstGeom prst="ellipse">
                <a:avLst/>
              </a:prstGeom>
              <a:blipFill>
                <a:blip r:embed="rId6"/>
                <a:stretch>
                  <a:fillRect l="-5814" r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>
            <a:extLst>
              <a:ext uri="{FF2B5EF4-FFF2-40B4-BE49-F238E27FC236}">
                <a16:creationId xmlns:a16="http://schemas.microsoft.com/office/drawing/2014/main" id="{E770126B-FF78-6026-2E01-E122C8DAF4A6}"/>
              </a:ext>
            </a:extLst>
          </p:cNvPr>
          <p:cNvGrpSpPr/>
          <p:nvPr/>
        </p:nvGrpSpPr>
        <p:grpSpPr>
          <a:xfrm>
            <a:off x="4888834" y="2375481"/>
            <a:ext cx="463459" cy="48842"/>
            <a:chOff x="5557695" y="2239786"/>
            <a:chExt cx="463459" cy="4884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7526CDE8-5EE9-6F0C-6E2B-7F60592E719A}"/>
                </a:ext>
              </a:extLst>
            </p:cNvPr>
            <p:cNvSpPr/>
            <p:nvPr/>
          </p:nvSpPr>
          <p:spPr>
            <a:xfrm>
              <a:off x="5557695" y="2239787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1B378875-17CC-E18D-90C3-40A35CD1ABB4}"/>
                </a:ext>
              </a:extLst>
            </p:cNvPr>
            <p:cNvSpPr/>
            <p:nvPr/>
          </p:nvSpPr>
          <p:spPr>
            <a:xfrm>
              <a:off x="5766565" y="2239786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E5D8F4A-4404-EBE4-14B9-105D82E9758B}"/>
                </a:ext>
              </a:extLst>
            </p:cNvPr>
            <p:cNvSpPr/>
            <p:nvPr/>
          </p:nvSpPr>
          <p:spPr>
            <a:xfrm>
              <a:off x="5975435" y="224290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52F6631A-F486-5791-35A3-8DDFF0064A8A}"/>
                  </a:ext>
                </a:extLst>
              </p:cNvPr>
              <p:cNvSpPr/>
              <p:nvPr/>
            </p:nvSpPr>
            <p:spPr>
              <a:xfrm>
                <a:off x="5752839" y="2139666"/>
                <a:ext cx="513116" cy="513116"/>
              </a:xfrm>
              <a:prstGeom prst="ellips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52F6631A-F486-5791-35A3-8DDFF0064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839" y="2139666"/>
                <a:ext cx="513116" cy="513116"/>
              </a:xfrm>
              <a:prstGeom prst="ellipse">
                <a:avLst/>
              </a:prstGeom>
              <a:blipFill>
                <a:blip r:embed="rId7"/>
                <a:stretch>
                  <a:fillRect l="-5814" r="-11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오른쪽 중괄호 25">
            <a:extLst>
              <a:ext uri="{FF2B5EF4-FFF2-40B4-BE49-F238E27FC236}">
                <a16:creationId xmlns:a16="http://schemas.microsoft.com/office/drawing/2014/main" id="{79B42942-947B-FF05-7A4F-34041507233B}"/>
              </a:ext>
            </a:extLst>
          </p:cNvPr>
          <p:cNvSpPr/>
          <p:nvPr/>
        </p:nvSpPr>
        <p:spPr>
          <a:xfrm rot="5400000">
            <a:off x="2031443" y="1458467"/>
            <a:ext cx="208756" cy="2813156"/>
          </a:xfrm>
          <a:prstGeom prst="rightBrace">
            <a:avLst>
              <a:gd name="adj1" fmla="val 8333"/>
              <a:gd name="adj2" fmla="val 51085"/>
            </a:avLst>
          </a:prstGeom>
          <a:ln w="19050">
            <a:solidFill>
              <a:srgbClr val="479FF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A77992-D994-001B-C4D2-0E680C9F86BD}"/>
              </a:ext>
            </a:extLst>
          </p:cNvPr>
          <p:cNvSpPr txBox="1"/>
          <p:nvPr/>
        </p:nvSpPr>
        <p:spPr>
          <a:xfrm>
            <a:off x="1426389" y="3014484"/>
            <a:ext cx="2444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Given history(past)</a:t>
            </a:r>
            <a:endParaRPr lang="ko-KR" altLang="en-US" sz="1000" b="1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오른쪽 중괄호 28">
            <a:extLst>
              <a:ext uri="{FF2B5EF4-FFF2-40B4-BE49-F238E27FC236}">
                <a16:creationId xmlns:a16="http://schemas.microsoft.com/office/drawing/2014/main" id="{B643A2B6-B01D-B2DE-E6B5-AC72A14E7491}"/>
              </a:ext>
            </a:extLst>
          </p:cNvPr>
          <p:cNvSpPr/>
          <p:nvPr/>
        </p:nvSpPr>
        <p:spPr>
          <a:xfrm rot="5400000">
            <a:off x="4978598" y="1696307"/>
            <a:ext cx="208756" cy="2365959"/>
          </a:xfrm>
          <a:prstGeom prst="rightBrace">
            <a:avLst>
              <a:gd name="adj1" fmla="val 8333"/>
              <a:gd name="adj2" fmla="val 51085"/>
            </a:avLst>
          </a:prstGeom>
          <a:ln w="19050">
            <a:solidFill>
              <a:srgbClr val="479FF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BDE062-98A5-55D1-21C7-5E1E8ED17430}"/>
              </a:ext>
            </a:extLst>
          </p:cNvPr>
          <p:cNvSpPr txBox="1"/>
          <p:nvPr/>
        </p:nvSpPr>
        <p:spPr>
          <a:xfrm>
            <a:off x="4390874" y="3027995"/>
            <a:ext cx="2444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Forecasting(Future)</a:t>
            </a:r>
            <a:endParaRPr lang="ko-KR" altLang="en-US" sz="1000" b="1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DB2077-AFAA-02E0-8701-A6121C454666}"/>
                  </a:ext>
                </a:extLst>
              </p:cNvPr>
              <p:cNvSpPr txBox="1"/>
              <p:nvPr/>
            </p:nvSpPr>
            <p:spPr>
              <a:xfrm>
                <a:off x="694419" y="3909252"/>
                <a:ext cx="1046110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Previous Transformer-based models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-&gt;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. . .,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Hidden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Vector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Embed data points at the same time step into a vector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Capture the dependency  among the hidden T vectors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Capture cross-time dependency, while not explicitly cross-dimension dependency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DB2077-AFAA-02E0-8701-A6121C454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9" y="3909252"/>
                <a:ext cx="10461101" cy="1477328"/>
              </a:xfrm>
              <a:prstGeom prst="rect">
                <a:avLst/>
              </a:prstGeom>
              <a:blipFill>
                <a:blip r:embed="rId8"/>
                <a:stretch>
                  <a:fillRect l="-524" t="-2058" b="-53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08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D4944B3A-16E0-3DD4-091B-E428F6BF4B79}"/>
              </a:ext>
            </a:extLst>
          </p:cNvPr>
          <p:cNvSpPr/>
          <p:nvPr/>
        </p:nvSpPr>
        <p:spPr>
          <a:xfrm>
            <a:off x="5381146" y="3588106"/>
            <a:ext cx="210510" cy="31959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Dimension-Segment-Wise(DSW)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Object : embedded vector  should  represent a series segment of single dimension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3C11B04-0E40-EAC2-A752-3BE9BC4BA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5" y="2291293"/>
            <a:ext cx="4315442" cy="1137707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943089D-7E66-BB52-285A-84CEBC3E0EE1}"/>
              </a:ext>
            </a:extLst>
          </p:cNvPr>
          <p:cNvCxnSpPr>
            <a:cxnSpLocks/>
          </p:cNvCxnSpPr>
          <p:nvPr/>
        </p:nvCxnSpPr>
        <p:spPr>
          <a:xfrm>
            <a:off x="5039068" y="316421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7804BD-9037-FB5C-0E74-74C9548B3AB5}"/>
                  </a:ext>
                </a:extLst>
              </p:cNvPr>
              <p:cNvSpPr txBox="1"/>
              <p:nvPr/>
            </p:nvSpPr>
            <p:spPr>
              <a:xfrm>
                <a:off x="6095999" y="3007600"/>
                <a:ext cx="5047839" cy="325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i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i-t</a:t>
                </a:r>
                <a:r>
                  <a:rPr lang="en-US" altLang="ko-KR" sz="1400" i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</a:t>
                </a:r>
                <a:r>
                  <a:rPr lang="en-US" altLang="ko-KR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segment in dimension d with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𝑠𝑒𝑔</m:t>
                        </m:r>
                      </m:sub>
                    </m:sSub>
                  </m:oMath>
                </a14:m>
                <a:endParaRPr lang="ko-KR" altLang="en-US" sz="14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7804BD-9037-FB5C-0E74-74C9548B3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007600"/>
                <a:ext cx="5047839" cy="325282"/>
              </a:xfrm>
              <a:prstGeom prst="rect">
                <a:avLst/>
              </a:prstGeom>
              <a:blipFill>
                <a:blip r:embed="rId4"/>
                <a:stretch>
                  <a:fillRect l="-362" t="-1852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19115E-1F91-4FEE-835E-B676D52C8582}"/>
                  </a:ext>
                </a:extLst>
              </p:cNvPr>
              <p:cNvSpPr txBox="1"/>
              <p:nvPr/>
            </p:nvSpPr>
            <p:spPr>
              <a:xfrm>
                <a:off x="644685" y="3506651"/>
                <a:ext cx="10354428" cy="482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19115E-1F91-4FEE-835E-B676D52C8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85" y="3506651"/>
                <a:ext cx="10354428" cy="4825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76166D6-FEFB-B650-98E4-51F7C44B100B}"/>
              </a:ext>
            </a:extLst>
          </p:cNvPr>
          <p:cNvCxnSpPr>
            <a:cxnSpLocks/>
          </p:cNvCxnSpPr>
          <p:nvPr/>
        </p:nvCxnSpPr>
        <p:spPr>
          <a:xfrm>
            <a:off x="5041262" y="258842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54377FF-1BF5-01D1-3DCB-E1BD50D711BF}"/>
                  </a:ext>
                </a:extLst>
              </p:cNvPr>
              <p:cNvSpPr txBox="1"/>
              <p:nvPr/>
            </p:nvSpPr>
            <p:spPr>
              <a:xfrm>
                <a:off x="6098194" y="2427602"/>
                <a:ext cx="5848212" cy="325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각 차원 </a:t>
                </a:r>
                <a:r>
                  <a:rPr lang="en-US" altLang="ko-KR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</a:t>
                </a:r>
                <a:r>
                  <a:rPr lang="ko-KR" altLang="en-US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𝑠𝑒𝑔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라는 고정된 길이의 </a:t>
                </a:r>
                <a:r>
                  <a:rPr lang="en-US" altLang="ko-KR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segment</a:t>
                </a:r>
                <a:r>
                  <a:rPr lang="ko-KR" altLang="en-US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로 나눔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54377FF-1BF5-01D1-3DCB-E1BD50D71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194" y="2427602"/>
                <a:ext cx="5848212" cy="325282"/>
              </a:xfrm>
              <a:prstGeom prst="rect">
                <a:avLst/>
              </a:prstGeom>
              <a:blipFill>
                <a:blip r:embed="rId6"/>
                <a:stretch>
                  <a:fillRect l="-313" t="-3704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CA61A07-CB18-4FC7-FAF1-7FA2ABC457E1}"/>
              </a:ext>
            </a:extLst>
          </p:cNvPr>
          <p:cNvCxnSpPr/>
          <p:nvPr/>
        </p:nvCxnSpPr>
        <p:spPr>
          <a:xfrm>
            <a:off x="6519212" y="3989155"/>
            <a:ext cx="0" cy="41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FDCA58A-13A6-F1DC-182D-289E6ACED78F}"/>
              </a:ext>
            </a:extLst>
          </p:cNvPr>
          <p:cNvSpPr txBox="1"/>
          <p:nvPr/>
        </p:nvSpPr>
        <p:spPr>
          <a:xfrm>
            <a:off x="6223181" y="4532529"/>
            <a:ext cx="4920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시간적 위치 정보를 반영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(Position Embedding) –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기존과 동일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BF5647B-7ADF-3765-E689-B0ED68CB9BB4}"/>
              </a:ext>
            </a:extLst>
          </p:cNvPr>
          <p:cNvCxnSpPr>
            <a:cxnSpLocks/>
          </p:cNvCxnSpPr>
          <p:nvPr/>
        </p:nvCxnSpPr>
        <p:spPr>
          <a:xfrm flipH="1">
            <a:off x="3772723" y="3762855"/>
            <a:ext cx="1608422" cy="881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724AB5-E6D7-3C72-AA67-0C0DF3F5A549}"/>
              </a:ext>
            </a:extLst>
          </p:cNvPr>
          <p:cNvSpPr txBox="1"/>
          <p:nvPr/>
        </p:nvSpPr>
        <p:spPr>
          <a:xfrm>
            <a:off x="1567660" y="4669268"/>
            <a:ext cx="2469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Learnable projection Matrix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7A5AAD-B4D2-DB08-A685-05E3E296FBD8}"/>
                  </a:ext>
                </a:extLst>
              </p:cNvPr>
              <p:cNvSpPr txBox="1"/>
              <p:nvPr/>
            </p:nvSpPr>
            <p:spPr>
              <a:xfrm>
                <a:off x="855194" y="5039068"/>
                <a:ext cx="10498606" cy="824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Ex)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x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/>
                  <a:t>, E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 h = E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x =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7A5AAD-B4D2-DB08-A685-05E3E296F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94" y="5039068"/>
                <a:ext cx="10498606" cy="824906"/>
              </a:xfrm>
              <a:prstGeom prst="rect">
                <a:avLst/>
              </a:prstGeom>
              <a:blipFill>
                <a:blip r:embed="rId7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952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Dimension-Segment-Wise(DSW)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Object : embedded vector  should  represent a series segment of single dimension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563798-7949-C0B6-2AD7-DCEB6ADDBEC2}"/>
                  </a:ext>
                </a:extLst>
              </p:cNvPr>
              <p:cNvSpPr txBox="1"/>
              <p:nvPr/>
            </p:nvSpPr>
            <p:spPr>
              <a:xfrm>
                <a:off x="4049129" y="2375668"/>
                <a:ext cx="4093741" cy="689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𝑠𝑒𝑔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1 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563798-7949-C0B6-2AD7-DCEB6ADD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129" y="2375668"/>
                <a:ext cx="4093741" cy="6892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F81C0D-6ABC-056A-353F-4098F7F43565}"/>
                  </a:ext>
                </a:extLst>
              </p:cNvPr>
              <p:cNvSpPr txBox="1"/>
              <p:nvPr/>
            </p:nvSpPr>
            <p:spPr>
              <a:xfrm>
                <a:off x="585480" y="3151119"/>
                <a:ext cx="10768320" cy="3159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Example, T(Time step) = 100,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𝑠𝑒𝑔</m:t>
                        </m:r>
                      </m:sub>
                    </m:sSub>
                  </m:oMath>
                </a14:m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= 10, D (Dimension) = 5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세그먼트 수 계산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(axis-1)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altLang="ko-K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𝑠𝑒𝑔</m:t>
                            </m:r>
                          </m:sub>
                        </m:sSub>
                      </m:den>
                    </m:f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차원의 수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(axis-2) : 5 (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온도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습도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풍속 </a:t>
                </a:r>
                <a:r>
                  <a:rPr lang="en-US" altLang="ko-KR" sz="15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etc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5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임베딩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벡터의 크기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선형 투영 모델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통해 계산됨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= 2)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Result : T = 100,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𝑠𝑒𝑔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= 10, D = 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ko-KR" sz="1500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𝐻</m:t>
                    </m:r>
                    <m:r>
                      <a:rPr lang="en-US" altLang="ko-KR" sz="1500" b="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∈ </m:t>
                    </m:r>
                    <m:sSup>
                      <m:sSupPr>
                        <m:ctrlP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5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5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𝑠𝑒𝑔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(10</m:t>
                        </m:r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5)</m:t>
                        </m:r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해당 과정을 통하여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2D vector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배열로써 표현이 가능함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시간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* 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차원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 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이러한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</a:t>
                </a:r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차원 조합의 벡터들로 써 표현됨</a:t>
                </a:r>
                <a:endPara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F81C0D-6ABC-056A-353F-4098F7F43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80" y="3151119"/>
                <a:ext cx="10768320" cy="3159839"/>
              </a:xfrm>
              <a:prstGeom prst="rect">
                <a:avLst/>
              </a:prstGeom>
              <a:blipFill>
                <a:blip r:embed="rId4"/>
                <a:stretch>
                  <a:fillRect l="-226" t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87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00" y="-152610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624000" y="908889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D16E92-FAFC-C28E-E606-4F2CC94DE679}"/>
              </a:ext>
            </a:extLst>
          </p:cNvPr>
          <p:cNvSpPr txBox="1">
            <a:spLocks/>
          </p:cNvSpPr>
          <p:nvPr/>
        </p:nvSpPr>
        <p:spPr>
          <a:xfrm>
            <a:off x="624000" y="1088160"/>
            <a:ext cx="10515600" cy="49628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What is </a:t>
            </a:r>
            <a:r>
              <a:rPr kumimoji="1" lang="en-US" altLang="ko-KR" sz="20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ViT</a:t>
            </a: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(</a:t>
            </a:r>
            <a:r>
              <a:rPr kumimoji="1" lang="en-US" altLang="ko-KR" sz="20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VisionTransformer</a:t>
            </a: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)?</a:t>
            </a: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2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C96FA-D059-980A-4E0B-A9CE8B2E64B8}"/>
              </a:ext>
            </a:extLst>
          </p:cNvPr>
          <p:cNvSpPr txBox="1"/>
          <p:nvPr/>
        </p:nvSpPr>
        <p:spPr>
          <a:xfrm>
            <a:off x="6934200" y="6287987"/>
            <a:ext cx="4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https://github.com/lucidrains/vit-pytorch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2934F8-2484-D4AB-DAEC-A628CFE0C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414" y="1584873"/>
            <a:ext cx="6457105" cy="443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90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Two-Stage Attention(TSA)</a:t>
            </a:r>
          </a:p>
          <a:p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915112-7683-BCC1-D0F4-B01CA0B458FC}"/>
                  </a:ext>
                </a:extLst>
              </p:cNvPr>
              <p:cNvSpPr txBox="1"/>
              <p:nvPr/>
            </p:nvSpPr>
            <p:spPr>
              <a:xfrm>
                <a:off x="598636" y="1740456"/>
                <a:ext cx="11116977" cy="1440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ViT Limitation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이미지의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heigh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와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width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는 이미지의 길이라는 같은 의미를 가짐 하지만 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다변량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시계열에서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time, dimension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은 서로 다른 의미를 가지기 때문에 동일한 방식으로 처리 불가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2D array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self-</a:t>
                </a:r>
                <a:r>
                  <a:rPr lang="en-US" altLang="ko-KR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attentio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바로 적용할 경우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𝑠𝑒𝑔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라는 무지막지한 복잡도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!</a:t>
                </a:r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915112-7683-BCC1-D0F4-B01CA0B4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1740456"/>
                <a:ext cx="11116977" cy="1440651"/>
              </a:xfrm>
              <a:prstGeom prst="rect">
                <a:avLst/>
              </a:prstGeom>
              <a:blipFill>
                <a:blip r:embed="rId3"/>
                <a:stretch>
                  <a:fillRect l="-713" t="-25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B2F0D8D8-9958-00BE-3C2D-7E4BC7711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33" y="3211157"/>
            <a:ext cx="3685147" cy="311514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B241B0A-6434-BC52-B85D-C802C93E9769}"/>
              </a:ext>
            </a:extLst>
          </p:cNvPr>
          <p:cNvCxnSpPr/>
          <p:nvPr/>
        </p:nvCxnSpPr>
        <p:spPr>
          <a:xfrm>
            <a:off x="5591655" y="4611471"/>
            <a:ext cx="240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6497C5-BAB0-D140-86AE-CD11E2C1D0E1}"/>
              </a:ext>
            </a:extLst>
          </p:cNvPr>
          <p:cNvSpPr txBox="1"/>
          <p:nvPr/>
        </p:nvSpPr>
        <p:spPr>
          <a:xfrm>
            <a:off x="8242757" y="4300813"/>
            <a:ext cx="2190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Flatten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하지 않는 방식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TSA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고안함</a:t>
            </a:r>
          </a:p>
        </p:txBody>
      </p:sp>
    </p:spTree>
    <p:extLst>
      <p:ext uri="{BB962C8B-B14F-4D97-AF65-F5344CB8AC3E}">
        <p14:creationId xmlns:p14="http://schemas.microsoft.com/office/powerpoint/2010/main" val="6317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fld>
            <a:endParaRPr kumimoji="1" lang="ko-Kore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Two-Stage Attention(TSA) – Cross-Time stage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Object :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dimension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내에서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time step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간의 관계 파악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2ECDEA-03AF-7F22-3217-C5F1E72E59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106"/>
          <a:stretch/>
        </p:blipFill>
        <p:spPr>
          <a:xfrm>
            <a:off x="2273700" y="2294455"/>
            <a:ext cx="6732154" cy="600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E27B66-D9BE-566E-2205-F7A37B7327B8}"/>
              </a:ext>
            </a:extLst>
          </p:cNvPr>
          <p:cNvSpPr txBox="1"/>
          <p:nvPr/>
        </p:nvSpPr>
        <p:spPr>
          <a:xfrm>
            <a:off x="8943541" y="2602117"/>
            <a:ext cx="34643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i="1" dirty="0">
                <a:ea typeface="Noto Sans KR" panose="020B0200000000000000" pitchFamily="50" charset="-127"/>
              </a:rPr>
              <a:t>MSA : multi-head self-attention</a:t>
            </a:r>
            <a:endParaRPr lang="ko-KR" altLang="en-US" sz="1300" i="1" dirty="0">
              <a:ea typeface="Noto Sans KR" panose="020B0200000000000000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86A5C21-45A8-7C95-CBDF-536EB3000BF9}"/>
              </a:ext>
            </a:extLst>
          </p:cNvPr>
          <p:cNvCxnSpPr>
            <a:cxnSpLocks/>
          </p:cNvCxnSpPr>
          <p:nvPr/>
        </p:nvCxnSpPr>
        <p:spPr>
          <a:xfrm flipH="1">
            <a:off x="3447091" y="2784191"/>
            <a:ext cx="1927476" cy="28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EB4806-ABB2-BA56-BC46-830D6816D018}"/>
              </a:ext>
            </a:extLst>
          </p:cNvPr>
          <p:cNvSpPr txBox="1"/>
          <p:nvPr/>
        </p:nvSpPr>
        <p:spPr>
          <a:xfrm>
            <a:off x="1700521" y="3225157"/>
            <a:ext cx="3374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특정 차원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모든 시간 단계에 해당하는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Vector sequence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607F1B4-4BC3-B19D-7697-20CDC9AB9E03}"/>
              </a:ext>
            </a:extLst>
          </p:cNvPr>
          <p:cNvCxnSpPr>
            <a:cxnSpLocks/>
          </p:cNvCxnSpPr>
          <p:nvPr/>
        </p:nvCxnSpPr>
        <p:spPr>
          <a:xfrm>
            <a:off x="6867868" y="2801955"/>
            <a:ext cx="9401" cy="472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5EDC78-05C2-8202-29AC-42722A0E40F6}"/>
              </a:ext>
            </a:extLst>
          </p:cNvPr>
          <p:cNvSpPr txBox="1"/>
          <p:nvPr/>
        </p:nvSpPr>
        <p:spPr>
          <a:xfrm>
            <a:off x="5370183" y="3282832"/>
            <a:ext cx="3374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시간 단계가 다른 시간 단계에 어떻게 의존하는지를 학습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08D36F4-5900-7F62-4276-C37677CA9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609" y="4009924"/>
            <a:ext cx="5798018" cy="7115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D2EE18B-AD4C-24DA-091B-A83E93D79505}"/>
              </a:ext>
            </a:extLst>
          </p:cNvPr>
          <p:cNvSpPr txBox="1"/>
          <p:nvPr/>
        </p:nvSpPr>
        <p:spPr>
          <a:xfrm>
            <a:off x="8744911" y="4400173"/>
            <a:ext cx="633877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i="1" dirty="0">
                <a:ea typeface="Noto Sans KR" panose="020B0200000000000000" pitchFamily="50" charset="-127"/>
              </a:rPr>
              <a:t>MLP : Multi-Layer Perceptron(Two layer)</a:t>
            </a:r>
            <a:endParaRPr lang="ko-KR" altLang="en-US" sz="1300" i="1" dirty="0">
              <a:ea typeface="Noto Sans KR" panose="020B0200000000000000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B7247A0-DB5B-D427-11E0-30A247A0C69D}"/>
              </a:ext>
            </a:extLst>
          </p:cNvPr>
          <p:cNvCxnSpPr>
            <a:cxnSpLocks/>
          </p:cNvCxnSpPr>
          <p:nvPr/>
        </p:nvCxnSpPr>
        <p:spPr>
          <a:xfrm>
            <a:off x="2657681" y="2747430"/>
            <a:ext cx="4743038" cy="1300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CD93AFA-E620-8772-1DC1-5FF57C926E4B}"/>
              </a:ext>
            </a:extLst>
          </p:cNvPr>
          <p:cNvSpPr txBox="1"/>
          <p:nvPr/>
        </p:nvSpPr>
        <p:spPr>
          <a:xfrm>
            <a:off x="685252" y="5448522"/>
            <a:ext cx="108214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MSA :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차원 안에서 시간 단계 간의 관계 학습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차원에서 동일한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MSA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사용함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계산 효율성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MLP :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추가적인 비선형 변환을 적용하여 학습을 용이하게 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9377F6-3330-FD2F-8BB7-EF0D8FCDAFA6}"/>
              </a:ext>
            </a:extLst>
          </p:cNvPr>
          <p:cNvSpPr txBox="1"/>
          <p:nvPr/>
        </p:nvSpPr>
        <p:spPr>
          <a:xfrm>
            <a:off x="1443963" y="4546367"/>
            <a:ext cx="3137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Input of Cross-Dimension Stage</a:t>
            </a:r>
            <a:endParaRPr lang="ko-KR" altLang="en-US" sz="10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95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Two-Stage Attention(TSA) – Cross-Dimension stage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Object : Capture cross-dimension dependency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FD6124-279D-8C82-F59F-DF8EF9C2E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07" y="2478342"/>
            <a:ext cx="4479643" cy="3967436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E934E85-060D-FE02-A1A0-5E22A0B8C9BA}"/>
              </a:ext>
            </a:extLst>
          </p:cNvPr>
          <p:cNvCxnSpPr/>
          <p:nvPr/>
        </p:nvCxnSpPr>
        <p:spPr>
          <a:xfrm>
            <a:off x="5841635" y="3940472"/>
            <a:ext cx="2499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D1B465-085E-7630-B344-E29ABD44848B}"/>
                  </a:ext>
                </a:extLst>
              </p:cNvPr>
              <p:cNvSpPr txBox="1"/>
              <p:nvPr/>
            </p:nvSpPr>
            <p:spPr>
              <a:xfrm>
                <a:off x="8513158" y="3663473"/>
                <a:ext cx="328920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모든 차원 간의 관계를 학습시에 </a:t>
                </a:r>
                <a:r>
                  <a:rPr lang="en-US" altLang="ko-KR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5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5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매우 복잡함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D1B465-085E-7630-B344-E29ABD448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158" y="3663473"/>
                <a:ext cx="3289208" cy="553998"/>
              </a:xfrm>
              <a:prstGeom prst="rect">
                <a:avLst/>
              </a:prstGeom>
              <a:blipFill>
                <a:blip r:embed="rId4"/>
                <a:stretch>
                  <a:fillRect l="-742" t="-2198" b="-109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43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Two-Stage Attention(TSA) – Cross-Dimension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Router Mechanism(Optimization mechanism)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6E6B3C-4294-319F-2565-FCE0131DC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91" y="2541952"/>
            <a:ext cx="3396996" cy="29449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624D76-9DD5-4FE0-C250-6A6CEE1CA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376" y="2715052"/>
            <a:ext cx="4831966" cy="1856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B3E41C-591A-64AD-8D2D-254A76950D84}"/>
                  </a:ext>
                </a:extLst>
              </p:cNvPr>
              <p:cNvSpPr txBox="1"/>
              <p:nvPr/>
            </p:nvSpPr>
            <p:spPr>
              <a:xfrm>
                <a:off x="8273778" y="3896138"/>
                <a:ext cx="45451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𝑅𝑜𝑡𝑒𝑟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𝑉𝑒𝑐𝑡𝑜𝑟</m:t>
                      </m:r>
                    </m:oMath>
                  </m:oMathPara>
                </a14:m>
                <a:endParaRPr lang="en-US" altLang="ko-KR" sz="1000" b="0" dirty="0"/>
              </a:p>
              <a:p>
                <a:pPr algn="ctr"/>
                <a:r>
                  <a:rPr lang="en-US" altLang="ko-KR" sz="1000" dirty="0"/>
                  <a:t>L : Number of segments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B3E41C-591A-64AD-8D2D-254A76950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778" y="3896138"/>
                <a:ext cx="4545138" cy="40011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1E38483-DAB9-3B36-5563-8DFD76D2F1E1}"/>
              </a:ext>
            </a:extLst>
          </p:cNvPr>
          <p:cNvSpPr txBox="1"/>
          <p:nvPr/>
        </p:nvSpPr>
        <p:spPr>
          <a:xfrm>
            <a:off x="10216745" y="2754259"/>
            <a:ext cx="1571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차원간 상호작용 반영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8CAC401-8AE4-82C8-0161-987CDACC338F}"/>
              </a:ext>
            </a:extLst>
          </p:cNvPr>
          <p:cNvCxnSpPr>
            <a:cxnSpLocks/>
          </p:cNvCxnSpPr>
          <p:nvPr/>
        </p:nvCxnSpPr>
        <p:spPr>
          <a:xfrm flipV="1">
            <a:off x="6828397" y="2541952"/>
            <a:ext cx="177617" cy="681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137A529-3B2D-D472-BC00-26ED52063419}"/>
              </a:ext>
            </a:extLst>
          </p:cNvPr>
          <p:cNvSpPr txBox="1"/>
          <p:nvPr/>
        </p:nvSpPr>
        <p:spPr>
          <a:xfrm>
            <a:off x="6594267" y="2259171"/>
            <a:ext cx="1223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시간 의존성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953651-39FE-C509-894E-D2FBBC187224}"/>
              </a:ext>
            </a:extLst>
          </p:cNvPr>
          <p:cNvSpPr txBox="1"/>
          <p:nvPr/>
        </p:nvSpPr>
        <p:spPr>
          <a:xfrm>
            <a:off x="10216745" y="3221550"/>
            <a:ext cx="1833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시간 의존성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 상호작용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9E3245-FEDC-BACE-F404-5C9331F65752}"/>
              </a:ext>
            </a:extLst>
          </p:cNvPr>
          <p:cNvSpPr txBox="1"/>
          <p:nvPr/>
        </p:nvSpPr>
        <p:spPr>
          <a:xfrm>
            <a:off x="736783" y="5571919"/>
            <a:ext cx="10255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Router : 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차원의 정보가 아닌 중요한 정보를 요약 수집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 간의 상호작용 계산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1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nn.parameter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Hierarchical encoder-decoder (HED) : DSW embedding + TSA layer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9A5A52E-4BA5-C3A6-21C0-B65FD97C16CF}"/>
              </a:ext>
            </a:extLst>
          </p:cNvPr>
          <p:cNvCxnSpPr/>
          <p:nvPr/>
        </p:nvCxnSpPr>
        <p:spPr>
          <a:xfrm>
            <a:off x="9584754" y="2894504"/>
            <a:ext cx="459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BBE0174-121F-56C0-53C8-1E1A8218B2BF}"/>
              </a:ext>
            </a:extLst>
          </p:cNvPr>
          <p:cNvCxnSpPr/>
          <p:nvPr/>
        </p:nvCxnSpPr>
        <p:spPr>
          <a:xfrm>
            <a:off x="9584754" y="3356090"/>
            <a:ext cx="459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157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Hierarchical encoder-decoder (HED) : DSW embedding + TSA layer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1ADD47-7B48-8E44-540E-C80A65348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86" y="2075992"/>
            <a:ext cx="5954564" cy="37854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53836B-713E-7565-69EA-1BC7AFD1F661}"/>
              </a:ext>
            </a:extLst>
          </p:cNvPr>
          <p:cNvSpPr txBox="1"/>
          <p:nvPr/>
        </p:nvSpPr>
        <p:spPr>
          <a:xfrm>
            <a:off x="7270750" y="3143250"/>
            <a:ext cx="4133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Encoder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스케일을 절반씩 줄여가며  계층적으로 시계열 특징을 파악함</a:t>
            </a:r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Decoder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encoder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와는 다르게 각각의 레이어에서 추출된 정보는 학습된 가중치들을 고려하여 계산됨</a:t>
            </a:r>
          </a:p>
        </p:txBody>
      </p:sp>
    </p:spTree>
    <p:extLst>
      <p:ext uri="{BB962C8B-B14F-4D97-AF65-F5344CB8AC3E}">
        <p14:creationId xmlns:p14="http://schemas.microsoft.com/office/powerpoint/2010/main" val="581164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METHODOLOGY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CAF0-FD93-FE63-1BF2-4B1D7830BB7E}"/>
              </a:ext>
            </a:extLst>
          </p:cNvPr>
          <p:cNvSpPr txBox="1"/>
          <p:nvPr/>
        </p:nvSpPr>
        <p:spPr>
          <a:xfrm>
            <a:off x="530886" y="1371124"/>
            <a:ext cx="9494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Hierarchical encoder-decoder (HED) : DSW embedding + TSA layer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AF3F8F-FE1F-F232-625A-82C7EE4E7344}"/>
              </a:ext>
            </a:extLst>
          </p:cNvPr>
          <p:cNvSpPr txBox="1"/>
          <p:nvPr/>
        </p:nvSpPr>
        <p:spPr>
          <a:xfrm>
            <a:off x="605214" y="1730912"/>
            <a:ext cx="10624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Encoder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Decoder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191747-1C35-8DCA-93FA-BD8DE9AC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596" y="2195214"/>
            <a:ext cx="6203208" cy="9681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064B9FE-2BF5-93F2-C2B1-EF075D9B5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514" y="3485238"/>
            <a:ext cx="4265613" cy="18551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83F648-4154-18EA-444C-30BB7FEACD3C}"/>
              </a:ext>
            </a:extLst>
          </p:cNvPr>
          <p:cNvSpPr txBox="1"/>
          <p:nvPr/>
        </p:nvSpPr>
        <p:spPr>
          <a:xfrm>
            <a:off x="605214" y="5340420"/>
            <a:ext cx="420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Prediction</a:t>
            </a:r>
            <a:endParaRPr lang="ko-KR" altLang="en-US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3A7F466-DEFA-3CA4-E76A-E86631C2A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527" y="5798435"/>
            <a:ext cx="4419600" cy="74047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28F9717-BAE5-4CD1-EF17-45C6B32EB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702" y="3259837"/>
            <a:ext cx="4132087" cy="262682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EAD777-D045-4CA8-6290-78662F58BA4B}"/>
              </a:ext>
            </a:extLst>
          </p:cNvPr>
          <p:cNvSpPr txBox="1"/>
          <p:nvPr/>
        </p:nvSpPr>
        <p:spPr>
          <a:xfrm>
            <a:off x="8300290" y="2195214"/>
            <a:ext cx="4545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1000" dirty="0"/>
              <a:t>M : learnable matrix for segment merging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848F30C-873D-CF5B-AF09-493170D6CBF6}"/>
              </a:ext>
            </a:extLst>
          </p:cNvPr>
          <p:cNvCxnSpPr/>
          <p:nvPr/>
        </p:nvCxnSpPr>
        <p:spPr>
          <a:xfrm>
            <a:off x="5035550" y="2318324"/>
            <a:ext cx="0" cy="208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8C23BCD-9078-08AE-B592-1B87CA7B4298}"/>
              </a:ext>
            </a:extLst>
          </p:cNvPr>
          <p:cNvSpPr txBox="1"/>
          <p:nvPr/>
        </p:nvSpPr>
        <p:spPr>
          <a:xfrm>
            <a:off x="4749800" y="2056714"/>
            <a:ext cx="81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concat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2BB7B3B-FDA9-1D5E-7B53-7F5212E3827D}"/>
                  </a:ext>
                </a:extLst>
              </p:cNvPr>
              <p:cNvSpPr txBox="1"/>
              <p:nvPr/>
            </p:nvSpPr>
            <p:spPr>
              <a:xfrm>
                <a:off x="7172176" y="6168673"/>
                <a:ext cx="4835674" cy="284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ko-KR" sz="1000" dirty="0"/>
                  <a:t>W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𝑑𝑒𝑐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sz="1000" dirty="0"/>
                  <a:t>를 최종 예측으로 변환하는 선형 함수</a:t>
                </a:r>
                <a:r>
                  <a:rPr lang="en-US" altLang="ko-KR" sz="1000" dirty="0"/>
                  <a:t>(learnable function) – </a:t>
                </a:r>
                <a:r>
                  <a:rPr lang="en-US" altLang="ko-KR" sz="1000" dirty="0" err="1"/>
                  <a:t>nn.Linear</a:t>
                </a:r>
                <a:r>
                  <a:rPr lang="ko-KR" altLang="en-US" sz="1000" dirty="0"/>
                  <a:t>사용함</a:t>
                </a:r>
                <a:endParaRPr lang="en-US" altLang="ko-KR" sz="10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2BB7B3B-FDA9-1D5E-7B53-7F5212E38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176" y="6168673"/>
                <a:ext cx="4835674" cy="284309"/>
              </a:xfrm>
              <a:prstGeom prst="rect">
                <a:avLst/>
              </a:prstGeom>
              <a:blipFill>
                <a:blip r:embed="rId7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20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5.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A198B-D00B-B3E6-4078-D2C013F1F11F}"/>
              </a:ext>
            </a:extLst>
          </p:cNvPr>
          <p:cNvSpPr txBox="1"/>
          <p:nvPr/>
        </p:nvSpPr>
        <p:spPr>
          <a:xfrm>
            <a:off x="530886" y="1371124"/>
            <a:ext cx="9494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Dimension-Segment-Wise(DSW)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3F11B9-049B-5448-AB8D-5C4F459E9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8" y="2080690"/>
            <a:ext cx="6358280" cy="4045704"/>
          </a:xfrm>
          <a:prstGeom prst="rect">
            <a:avLst/>
          </a:prstGeom>
        </p:spPr>
      </p:pic>
      <p:sp>
        <p:nvSpPr>
          <p:cNvPr id="8" name="사각형: 둥근 한쪽 모서리 7">
            <a:extLst>
              <a:ext uri="{FF2B5EF4-FFF2-40B4-BE49-F238E27FC236}">
                <a16:creationId xmlns:a16="http://schemas.microsoft.com/office/drawing/2014/main" id="{1DFA814D-4C79-F8E5-02D9-C925F7382000}"/>
              </a:ext>
            </a:extLst>
          </p:cNvPr>
          <p:cNvSpPr/>
          <p:nvPr/>
        </p:nvSpPr>
        <p:spPr>
          <a:xfrm>
            <a:off x="6282390" y="2493220"/>
            <a:ext cx="763098" cy="3567390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114460-DA5D-D1D5-462D-044D8123F94F}"/>
              </a:ext>
            </a:extLst>
          </p:cNvPr>
          <p:cNvSpPr txBox="1"/>
          <p:nvPr/>
        </p:nvSpPr>
        <p:spPr>
          <a:xfrm>
            <a:off x="7334935" y="2210348"/>
            <a:ext cx="47364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Model</a:t>
            </a:r>
            <a:r>
              <a:rPr lang="en-US" altLang="ko-KR" dirty="0"/>
              <a:t> : </a:t>
            </a:r>
            <a:r>
              <a:rPr lang="en-US" altLang="ko-KR" dirty="0" err="1"/>
              <a:t>LSTMa</a:t>
            </a:r>
            <a:r>
              <a:rPr lang="en-US" altLang="ko-KR" dirty="0"/>
              <a:t>, </a:t>
            </a:r>
            <a:r>
              <a:rPr lang="en-US" altLang="ko-KR" dirty="0" err="1"/>
              <a:t>LSTnet</a:t>
            </a:r>
            <a:r>
              <a:rPr lang="en-US" altLang="ko-KR" dirty="0"/>
              <a:t>, MTGNN, Transformer, Informer, </a:t>
            </a:r>
            <a:r>
              <a:rPr lang="en-US" altLang="ko-KR" dirty="0" err="1"/>
              <a:t>Pyraformer</a:t>
            </a:r>
            <a:r>
              <a:rPr lang="en-US" altLang="ko-KR" dirty="0"/>
              <a:t>, </a:t>
            </a:r>
            <a:r>
              <a:rPr lang="en-US" altLang="ko-KR" dirty="0" err="1"/>
              <a:t>FEDformer</a:t>
            </a:r>
            <a:r>
              <a:rPr lang="en-US" altLang="ko-KR" dirty="0"/>
              <a:t>, </a:t>
            </a:r>
            <a:r>
              <a:rPr lang="en-US" altLang="ko-KR" dirty="0" err="1"/>
              <a:t>Crossformer</a:t>
            </a:r>
            <a:endParaRPr lang="en-US" altLang="ko-KR" dirty="0"/>
          </a:p>
          <a:p>
            <a:r>
              <a:rPr lang="en-US" altLang="ko-KR" b="1" dirty="0"/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ETTh1, ETTh2 : Electricity Transformer Temperature-hourly, minutely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WTH</a:t>
            </a:r>
            <a:r>
              <a:rPr lang="ko-KR" altLang="en-US" dirty="0"/>
              <a:t> </a:t>
            </a:r>
            <a:r>
              <a:rPr lang="en-US" altLang="ko-KR" dirty="0"/>
              <a:t>: weather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ECL : Electricity Consuming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ILI : Influenza-Like Illness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Traffic : Road occupancy rates</a:t>
            </a:r>
          </a:p>
          <a:p>
            <a:endParaRPr lang="en-US" altLang="ko-KR" dirty="0"/>
          </a:p>
          <a:p>
            <a:r>
              <a:rPr lang="en-US" altLang="ko-KR" b="1" dirty="0"/>
              <a:t>36 top-1 and 51 top-2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879916-62AD-CA51-58F0-2640D756AABD}"/>
              </a:ext>
            </a:extLst>
          </p:cNvPr>
          <p:cNvSpPr/>
          <p:nvPr/>
        </p:nvSpPr>
        <p:spPr>
          <a:xfrm>
            <a:off x="5632450" y="5041900"/>
            <a:ext cx="643360" cy="495300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60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5.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A198B-D00B-B3E6-4078-D2C013F1F11F}"/>
              </a:ext>
            </a:extLst>
          </p:cNvPr>
          <p:cNvSpPr txBox="1"/>
          <p:nvPr/>
        </p:nvSpPr>
        <p:spPr>
          <a:xfrm>
            <a:off x="530886" y="1371124"/>
            <a:ext cx="9494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Ablation study(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Crossformer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Component)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801B9D-C5A8-D86B-DCB4-9A9DDC39B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8" b="52179"/>
          <a:stretch/>
        </p:blipFill>
        <p:spPr>
          <a:xfrm>
            <a:off x="962208" y="2559432"/>
            <a:ext cx="10081357" cy="25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41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87" y="136525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5. Experiments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30887" y="1198024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A198B-D00B-B3E6-4078-D2C013F1F11F}"/>
              </a:ext>
            </a:extLst>
          </p:cNvPr>
          <p:cNvSpPr txBox="1"/>
          <p:nvPr/>
        </p:nvSpPr>
        <p:spPr>
          <a:xfrm>
            <a:off x="530886" y="1371124"/>
            <a:ext cx="9494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Evaluation on hyper-parameter and computational efficiency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5BDA2A-9CAA-DF23-D135-2D4275BF9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43" y="2478342"/>
            <a:ext cx="10415587" cy="25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96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6. Conclusion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C4C7A-CA03-CC96-312D-8F02C74F4CC9}"/>
              </a:ext>
            </a:extLst>
          </p:cNvPr>
          <p:cNvSpPr txBox="1"/>
          <p:nvPr/>
        </p:nvSpPr>
        <p:spPr>
          <a:xfrm>
            <a:off x="838200" y="1434677"/>
            <a:ext cx="10953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Conclusion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DSW(Dimension-Segment-Wise) Embedding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방법을 사용하여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time, dimension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정보를 최대한 보존함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TSA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사용하여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cross-time, cross-dimension dependency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capture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HED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사용하여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Different scale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에서의 정보를 사용 더 높은 성능의 예측 수행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개의 데이터셋에서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SOTA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 달성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Limitation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Cross-Dimension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full connection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은 고차원 데이터의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noise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학습할 수 있음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DLinear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(Appendix B.2)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보면 성능이 매우 좋은 것을 확인 가능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 변수간 의존성은 고려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Opinion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저자도 얘기하지만 대용량 데이터셋이 현재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NLP, CV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비해 정형화되거나 체계적이지 않음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Chatgpt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처럼 거대 시계열 데이터로 학습한다면 모든 도메인에 어느 정도 정확성을 보장하는 모델이 나오지 않을까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??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5896D3-6BBD-AFAC-10B4-DD32BDE8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478" y="2207766"/>
            <a:ext cx="2434522" cy="138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42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21113</TotalTime>
  <Words>1304</Words>
  <Application>Microsoft Office PowerPoint</Application>
  <PresentationFormat>와이드스크린</PresentationFormat>
  <Paragraphs>202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Noto Sans KR</vt:lpstr>
      <vt:lpstr>Noto Sans KR Medium</vt:lpstr>
      <vt:lpstr>Arial</vt:lpstr>
      <vt:lpstr>Calibri</vt:lpstr>
      <vt:lpstr>Cambria Math</vt:lpstr>
      <vt:lpstr>Noto Sans</vt:lpstr>
      <vt:lpstr>Office 테마</vt:lpstr>
      <vt:lpstr>Crossformer : Transformer utilizing cross-dimension dependency for multivariate time series forecasting</vt:lpstr>
      <vt:lpstr>1. Introduction</vt:lpstr>
      <vt:lpstr>2. Introduction</vt:lpstr>
      <vt:lpstr>3. Related work</vt:lpstr>
      <vt:lpstr>4. METHODOLOGY</vt:lpstr>
      <vt:lpstr>4. METHODOLOGY</vt:lpstr>
      <vt:lpstr>4. METHODOLOGY</vt:lpstr>
      <vt:lpstr>4. METHODOLOGY</vt:lpstr>
      <vt:lpstr>4. METHODOLOGY</vt:lpstr>
      <vt:lpstr>4. METHODOLOGY</vt:lpstr>
      <vt:lpstr>4. METHODOLOGY</vt:lpstr>
      <vt:lpstr>4. METHODOLOGY</vt:lpstr>
      <vt:lpstr>4. METHODOLOGY</vt:lpstr>
      <vt:lpstr>4. METHODOLOGY</vt:lpstr>
      <vt:lpstr>5. Experiments</vt:lpstr>
      <vt:lpstr>5. Experiments</vt:lpstr>
      <vt:lpstr>5. Experiments</vt:lpstr>
      <vt:lpstr>6. 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hongbum kim</cp:lastModifiedBy>
  <cp:revision>82</cp:revision>
  <dcterms:created xsi:type="dcterms:W3CDTF">2022-12-08T07:49:53Z</dcterms:created>
  <dcterms:modified xsi:type="dcterms:W3CDTF">2024-08-16T04:50:52Z</dcterms:modified>
</cp:coreProperties>
</file>