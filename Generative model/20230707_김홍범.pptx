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46" r:id="rId2"/>
    <p:sldId id="364" r:id="rId3"/>
    <p:sldId id="375" r:id="rId4"/>
    <p:sldId id="416" r:id="rId5"/>
    <p:sldId id="421" r:id="rId6"/>
    <p:sldId id="417" r:id="rId7"/>
    <p:sldId id="420" r:id="rId8"/>
    <p:sldId id="423" r:id="rId9"/>
    <p:sldId id="422" r:id="rId10"/>
    <p:sldId id="424" r:id="rId11"/>
    <p:sldId id="431" r:id="rId12"/>
    <p:sldId id="425" r:id="rId13"/>
    <p:sldId id="427" r:id="rId14"/>
    <p:sldId id="429" r:id="rId15"/>
    <p:sldId id="426" r:id="rId16"/>
    <p:sldId id="430" r:id="rId17"/>
    <p:sldId id="418" r:id="rId18"/>
    <p:sldId id="432" r:id="rId19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6DD"/>
    <a:srgbClr val="479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152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6685A-99AB-B349-A114-53A5B8AD5BE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014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07/07/2023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Autoe</a:t>
            </a:r>
            <a:r>
              <a:rPr lang="en-US" altLang="ko-KR" sz="3600" dirty="0"/>
              <a:t>ncoder, Diffusion model, contrastive learning and Medical adoption in AD 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A59A3-714F-F4FE-7431-6EC8ECF3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Index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BDEA1-E078-70F6-9C73-42B3372D4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417"/>
            <a:ext cx="10515600" cy="4184661"/>
          </a:xfrm>
        </p:spPr>
        <p:txBody>
          <a:bodyPr anchor="ctr"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Autoencoders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Diffusion Autoencoders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Contrastive Learning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Paper review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Conclusion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37312F-86FF-F72E-F340-3F2066BC771A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7FFFB5B-7249-2A1C-92F9-5F9A65E1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2E92-2CD2-934B-850B-F718AD5AB502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ED0E6D6-CE40-A07A-AC0F-5E3A37DADD92}"/>
              </a:ext>
            </a:extLst>
          </p:cNvPr>
          <p:cNvSpPr txBox="1">
            <a:spLocks/>
          </p:cNvSpPr>
          <p:nvPr/>
        </p:nvSpPr>
        <p:spPr>
          <a:xfrm>
            <a:off x="840382" y="1602598"/>
            <a:ext cx="10515600" cy="4184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71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Autoencoder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What is Autoencoder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36FC904-3771-BB14-EA90-BAF28A61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41998"/>
            <a:ext cx="4761788" cy="318613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Autoencoder</a:t>
            </a:r>
            <a:r>
              <a:rPr lang="ko-KR" altLang="en-US" sz="1800" dirty="0"/>
              <a:t>란</a:t>
            </a:r>
            <a:r>
              <a:rPr lang="en-US" altLang="ko-KR" sz="1800" dirty="0"/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1800" dirty="0"/>
              <a:t>입력과 출력이 같은 구조를 가지는 </a:t>
            </a:r>
            <a:r>
              <a:rPr lang="en-US" altLang="ko-KR" sz="1800" dirty="0"/>
              <a:t>network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Autoencoder</a:t>
            </a:r>
            <a:r>
              <a:rPr lang="ko-KR" altLang="en-US" sz="1800" dirty="0"/>
              <a:t>의 기능</a:t>
            </a: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en-US" altLang="ko-KR" sz="1800" dirty="0"/>
              <a:t>Unsupervised 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Representation 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Dimensionality Reduction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Generative Model Learning</a:t>
            </a:r>
          </a:p>
        </p:txBody>
      </p:sp>
      <p:pic>
        <p:nvPicPr>
          <p:cNvPr id="1026" name="Picture 2" descr="Variational Autoencoders are Beautiful | Blogs">
            <a:extLst>
              <a:ext uri="{FF2B5EF4-FFF2-40B4-BE49-F238E27FC236}">
                <a16:creationId xmlns:a16="http://schemas.microsoft.com/office/drawing/2014/main" id="{98A360C7-34FA-D643-12BF-EE55A4E4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76" y="1509884"/>
            <a:ext cx="5507253" cy="413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Autoencoder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Overview of Autoencoder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3C6549-357A-858B-DD8E-4CEF6FDCB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4" r="426" b="2634"/>
          <a:stretch/>
        </p:blipFill>
        <p:spPr bwMode="auto">
          <a:xfrm>
            <a:off x="892700" y="1912551"/>
            <a:ext cx="9674038" cy="440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18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Generative model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이란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?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5B5D119-7F7A-4325-D25E-035900E04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1841998"/>
            <a:ext cx="6178550" cy="427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65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Model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이란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?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26DA7B8-D6F4-1259-8E12-C65FA57C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41997"/>
            <a:ext cx="10406600" cy="3651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데이터를 만들어내는 </a:t>
            </a:r>
            <a:r>
              <a:rPr lang="en-US" altLang="ko-KR" sz="1800" dirty="0"/>
              <a:t>deep generative model </a:t>
            </a:r>
            <a:r>
              <a:rPr lang="ko-KR" altLang="en-US" sz="1800" dirty="0"/>
              <a:t>방법론 중 하나</a:t>
            </a:r>
            <a:endParaRPr lang="en-US" altLang="ko-KR" sz="1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C4287D0-CDBE-0A7E-CD8D-75FACEF07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74" y="2577262"/>
            <a:ext cx="76866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7DC6BA7-9346-4D74-0584-094FF0A9A422}"/>
              </a:ext>
            </a:extLst>
          </p:cNvPr>
          <p:cNvCxnSpPr>
            <a:cxnSpLocks/>
          </p:cNvCxnSpPr>
          <p:nvPr/>
        </p:nvCxnSpPr>
        <p:spPr>
          <a:xfrm>
            <a:off x="2147886" y="3932987"/>
            <a:ext cx="56832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C659A2-C020-A7D6-CCAC-705285B7F7C7}"/>
              </a:ext>
            </a:extLst>
          </p:cNvPr>
          <p:cNvSpPr txBox="1"/>
          <p:nvPr/>
        </p:nvSpPr>
        <p:spPr>
          <a:xfrm>
            <a:off x="3376611" y="4007564"/>
            <a:ext cx="3225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Reverse process </a:t>
            </a:r>
            <a:r>
              <a:rPr lang="en-US" altLang="ko-KR" sz="13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p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 복원 과정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98393A1-2CA7-55D3-F0A0-2484EC15AF1F}"/>
              </a:ext>
            </a:extLst>
          </p:cNvPr>
          <p:cNvCxnSpPr>
            <a:cxnSpLocks/>
          </p:cNvCxnSpPr>
          <p:nvPr/>
        </p:nvCxnSpPr>
        <p:spPr>
          <a:xfrm flipH="1">
            <a:off x="2062163" y="2574087"/>
            <a:ext cx="56975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CD0C78-4A68-0F6C-141F-24EC8EBB35FE}"/>
              </a:ext>
            </a:extLst>
          </p:cNvPr>
          <p:cNvSpPr txBox="1"/>
          <p:nvPr/>
        </p:nvSpPr>
        <p:spPr>
          <a:xfrm>
            <a:off x="3205161" y="2213890"/>
            <a:ext cx="3225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Forward process </a:t>
            </a:r>
            <a:r>
              <a:rPr lang="en-US" altLang="ko-KR" sz="13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q(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noise </a:t>
            </a:r>
            <a:r>
              <a:rPr lang="ko-KR" altLang="en-US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추가되는 과정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19ECD5-320D-AFE5-FA60-AFF92FE218F4}"/>
              </a:ext>
            </a:extLst>
          </p:cNvPr>
          <p:cNvSpPr txBox="1"/>
          <p:nvPr/>
        </p:nvSpPr>
        <p:spPr>
          <a:xfrm>
            <a:off x="8832848" y="3523147"/>
            <a:ext cx="15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Markov property </a:t>
            </a:r>
            <a:r>
              <a:rPr lang="ko-KR" altLang="en-US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및</a:t>
            </a: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KL Divergence</a:t>
            </a:r>
            <a:r>
              <a:rPr lang="ko-KR" altLang="en-US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가정함</a:t>
            </a: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6A19AD-5EE5-0CAD-183D-3B3BCFFC7009}"/>
                  </a:ext>
                </a:extLst>
              </p:cNvPr>
              <p:cNvSpPr txBox="1"/>
              <p:nvPr/>
            </p:nvSpPr>
            <p:spPr>
              <a:xfrm>
                <a:off x="838200" y="4374528"/>
                <a:ext cx="109718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Objective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실제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data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p</m:t>
                    </m:r>
                    <m:r>
                      <a:rPr lang="en-US" altLang="ko-KR" i="1" dirty="0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)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를 최대화 하는 것을 목적으로 학습이 진행됨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(Maximize likelihood)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Loss function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p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generate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T</m:t>
                        </m:r>
                      </m:sub>
                    </m:sSub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q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라는 데이터가 주어졌을 때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generate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𝑇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간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 차이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p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q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reverse / forward process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 차이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.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최대한 같아지는 방향으로 학습됨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(reconstruction loss) :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으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로부터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을</m:t>
                    </m:r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추정하는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likelihood. Maximize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방향으로 학습됨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6A19AD-5EE5-0CAD-183D-3B3BCFFC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74528"/>
                <a:ext cx="10971810" cy="2031325"/>
              </a:xfrm>
              <a:prstGeom prst="rect">
                <a:avLst/>
              </a:prstGeom>
              <a:blipFill>
                <a:blip r:embed="rId3"/>
                <a:stretch>
                  <a:fillRect l="-500" t="-1802" b="-3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>
            <a:extLst>
              <a:ext uri="{FF2B5EF4-FFF2-40B4-BE49-F238E27FC236}">
                <a16:creationId xmlns:a16="http://schemas.microsoft.com/office/drawing/2014/main" id="{574758C8-0325-C342-9642-4320F4B17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519" y="4780116"/>
            <a:ext cx="6938962" cy="70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DCA1CCC7-2B32-5034-B6CF-F76A5B1B8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6" y="3234539"/>
            <a:ext cx="533399" cy="53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그림 25" descr="인간의 얼굴, 의류, 사람, 인물사진이(가) 표시된 사진&#10;&#10;자동 생성된 설명">
            <a:extLst>
              <a:ext uri="{FF2B5EF4-FFF2-40B4-BE49-F238E27FC236}">
                <a16:creationId xmlns:a16="http://schemas.microsoft.com/office/drawing/2014/main" id="{889C9A3B-A702-13F7-BE7C-94C96CEF8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231" y="3234539"/>
            <a:ext cx="533399" cy="5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8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Diffusion Autoencoder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D61659-DE31-C43A-6F30-A49B600B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DDIM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DDPM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이라는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 model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한계인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semantic information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학습할 수 있게 변환한 모델</a:t>
            </a:r>
            <a:endParaRPr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0B4012C-7622-1109-5D99-1C550591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00" y="2263911"/>
            <a:ext cx="5505260" cy="3714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F6E1C7-ED93-8BF9-BA3B-EF8B300E5D53}"/>
              </a:ext>
            </a:extLst>
          </p:cNvPr>
          <p:cNvSpPr txBox="1"/>
          <p:nvPr/>
        </p:nvSpPr>
        <p:spPr>
          <a:xfrm>
            <a:off x="892700" y="6202151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https://lilianweng.github.io/posts/2021-07-11-diffusion-models/</a:t>
            </a:r>
          </a:p>
        </p:txBody>
      </p:sp>
    </p:spTree>
    <p:extLst>
      <p:ext uri="{BB962C8B-B14F-4D97-AF65-F5344CB8AC3E}">
        <p14:creationId xmlns:p14="http://schemas.microsoft.com/office/powerpoint/2010/main" val="36251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Self supervised representation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2C6FC44-600D-6970-1F67-F820813E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1912551"/>
            <a:ext cx="7691268" cy="416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17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15C5C0-7F65-5E67-FCF2-A7299805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743075"/>
            <a:ext cx="10515600" cy="2689225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b="1" dirty="0"/>
              <a:t>Contrastive learning</a:t>
            </a:r>
            <a:r>
              <a:rPr lang="ko-KR" altLang="en-US" sz="2000" b="1" dirty="0"/>
              <a:t>이란</a:t>
            </a:r>
            <a:r>
              <a:rPr lang="en-US" altLang="ko-KR" sz="2000" b="1" dirty="0"/>
              <a:t>?</a:t>
            </a:r>
            <a:endParaRPr lang="en-US" altLang="ko-KR" sz="2000" b="1" u="sng" dirty="0"/>
          </a:p>
          <a:p>
            <a:r>
              <a:rPr lang="en-US" altLang="ko-KR" sz="1600" dirty="0"/>
              <a:t>Self-supervised-learning representation learning </a:t>
            </a:r>
            <a:r>
              <a:rPr lang="ko-KR" altLang="en-US" sz="1600" dirty="0"/>
              <a:t>중에서 최근 가장 효율적인 방식</a:t>
            </a:r>
            <a:endParaRPr lang="en-US" altLang="ko-KR" sz="1600" dirty="0"/>
          </a:p>
          <a:p>
            <a:r>
              <a:rPr lang="ko-KR" altLang="en-US" sz="1600" dirty="0"/>
              <a:t>유사한 이미지가 저 차원 공간에서 서로 가깝게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다른 이미지는 서로 멀리 떨어져 있도록 </a:t>
            </a:r>
            <a:r>
              <a:rPr lang="ko-KR" altLang="en-US" sz="1600" dirty="0" err="1"/>
              <a:t>저차원</a:t>
            </a:r>
            <a:r>
              <a:rPr lang="ko-KR" altLang="en-US" sz="1600" dirty="0"/>
              <a:t> 공간에서 이미지를 인코딩하는 방법을 모델이 학습하게 하는 방법론</a:t>
            </a:r>
            <a:endParaRPr lang="en-US" altLang="ko-KR" sz="1600" dirty="0"/>
          </a:p>
          <a:p>
            <a:r>
              <a:rPr lang="ko-KR" altLang="en-US" sz="1600" dirty="0"/>
              <a:t>기존의 생성모델 방법론들과는 다르게 특정 예측을 생성하기 위해 모델을 최적화하는 것이 아닌 표현 자체가 의미가 있는지 확인하는 작업을 거침</a:t>
            </a:r>
            <a:r>
              <a:rPr lang="en-US" altLang="ko-KR" sz="1600" dirty="0"/>
              <a:t> -&gt; </a:t>
            </a:r>
            <a:r>
              <a:rPr lang="ko-KR" altLang="en-US" sz="1600" dirty="0"/>
              <a:t>레이블이 없기 때문에 이러한 방식을 채택함</a:t>
            </a:r>
            <a:endParaRPr lang="en-US" altLang="ko-KR" sz="1600" dirty="0"/>
          </a:p>
          <a:p>
            <a:r>
              <a:rPr lang="ko-KR" altLang="en-US" sz="1600" dirty="0"/>
              <a:t>따라서 주석이나 레이블 없이도 데이터에 대해 많은 것을 학습하고 모델을 훈련하는 것이 가능함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F431BC5-E9D9-E945-10AC-5D888C45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700" y="4114585"/>
            <a:ext cx="4536415" cy="251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56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5536684-855D-B126-8CE4-52058225D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016835"/>
            <a:ext cx="8915400" cy="407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423B23-E8E6-69AF-E098-A6D5EFF14B75}"/>
              </a:ext>
            </a:extLst>
          </p:cNvPr>
          <p:cNvSpPr txBox="1"/>
          <p:nvPr/>
        </p:nvSpPr>
        <p:spPr>
          <a:xfrm>
            <a:off x="2340500" y="1775528"/>
            <a:ext cx="396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Cosine Similarity</a:t>
            </a:r>
            <a:endParaRPr lang="ko-KR" altLang="en-US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59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 – Multimodal Representation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6EA3A4-5C4D-2A51-5BAC-877796A27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668" y="1829872"/>
            <a:ext cx="8787740" cy="434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Introduction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8F92AA-A0AF-BBA1-CBF6-C38067DD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1829872"/>
            <a:ext cx="3739896" cy="4802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B7BEF3-8C9A-8B1E-11E1-4989AD2B2453}"/>
              </a:ext>
            </a:extLst>
          </p:cNvPr>
          <p:cNvSpPr txBox="1"/>
          <p:nvPr/>
        </p:nvSpPr>
        <p:spPr>
          <a:xfrm>
            <a:off x="5165766" y="1801009"/>
            <a:ext cx="6188034" cy="2675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Alzheimer's disease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(AD)</a:t>
            </a:r>
            <a:r>
              <a:rPr lang="ko-KR" altLang="en-US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란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만성 신경 퇴행성 질환으로서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아밀로이드반의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비정상적인 축적과 뇌의 신경섬유매듭이 엉키는 특징을 가지고 있음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대부분의 연구가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neuroimaging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데이터셋으로 이루어짐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현재까지 치료법이 발견되지 않았기 때문에 조기 발견이 매우 중요함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해당 연구에서는 </a:t>
            </a:r>
            <a:r>
              <a:rPr lang="en-US" altLang="ko-KR" sz="1400" b="1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Alzheimer's disease</a:t>
            </a:r>
            <a:r>
              <a:rPr lang="en-US" altLang="ko-KR" sz="1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(AD)</a:t>
            </a:r>
            <a:r>
              <a:rPr lang="en-US" altLang="ko-KR" sz="1400" b="1" dirty="0">
                <a:solidFill>
                  <a:srgbClr val="21212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Healthy Controls(HC) </a:t>
            </a:r>
            <a:r>
              <a:rPr lang="ko-KR" altLang="en-US" sz="1400" dirty="0">
                <a:solidFill>
                  <a:srgbClr val="21212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구분을 목적으로 함</a:t>
            </a:r>
            <a:endParaRPr lang="en-US" altLang="ko-KR" sz="1400" i="0" dirty="0">
              <a:solidFill>
                <a:srgbClr val="212121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9EA4AA6-0CD7-D7AE-05CC-9B1F788C4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971" y="4293476"/>
            <a:ext cx="3372628" cy="22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알츠하이머병">
            <a:extLst>
              <a:ext uri="{FF2B5EF4-FFF2-40B4-BE49-F238E27FC236}">
                <a16:creationId xmlns:a16="http://schemas.microsoft.com/office/drawing/2014/main" id="{28F50A93-F317-595F-A648-E64DB573F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51" y="4692041"/>
            <a:ext cx="2593249" cy="144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01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3. Methods(DDIM model + Contrastive loss)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800B31-445A-9CF5-0977-01138365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3361"/>
            <a:ext cx="6374278" cy="27491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BC51BE-7BCA-E6E7-1985-4C438B2B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04" y="2280768"/>
            <a:ext cx="4140405" cy="6668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499121-66FB-B0AC-D33F-8946C20CA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732" y="3320320"/>
            <a:ext cx="4088077" cy="6668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A447F3-D3D9-09DD-2E9E-D08078F06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732" y="4395626"/>
            <a:ext cx="2245157" cy="5917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9A6F677-5D5D-C195-B0D8-BD639CACD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358" y="5677782"/>
            <a:ext cx="4560331" cy="346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268BAC-F105-1803-536B-B06FA25DE365}"/>
              </a:ext>
            </a:extLst>
          </p:cNvPr>
          <p:cNvSpPr txBox="1"/>
          <p:nvPr/>
        </p:nvSpPr>
        <p:spPr>
          <a:xfrm>
            <a:off x="7726351" y="2961013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DDIM model loss(MSE)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CCC2D-D243-C84D-C242-2BDBF66E819D}"/>
              </a:ext>
            </a:extLst>
          </p:cNvPr>
          <p:cNvSpPr txBox="1"/>
          <p:nvPr/>
        </p:nvSpPr>
        <p:spPr>
          <a:xfrm>
            <a:off x="7779596" y="4009137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Contrastive loss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506A00-ABD3-F2AF-342A-78498BBEC6D4}"/>
              </a:ext>
            </a:extLst>
          </p:cNvPr>
          <p:cNvSpPr txBox="1"/>
          <p:nvPr/>
        </p:nvSpPr>
        <p:spPr>
          <a:xfrm>
            <a:off x="7726351" y="4942340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Predictive loss(Cross-entropy)</a:t>
            </a:r>
            <a:endParaRPr lang="ko-KR" altLang="en-US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02ED3EC-609A-944A-E820-EAF113836C83}"/>
              </a:ext>
            </a:extLst>
          </p:cNvPr>
          <p:cNvSpPr/>
          <p:nvPr/>
        </p:nvSpPr>
        <p:spPr>
          <a:xfrm>
            <a:off x="3270397" y="1761195"/>
            <a:ext cx="2369127" cy="23691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D999240-379D-566F-E0E6-C617A124CC60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5639524" y="1546328"/>
            <a:ext cx="2446511" cy="1399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A31F083-5332-02A1-E34A-D79374F96912}"/>
              </a:ext>
            </a:extLst>
          </p:cNvPr>
          <p:cNvSpPr txBox="1"/>
          <p:nvPr/>
        </p:nvSpPr>
        <p:spPr>
          <a:xfrm>
            <a:off x="8074160" y="1448423"/>
            <a:ext cx="406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K-nearest method : contrastive learning</a:t>
            </a:r>
            <a:endParaRPr lang="ko-KR" altLang="en-US" b="1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6D04CA9-977F-D2C9-A819-998EDA07C0E5}"/>
              </a:ext>
            </a:extLst>
          </p:cNvPr>
          <p:cNvCxnSpPr/>
          <p:nvPr/>
        </p:nvCxnSpPr>
        <p:spPr>
          <a:xfrm flipV="1">
            <a:off x="3889169" y="2280768"/>
            <a:ext cx="445325" cy="45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D59556-7231-F7C5-E849-FD549185C212}"/>
                  </a:ext>
                </a:extLst>
              </p:cNvPr>
              <p:cNvSpPr txBox="1"/>
              <p:nvPr/>
            </p:nvSpPr>
            <p:spPr>
              <a:xfrm>
                <a:off x="4299854" y="1978287"/>
                <a:ext cx="9992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 (mode)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D59556-7231-F7C5-E849-FD549185C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54" y="1978287"/>
                <a:ext cx="999244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37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4. Experiments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D8BC0-3ED6-D9FF-B28B-97B05AD92ADA}"/>
              </a:ext>
            </a:extLst>
          </p:cNvPr>
          <p:cNvSpPr txBox="1"/>
          <p:nvPr/>
        </p:nvSpPr>
        <p:spPr>
          <a:xfrm>
            <a:off x="892700" y="1889872"/>
            <a:ext cx="106026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DATA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공공 데이터셋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(Ex ADNI)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을 사용하여 총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6137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환자 데이터를 확보함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 = 1105, HC = 5032)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학습과정</a:t>
            </a:r>
            <a:endParaRPr lang="en-US" altLang="ko-KR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구분 없는 학습과정을 거침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(340 epoch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까지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– diffusion loss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K=7 latent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representation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learning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활용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(500 epoch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까지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–Contrastive loss, predictive loss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추가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Hardware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Preprocess model : U-Net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Activation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function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: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SiLU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(Swish)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Parameter number : 7.6 million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GPU  :  Nvidia GeForce RTX 4090</a:t>
            </a: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</a:p>
          <a:p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90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5. Results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E4EEA9-5CB2-6ECE-2504-A21407B0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71" y="1829872"/>
            <a:ext cx="3509528" cy="26321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44BF52-0A39-819C-7A3F-65A90EA1F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78" y="2086319"/>
            <a:ext cx="5991225" cy="1866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8A33BE1-C512-FA13-02A3-FE441E2C1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8" y="4192777"/>
            <a:ext cx="6029325" cy="18764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1CAF25F-9C60-DEE7-E401-CEA675D63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003" y="4605225"/>
            <a:ext cx="4582886" cy="14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0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Conclusion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206FC-3C69-6CA2-3AB4-1D8B59EC5C00}"/>
              </a:ext>
            </a:extLst>
          </p:cNvPr>
          <p:cNvSpPr txBox="1"/>
          <p:nvPr/>
        </p:nvSpPr>
        <p:spPr>
          <a:xfrm>
            <a:off x="838200" y="1603169"/>
            <a:ext cx="104523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이라는 생성모델 기법을 사용하여 모델의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해석력을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높임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(Semantic representation)</a:t>
            </a:r>
          </a:p>
          <a:p>
            <a:endParaRPr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Global explanation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가능하나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local explanation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불가능함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정확도 측면에서 기존의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baseline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모델보다 낮다는 한계점을 가짐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Contrastive learning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방법론 도입 여부에 대한 언급이 없음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임상적으로 해당 결과의 해석에 대한 검증이 이루어지지 않았음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(image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만으로는 판단이 어려웠음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연구 활용방안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연구중인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PPMI(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파킨슨병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Multimodal dataset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이고 특유의 라벨 적용이 어려움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따라서 해당 데이터셋에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 autoencoder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적용하여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latent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variable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추출할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이를 이용하여 향후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강화학습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에서 사용할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STATE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Define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할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1122218" y="1673208"/>
            <a:ext cx="509151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1002511" y="921549"/>
            <a:ext cx="765559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DAHS</a:t>
            </a:r>
            <a:r>
              <a:rPr kumimoji="1" lang="ko-KR" altLang="en-US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에게 묻다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9603F-38CE-4D71-EBB8-5976536DC38E}"/>
              </a:ext>
            </a:extLst>
          </p:cNvPr>
          <p:cNvSpPr txBox="1"/>
          <p:nvPr/>
        </p:nvSpPr>
        <p:spPr>
          <a:xfrm>
            <a:off x="1002511" y="1900052"/>
            <a:ext cx="105759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연구실 로고 공모전</a:t>
            </a:r>
            <a:r>
              <a:rPr lang="en-US" altLang="ko-KR" dirty="0"/>
              <a:t>!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연구실 명패 변경 가능 여부</a:t>
            </a:r>
            <a:r>
              <a:rPr lang="en-US" altLang="ko-KR" dirty="0"/>
              <a:t>? – </a:t>
            </a:r>
            <a:r>
              <a:rPr lang="ko-KR" altLang="en-US" dirty="0"/>
              <a:t>인간공학 연구실인지 착각하는 경우가 종종 발생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연구실 홈페이지 사진 변경 가능 여부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540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5411</TotalTime>
  <Words>694</Words>
  <Application>Microsoft Office PowerPoint</Application>
  <PresentationFormat>와이드스크린</PresentationFormat>
  <Paragraphs>132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KR</vt:lpstr>
      <vt:lpstr>Noto Sans KR Medium</vt:lpstr>
      <vt:lpstr>Arial</vt:lpstr>
      <vt:lpstr>Calibri</vt:lpstr>
      <vt:lpstr>Cambria Math</vt:lpstr>
      <vt:lpstr>Office 테마</vt:lpstr>
      <vt:lpstr>Autoencoder, Diffusion model, contrastive learning and Medical adoption in AD </vt:lpstr>
      <vt:lpstr>Index</vt:lpstr>
      <vt:lpstr>1. Autoencoder </vt:lpstr>
      <vt:lpstr>1. Autoencoder </vt:lpstr>
      <vt:lpstr>2. Diffusion Autoencoder </vt:lpstr>
      <vt:lpstr>2. Diffusion Autoencoder </vt:lpstr>
      <vt:lpstr>2. Diffusion Autoencoder </vt:lpstr>
      <vt:lpstr>3. Contrastive Learning</vt:lpstr>
      <vt:lpstr>3. Contrastive Learning</vt:lpstr>
      <vt:lpstr>3. Contrastive Learning</vt:lpstr>
      <vt:lpstr>3. Contrastive Learning</vt:lpstr>
      <vt:lpstr>4. Paper Review</vt:lpstr>
      <vt:lpstr>4. Paper Review</vt:lpstr>
      <vt:lpstr>4. Paper Review</vt:lpstr>
      <vt:lpstr>4. Paper Review</vt:lpstr>
      <vt:lpstr>5. Conclusion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김홍범[ 대학원석사과정재학 / 산업경영공학과 ]</cp:lastModifiedBy>
  <cp:revision>34</cp:revision>
  <dcterms:created xsi:type="dcterms:W3CDTF">2022-12-08T07:49:53Z</dcterms:created>
  <dcterms:modified xsi:type="dcterms:W3CDTF">2023-07-07T07:22:17Z</dcterms:modified>
</cp:coreProperties>
</file>