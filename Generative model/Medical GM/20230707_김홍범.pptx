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346" r:id="rId2"/>
    <p:sldId id="364" r:id="rId3"/>
    <p:sldId id="375" r:id="rId4"/>
    <p:sldId id="416" r:id="rId5"/>
    <p:sldId id="421" r:id="rId6"/>
    <p:sldId id="417" r:id="rId7"/>
    <p:sldId id="420" r:id="rId8"/>
    <p:sldId id="423" r:id="rId9"/>
    <p:sldId id="422" r:id="rId10"/>
    <p:sldId id="424" r:id="rId11"/>
    <p:sldId id="431" r:id="rId12"/>
    <p:sldId id="425" r:id="rId13"/>
    <p:sldId id="427" r:id="rId14"/>
    <p:sldId id="429" r:id="rId15"/>
    <p:sldId id="426" r:id="rId16"/>
    <p:sldId id="430" r:id="rId17"/>
    <p:sldId id="418" r:id="rId18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5F6DD"/>
    <a:srgbClr val="479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1520"/>
  </p:normalViewPr>
  <p:slideViewPr>
    <p:cSldViewPr snapToGrid="0">
      <p:cViewPr varScale="1">
        <p:scale>
          <a:sx n="110" d="100"/>
          <a:sy n="110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C6D9BD-2644-764D-AC55-9028C546D2ED}" type="datetimeFigureOut">
              <a:rPr kumimoji="1" lang="ko-Kore-KR" altLang="en-US" smtClean="0"/>
              <a:t>09/02/2024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5B8BB-7660-B84C-9CB5-ECD67EA308D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15920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A6FD4-6F0F-074A-A347-2C6D366F2D58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4035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26685A-99AB-B349-A114-53A5B8AD5BE0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50144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3B2F2E-4010-5354-F5B2-B29D01D4B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9A5401-B77C-98A5-6EB2-E59AE7F07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4FECCE-A5C3-8226-D909-F0B9E327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09/02/2024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8E1CB-3399-AFB7-7277-52352BE83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8C7F2B-AB1D-71E9-9486-558BA0F6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7499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21680-5B14-B61A-70EF-AC85827DC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9904A3-7CBD-9348-56D7-070481589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35814-90F5-D6D8-AE04-D6FD3F91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09/02/2024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9485A-9FFC-05E0-1F6F-377CD4094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D9A904-41FC-DFC3-B43E-46D65019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298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E534D-416E-946E-903E-7BBB242BA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3E3E8B-5E06-1AB1-274D-1BEBCE9F7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0F3D40-669B-F093-20AE-D4ABB7F8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09/02/2024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F92659-6B2A-50DC-C940-A1F22685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D8163C-1555-9BAE-C514-BBD32250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38223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6733B-460C-B2E7-02ED-A20E68C5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50646E-6FD2-2E42-8BAB-4827930C1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C3004F-7B83-26EB-31B6-4B892EFC4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61E533-7092-97E9-3275-0398B310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09/02/2024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F2FA06-2CEF-CFC9-9691-597334BE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0C1354-196A-2DA5-E2E6-98C61C69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1978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1474F9-FDF5-F9C3-D1C9-1F1433A26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3647C6-33F9-D69F-7FA4-829F90275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DECF2D-369A-96B1-5977-1EA09EA8F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BEFCBA-237F-3BC0-B1BF-58A9843CA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40D8C8-D3AC-7C75-4D5A-DFCAB69CA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25787C-0123-32E6-7032-B830ED325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09/02/2024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2045C7-CDD9-6C5F-073B-ED6AC81B9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C2B8D11-65CC-5222-C88A-9BCF3966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95225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6F9CC-BCF6-82EE-38D0-791279FB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B49994-B667-7CCE-A8BA-BB6F061B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09/02/2024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E29155-6038-CD9A-620B-0C355068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B14145-F0A3-2C38-3383-B5E19F89E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928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9DA578-5E85-0C0D-D833-586E0E5E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09/02/2024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63FFC2-4C4E-8DC4-ACC9-A61C1259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9A0920-51FE-A23A-B0C2-074C538E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11880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86049-5938-8CDB-1087-8544304EA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E557DB-33AC-D8F5-ED5D-4A73DBFE6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731EEE-86E8-1CAD-84A9-5D0108C8A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626493-6EE9-5919-F2D9-711A6DF41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09/02/2024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7C275E-4D2B-0870-1510-B013451BE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C123A0-0227-255B-929E-C79AC53A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5356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0C9BF-515B-315A-A3F1-42AB23F5B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9D1114-9997-D134-CF5C-7507E7497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D00470-F1B2-EE31-0281-C7E6C7B81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8FE232-FD6F-B3AE-485C-72678F5DB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09/02/2024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70D6A8-CD80-B64A-FC92-F3C96F90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5A7781-3B8C-1EA2-3925-A4FB19F64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8825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DCDB4-AC7A-5A09-DBE7-A9751B28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5E3A7F-0B8F-389A-2A20-C26098BB7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398B4C-248F-CB02-E64D-A49957D2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09/02/2024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CC4D8C-8700-7C9F-2A22-6243FC265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D9B4AA-DE14-79AC-DE5B-DE18FB7B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6367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6D9137-FE15-031C-F459-AAD4C9463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574E8A-933E-6989-3454-F1CFF9981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ADD073-25BB-E8AE-F288-106059FB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09/02/2024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2AC884-01DA-545C-EE55-15F2D65B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141523-8935-2338-84B9-D289DEE7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5249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ADEA76-BAD6-14A4-3F43-7A44D7B3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59457C-2F9F-B8BA-FD22-8CB32B9C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14117A-C927-9246-39E2-6ECA1C8B2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8"/>
                <a:ea typeface="Noto Sans KR" panose="020B0500000000000000" pitchFamily="34" charset="-128"/>
              </a:defRPr>
            </a:lvl1pPr>
          </a:lstStyle>
          <a:p>
            <a:fld id="{A81CE695-34C9-0C4C-935F-C9CE81A53A21}" type="datetimeFigureOut">
              <a:rPr kumimoji="1" lang="ko-Kore-KR" altLang="en-US" smtClean="0"/>
              <a:pPr/>
              <a:t>09/02/2024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1BD33F-54C9-E685-FD61-A68A2E7B5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8"/>
                <a:ea typeface="Noto Sans KR" panose="020B0500000000000000" pitchFamily="34" charset="-128"/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A59F7C-B18A-A322-E08D-E8CF63D20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8"/>
                <a:ea typeface="Noto Sans KR" panose="020B0500000000000000" pitchFamily="34" charset="-128"/>
              </a:defRPr>
            </a:lvl1pPr>
          </a:lstStyle>
          <a:p>
            <a:fld id="{94845DB3-6CBB-354F-BA70-189B252AE394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9594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Noto Sans KR" panose="020B0500000000000000" pitchFamily="34" charset="-128"/>
          <a:ea typeface="Noto Sans KR" panose="020B05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oto Sans KR" panose="020B0500000000000000" pitchFamily="34" charset="-128"/>
          <a:ea typeface="Noto Sans KR" panose="020B05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oto Sans KR" panose="020B0500000000000000" pitchFamily="34" charset="-128"/>
          <a:ea typeface="Noto Sans KR" panose="020B05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Noto Sans KR" panose="020B0500000000000000" pitchFamily="34" charset="-128"/>
          <a:ea typeface="Noto Sans KR" panose="020B05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oto Sans KR" panose="020B0500000000000000" pitchFamily="34" charset="-128"/>
          <a:ea typeface="Noto Sans KR" panose="020B05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oto Sans KR" panose="020B0500000000000000" pitchFamily="34" charset="-128"/>
          <a:ea typeface="Noto Sans KR" panose="020B05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33863-B1E8-B34A-AB3A-78498D071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484" y="1309008"/>
            <a:ext cx="11390464" cy="2387600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Noto Sans KR" panose="020B0500000000000000" pitchFamily="34" charset="-128"/>
                <a:ea typeface="Noto Sans KR" panose="020B0500000000000000" pitchFamily="34" charset="-128"/>
              </a:rPr>
              <a:t>Autoe</a:t>
            </a:r>
            <a:r>
              <a:rPr lang="en-US" altLang="ko-KR" sz="3600" dirty="0"/>
              <a:t>ncoder, Diffusion model, contrastive learning and Medical adoption in AD </a:t>
            </a:r>
            <a:endParaRPr lang="ko-KR" altLang="en-US" sz="36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7828B390-F77A-27D4-9AB6-B267151A199C}"/>
              </a:ext>
            </a:extLst>
          </p:cNvPr>
          <p:cNvSpPr txBox="1">
            <a:spLocks/>
          </p:cNvSpPr>
          <p:nvPr/>
        </p:nvSpPr>
        <p:spPr>
          <a:xfrm>
            <a:off x="551332" y="4904233"/>
            <a:ext cx="1139875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고려대학교 </a:t>
            </a:r>
            <a:r>
              <a:rPr lang="ko-KR" altLang="ko-KR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산업경영공학과</a:t>
            </a:r>
            <a:endParaRPr lang="en-US" altLang="ko-KR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데이터 </a:t>
            </a:r>
            <a:r>
              <a:rPr lang="ko-KR" altLang="en-US" sz="1800" dirty="0" err="1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애널리틱스</a:t>
            </a:r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 및 헬스케어 시스템 연구실</a:t>
            </a:r>
            <a:r>
              <a:rPr lang="en-US" altLang="ko-KR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(DAHS)</a:t>
            </a:r>
          </a:p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석사과정</a:t>
            </a:r>
            <a:endParaRPr lang="en-US" altLang="ko-KR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  <a:p>
            <a:pPr algn="r"/>
            <a:r>
              <a:rPr lang="ko-KR" altLang="en-US" sz="1800" dirty="0" err="1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김홍범</a:t>
            </a:r>
            <a:endParaRPr kumimoji="1" lang="ko-KR" altLang="en-US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A37C8C-A9D8-77B4-6C0D-0338708DD9B6}"/>
              </a:ext>
            </a:extLst>
          </p:cNvPr>
          <p:cNvSpPr/>
          <p:nvPr/>
        </p:nvSpPr>
        <p:spPr>
          <a:xfrm>
            <a:off x="551332" y="3748434"/>
            <a:ext cx="11264616" cy="99077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7912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FA59A3-714F-F4FE-7431-6EC8ECF3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b="1" dirty="0">
                <a:latin typeface="Noto Sans KR" panose="020B0500000000000000" pitchFamily="34" charset="-128"/>
                <a:ea typeface="Noto Sans KR" panose="020B0500000000000000" pitchFamily="34" charset="-128"/>
              </a:rPr>
              <a:t>Index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EBDEA1-E078-70F6-9C73-42B3372D4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417"/>
            <a:ext cx="10515600" cy="4184661"/>
          </a:xfrm>
        </p:spPr>
        <p:txBody>
          <a:bodyPr anchor="ctr">
            <a:no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kumimoji="1" lang="en-US" altLang="ko-KR" sz="2500" dirty="0"/>
              <a:t>Autoencoders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kumimoji="1" lang="en-US" altLang="ko-KR" sz="2500" dirty="0"/>
              <a:t>Diffusion Autoencoders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kumimoji="1" lang="en-US" altLang="ko-KR" sz="2500" dirty="0"/>
              <a:t>Contrastive Learning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kumimoji="1" lang="en-US" altLang="ko-KR" sz="2500" dirty="0"/>
              <a:t>Paper review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kumimoji="1" lang="en-US" altLang="ko-KR" sz="2500" dirty="0"/>
              <a:t>Conclusion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37312F-86FF-F72E-F340-3F2066BC771A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7FFFB5B-7249-2A1C-92F9-5F9A65E1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12E92-2CD2-934B-850B-F718AD5AB502}" type="slidenum">
              <a:rPr kumimoji="1" lang="ko-KR" altLang="en-US" smtClean="0"/>
              <a:t>2</a:t>
            </a:fld>
            <a:endParaRPr kumimoji="1"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ED0E6D6-CE40-A07A-AC0F-5E3A37DADD92}"/>
              </a:ext>
            </a:extLst>
          </p:cNvPr>
          <p:cNvSpPr txBox="1">
            <a:spLocks/>
          </p:cNvSpPr>
          <p:nvPr/>
        </p:nvSpPr>
        <p:spPr>
          <a:xfrm>
            <a:off x="840382" y="1602598"/>
            <a:ext cx="10515600" cy="41846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2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500000000000000" pitchFamily="34" charset="-128"/>
              <a:ea typeface="Noto Sans KR" panose="020B0500000000000000" pitchFamily="34" charset="-128"/>
            </a:endParaRPr>
          </a:p>
          <a:p>
            <a:pPr marL="0" indent="0" algn="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2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500000000000000" pitchFamily="34" charset="-128"/>
              <a:ea typeface="Noto Sans KR" panose="020B0500000000000000" pitchFamily="34" charset="-128"/>
            </a:endParaRPr>
          </a:p>
          <a:p>
            <a:pPr marL="0" indent="0" algn="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2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500000000000000" pitchFamily="34" charset="-128"/>
              <a:ea typeface="Noto Sans KR" panose="020B0500000000000000" pitchFamily="34" charset="-128"/>
            </a:endParaRPr>
          </a:p>
          <a:p>
            <a:pPr marL="0" indent="0" algn="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2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719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1. Autoencoder 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1. What is Autoencoder</a:t>
            </a:r>
            <a:endParaRPr kumimoji="1" lang="ko-KR" altLang="en-US" sz="2000" b="1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D36FC904-3771-BB14-EA90-BAF28A618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00" y="1841998"/>
            <a:ext cx="4761788" cy="318613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/>
              <a:t>Autoencoder</a:t>
            </a:r>
            <a:r>
              <a:rPr lang="ko-KR" altLang="en-US" sz="1800" dirty="0"/>
              <a:t>란</a:t>
            </a:r>
            <a:r>
              <a:rPr lang="en-US" altLang="ko-KR" sz="1800" dirty="0"/>
              <a:t>?</a:t>
            </a:r>
          </a:p>
          <a:p>
            <a:pPr>
              <a:lnSpc>
                <a:spcPct val="100000"/>
              </a:lnSpc>
            </a:pPr>
            <a:r>
              <a:rPr lang="ko-KR" altLang="en-US" sz="1800" dirty="0"/>
              <a:t>입력과 출력이 같은 구조를 가지는 </a:t>
            </a:r>
            <a:r>
              <a:rPr lang="en-US" altLang="ko-KR" sz="1800" dirty="0"/>
              <a:t>network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/>
              <a:t>Autoencoder</a:t>
            </a:r>
            <a:r>
              <a:rPr lang="ko-KR" altLang="en-US" sz="1800" dirty="0"/>
              <a:t>의 기능</a:t>
            </a:r>
            <a:endParaRPr lang="en-US" altLang="ko-KR" sz="1800" dirty="0"/>
          </a:p>
          <a:p>
            <a:pPr>
              <a:lnSpc>
                <a:spcPct val="100000"/>
              </a:lnSpc>
            </a:pPr>
            <a:r>
              <a:rPr lang="en-US" altLang="ko-KR" sz="1800" dirty="0"/>
              <a:t>Unsupervised Learning</a:t>
            </a:r>
          </a:p>
          <a:p>
            <a:pPr>
              <a:lnSpc>
                <a:spcPct val="100000"/>
              </a:lnSpc>
            </a:pPr>
            <a:r>
              <a:rPr lang="en-US" altLang="ko-KR" sz="1800" dirty="0"/>
              <a:t>Representation Learning</a:t>
            </a:r>
          </a:p>
          <a:p>
            <a:pPr>
              <a:lnSpc>
                <a:spcPct val="100000"/>
              </a:lnSpc>
            </a:pPr>
            <a:r>
              <a:rPr lang="en-US" altLang="ko-KR" sz="1800" dirty="0"/>
              <a:t>Dimensionality Reduction</a:t>
            </a:r>
          </a:p>
          <a:p>
            <a:pPr>
              <a:lnSpc>
                <a:spcPct val="100000"/>
              </a:lnSpc>
            </a:pPr>
            <a:r>
              <a:rPr lang="en-US" altLang="ko-KR" sz="1800" dirty="0"/>
              <a:t>Generative Model Learning</a:t>
            </a:r>
          </a:p>
        </p:txBody>
      </p:sp>
      <p:pic>
        <p:nvPicPr>
          <p:cNvPr id="1026" name="Picture 2" descr="Variational Autoencoders are Beautiful | Blogs">
            <a:extLst>
              <a:ext uri="{FF2B5EF4-FFF2-40B4-BE49-F238E27FC236}">
                <a16:creationId xmlns:a16="http://schemas.microsoft.com/office/drawing/2014/main" id="{98A360C7-34FA-D643-12BF-EE55A4E42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76" y="1509884"/>
            <a:ext cx="5507253" cy="4131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049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1. Autoencoder 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2. Overview of Autoencoder</a:t>
            </a:r>
            <a:endParaRPr kumimoji="1" lang="ko-KR" altLang="en-US" sz="2000" b="1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F3C6549-357A-858B-DD8E-4CEF6FDCB1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34" r="426" b="2634"/>
          <a:stretch/>
        </p:blipFill>
        <p:spPr bwMode="auto">
          <a:xfrm>
            <a:off x="892700" y="1912551"/>
            <a:ext cx="9674038" cy="4407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18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</a:t>
            </a:r>
            <a:r>
              <a:rPr kumimoji="1" lang="en-US" altLang="ko-KR" sz="32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Diffusion Autoencoder</a:t>
            </a:r>
            <a:r>
              <a:rPr kumimoji="1" lang="en-US" altLang="ko-KR" sz="3200" dirty="0"/>
              <a:t> 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AutoNum type="arabicPeriod"/>
            </a:pPr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Generative model</a:t>
            </a:r>
            <a:r>
              <a:rPr kumimoji="1" lang="ko-KR" altLang="en-US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이란</a:t>
            </a:r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?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95B5D119-7F7A-4325-D25E-035900E04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150" y="1841998"/>
            <a:ext cx="6178550" cy="4271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658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</a:t>
            </a:r>
            <a:r>
              <a:rPr kumimoji="1" lang="en-US" altLang="ko-KR" sz="32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Diffusion Autoencoder</a:t>
            </a:r>
            <a:r>
              <a:rPr kumimoji="1" lang="en-US" altLang="ko-KR" sz="3200" dirty="0"/>
              <a:t> 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AutoNum type="arabicPeriod"/>
            </a:pPr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Diffusion Model</a:t>
            </a:r>
            <a:r>
              <a:rPr kumimoji="1" lang="ko-KR" altLang="en-US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이란</a:t>
            </a:r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?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026DA7B8-D6F4-1259-8E12-C65FA57CA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00" y="1841997"/>
            <a:ext cx="10406600" cy="36512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800" dirty="0"/>
              <a:t>데이터를 만들어내는 </a:t>
            </a:r>
            <a:r>
              <a:rPr lang="en-US" altLang="ko-KR" sz="1800" dirty="0"/>
              <a:t>deep generative model </a:t>
            </a:r>
            <a:r>
              <a:rPr lang="ko-KR" altLang="en-US" sz="1800" dirty="0"/>
              <a:t>방법론 중 하나</a:t>
            </a:r>
            <a:endParaRPr lang="en-US" altLang="ko-KR" sz="18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C4287D0-CDBE-0A7E-CD8D-75FACEF07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174" y="2577262"/>
            <a:ext cx="768667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7DC6BA7-9346-4D74-0584-094FF0A9A422}"/>
              </a:ext>
            </a:extLst>
          </p:cNvPr>
          <p:cNvCxnSpPr>
            <a:cxnSpLocks/>
          </p:cNvCxnSpPr>
          <p:nvPr/>
        </p:nvCxnSpPr>
        <p:spPr>
          <a:xfrm>
            <a:off x="2147886" y="3932987"/>
            <a:ext cx="56832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EC659A2-C020-A7D6-CCAC-705285B7F7C7}"/>
              </a:ext>
            </a:extLst>
          </p:cNvPr>
          <p:cNvSpPr txBox="1"/>
          <p:nvPr/>
        </p:nvSpPr>
        <p:spPr>
          <a:xfrm>
            <a:off x="3376611" y="4007564"/>
            <a:ext cx="3225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Reverse process </a:t>
            </a:r>
            <a:r>
              <a:rPr lang="en-US" altLang="ko-KR" sz="13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p</a:t>
            </a:r>
            <a:r>
              <a:rPr lang="en-US" altLang="ko-KR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 복원 과정</a:t>
            </a:r>
            <a:r>
              <a:rPr lang="en-US" altLang="ko-KR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endParaRPr lang="ko-KR" altLang="en-US" sz="13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98393A1-2CA7-55D3-F0A0-2484EC15AF1F}"/>
              </a:ext>
            </a:extLst>
          </p:cNvPr>
          <p:cNvCxnSpPr>
            <a:cxnSpLocks/>
          </p:cNvCxnSpPr>
          <p:nvPr/>
        </p:nvCxnSpPr>
        <p:spPr>
          <a:xfrm flipH="1">
            <a:off x="2062163" y="2574087"/>
            <a:ext cx="56975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6CD0C78-4A68-0F6C-141F-24EC8EBB35FE}"/>
              </a:ext>
            </a:extLst>
          </p:cNvPr>
          <p:cNvSpPr txBox="1"/>
          <p:nvPr/>
        </p:nvSpPr>
        <p:spPr>
          <a:xfrm>
            <a:off x="3205161" y="2213890"/>
            <a:ext cx="3225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Forward process </a:t>
            </a:r>
            <a:r>
              <a:rPr lang="en-US" altLang="ko-KR" sz="13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q(</a:t>
            </a:r>
            <a:r>
              <a:rPr lang="en-US" altLang="ko-KR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noise </a:t>
            </a:r>
            <a:r>
              <a:rPr lang="ko-KR" altLang="en-US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추가되는 과정</a:t>
            </a:r>
            <a:r>
              <a:rPr lang="en-US" altLang="ko-KR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endParaRPr lang="ko-KR" altLang="en-US" sz="13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19ECD5-320D-AFE5-FA60-AFF92FE218F4}"/>
              </a:ext>
            </a:extLst>
          </p:cNvPr>
          <p:cNvSpPr txBox="1"/>
          <p:nvPr/>
        </p:nvSpPr>
        <p:spPr>
          <a:xfrm>
            <a:off x="8832848" y="3523147"/>
            <a:ext cx="1575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Markov property </a:t>
            </a:r>
            <a:r>
              <a:rPr lang="ko-KR" altLang="en-US" sz="1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및</a:t>
            </a:r>
            <a:endParaRPr lang="en-US" altLang="ko-KR" sz="10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en-US" altLang="ko-KR" sz="1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KL Divergence</a:t>
            </a:r>
            <a:r>
              <a:rPr lang="ko-KR" altLang="en-US" sz="1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를 가정함</a:t>
            </a:r>
            <a:endParaRPr lang="en-US" altLang="ko-KR" sz="10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6A19AD-5EE5-0CAD-183D-3B3BCFFC7009}"/>
                  </a:ext>
                </a:extLst>
              </p:cNvPr>
              <p:cNvSpPr txBox="1"/>
              <p:nvPr/>
            </p:nvSpPr>
            <p:spPr>
              <a:xfrm>
                <a:off x="838200" y="4374528"/>
                <a:ext cx="1097181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Objective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: 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실제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data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의 분포인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  <a:ea typeface="Noto Sans KR" panose="020B0500000000000000" pitchFamily="34" charset="-127"/>
                      </a:rPr>
                      <m:t>p</m:t>
                    </m:r>
                    <m:r>
                      <a:rPr lang="en-US" altLang="ko-KR" i="1" dirty="0">
                        <a:latin typeface="Cambria Math" panose="02040503050406030204" pitchFamily="18" charset="0"/>
                        <a:ea typeface="Noto Sans KR" panose="020B0500000000000000" pitchFamily="34" charset="-127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x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Noto Sans KR" panose="020B0500000000000000" pitchFamily="34" charset="-127"/>
                      </a:rPr>
                      <m:t>)</m:t>
                    </m:r>
                  </m:oMath>
                </a14:m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를 최대화 하는 것을 목적으로 학습이 진행됨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(Maximize likelihood)</a:t>
                </a:r>
              </a:p>
              <a:p>
                <a:endParaRPr lang="en-US" altLang="ko-KR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  <a:p>
                <a:r>
                  <a:rPr lang="en-US" altLang="ko-KR" b="1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Loss function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: </a:t>
                </a:r>
              </a:p>
              <a:p>
                <a:endParaRPr lang="en-US" altLang="ko-KR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𝑳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: p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가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generate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하는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noise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T</m:t>
                        </m:r>
                      </m:sub>
                    </m:sSub>
                  </m:oMath>
                </a14:m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와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q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X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라는 데이터가 주어졌을 때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generate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하는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noise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X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𝑇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  <a:ea typeface="Noto Sans KR" panose="020B0500000000000000" pitchFamily="34" charset="-127"/>
                      </a:rPr>
                      <m:t>간</m:t>
                    </m:r>
                  </m:oMath>
                </a14:m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의 분포 차이</a:t>
                </a:r>
                <a:endParaRPr lang="en-US" altLang="ko-KR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𝑳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𝒕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−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: p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와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q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의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reverse / forward process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의 분포 차이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. 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최대한 같아지는 방향으로 학습됨</a:t>
                </a:r>
                <a:endParaRPr lang="en-US" altLang="ko-KR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𝑳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(reconstruction loss) : latent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X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1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  <a:ea typeface="Noto Sans KR" panose="020B0500000000000000" pitchFamily="34" charset="-127"/>
                      </a:rPr>
                      <m:t>으</m:t>
                    </m:r>
                  </m:oMath>
                </a14:m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로부터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X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500000000000000" pitchFamily="34" charset="-127"/>
                          </a:rPr>
                          <m:t>0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  <a:ea typeface="Noto Sans KR" panose="020B0500000000000000" pitchFamily="34" charset="-127"/>
                      </a:rPr>
                      <m:t>을</m:t>
                    </m:r>
                  </m:oMath>
                </a14:m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 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추정하는 </a:t>
                </a: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likelihood. Maximize</a:t>
                </a:r>
                <a:r>
                  <a:rPr lang="ko-KR" altLang="en-US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하는 방향으로 학습됨</a:t>
                </a:r>
                <a:endParaRPr lang="en-US" altLang="ko-KR" dirty="0"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6A19AD-5EE5-0CAD-183D-3B3BCFFC7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74528"/>
                <a:ext cx="10971810" cy="2031325"/>
              </a:xfrm>
              <a:prstGeom prst="rect">
                <a:avLst/>
              </a:prstGeom>
              <a:blipFill>
                <a:blip r:embed="rId3"/>
                <a:stretch>
                  <a:fillRect l="-500" t="-1802" b="-39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4" name="Picture 4">
            <a:extLst>
              <a:ext uri="{FF2B5EF4-FFF2-40B4-BE49-F238E27FC236}">
                <a16:creationId xmlns:a16="http://schemas.microsoft.com/office/drawing/2014/main" id="{574758C8-0325-C342-9642-4320F4B17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519" y="4780116"/>
            <a:ext cx="6938962" cy="708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DCA1CCC7-2B32-5034-B6CF-F76A5B1B8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76" y="3234539"/>
            <a:ext cx="533399" cy="532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그림 25" descr="인간의 얼굴, 의류, 사람, 인물사진이(가) 표시된 사진&#10;&#10;자동 생성된 설명">
            <a:extLst>
              <a:ext uri="{FF2B5EF4-FFF2-40B4-BE49-F238E27FC236}">
                <a16:creationId xmlns:a16="http://schemas.microsoft.com/office/drawing/2014/main" id="{889C9A3B-A702-13F7-BE7C-94C96CEF8D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2231" y="3234539"/>
            <a:ext cx="533399" cy="53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83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</a:t>
            </a:r>
            <a:r>
              <a:rPr kumimoji="1" lang="en-US" altLang="ko-KR" sz="32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Diffusion Autoencoder</a:t>
            </a:r>
            <a:r>
              <a:rPr kumimoji="1" lang="en-US" altLang="ko-KR" sz="3200" dirty="0"/>
              <a:t> 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2. Diffusion Autoencoder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D61659-DE31-C43A-6F30-A49B600B2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DDIM</a:t>
            </a:r>
            <a:r>
              <a:rPr lang="ko-KR" altLang="en-US" sz="2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2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DDPM</a:t>
            </a:r>
            <a:r>
              <a:rPr lang="ko-KR" altLang="en-US" sz="2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이라는 </a:t>
            </a:r>
            <a:r>
              <a:rPr lang="en-US" altLang="ko-KR" sz="2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Diffusion model</a:t>
            </a:r>
            <a:r>
              <a:rPr lang="ko-KR" altLang="en-US" sz="2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한계인 </a:t>
            </a:r>
            <a:r>
              <a:rPr lang="en-US" altLang="ko-KR" sz="2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semantic information</a:t>
            </a:r>
            <a:r>
              <a:rPr lang="ko-KR" altLang="en-US" sz="2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학습할 수 있게 변환한 모델</a:t>
            </a:r>
            <a:endParaRPr lang="en-US" altLang="ko-KR" sz="20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0B4012C-7622-1109-5D99-1C5505918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800" y="2263911"/>
            <a:ext cx="5505260" cy="37147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1F6E1C7-ED93-8BF9-BA3B-EF8B300E5D53}"/>
              </a:ext>
            </a:extLst>
          </p:cNvPr>
          <p:cNvSpPr txBox="1"/>
          <p:nvPr/>
        </p:nvSpPr>
        <p:spPr>
          <a:xfrm>
            <a:off x="892700" y="6202151"/>
            <a:ext cx="868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https://lilianweng.github.io/posts/2021-07-11-diffusion-models/</a:t>
            </a:r>
          </a:p>
        </p:txBody>
      </p:sp>
    </p:spTree>
    <p:extLst>
      <p:ext uri="{BB962C8B-B14F-4D97-AF65-F5344CB8AC3E}">
        <p14:creationId xmlns:p14="http://schemas.microsoft.com/office/powerpoint/2010/main" val="362512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</a:t>
            </a:r>
            <a:r>
              <a:rPr kumimoji="1" lang="en-US" altLang="ko-KR" sz="32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Contrastive Learning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1. Self supervised representation learning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32C6FC44-600D-6970-1F67-F820813E3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50" y="1912551"/>
            <a:ext cx="7691268" cy="416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5170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</a:t>
            </a:r>
            <a:r>
              <a:rPr kumimoji="1" lang="en-US" altLang="ko-KR" sz="32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Contrastive Learning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2. Contrastive Learning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15C5C0-7F65-5E67-FCF2-A72998053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00" y="1743075"/>
            <a:ext cx="10515600" cy="2689225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000" b="1" dirty="0"/>
              <a:t>Contrastive learning</a:t>
            </a:r>
            <a:r>
              <a:rPr lang="ko-KR" altLang="en-US" sz="2000" b="1" dirty="0"/>
              <a:t>이란</a:t>
            </a:r>
            <a:r>
              <a:rPr lang="en-US" altLang="ko-KR" sz="2000" b="1" dirty="0"/>
              <a:t>?</a:t>
            </a:r>
            <a:endParaRPr lang="en-US" altLang="ko-KR" sz="2000" b="1" u="sng" dirty="0"/>
          </a:p>
          <a:p>
            <a:r>
              <a:rPr lang="en-US" altLang="ko-KR" sz="1600" dirty="0"/>
              <a:t>Self-supervised-learning representation learning </a:t>
            </a:r>
            <a:r>
              <a:rPr lang="ko-KR" altLang="en-US" sz="1600" dirty="0"/>
              <a:t>중에서 최근 가장 효율적인 방식</a:t>
            </a:r>
            <a:endParaRPr lang="en-US" altLang="ko-KR" sz="1600" dirty="0"/>
          </a:p>
          <a:p>
            <a:r>
              <a:rPr lang="ko-KR" altLang="en-US" sz="1600" dirty="0"/>
              <a:t>유사한 이미지가 저 차원 공간에서 서로 가깝게</a:t>
            </a:r>
            <a:r>
              <a:rPr lang="en-US" altLang="ko-KR" sz="1600" dirty="0"/>
              <a:t>, </a:t>
            </a:r>
            <a:r>
              <a:rPr lang="ko-KR" altLang="en-US" sz="1600" dirty="0"/>
              <a:t>동시에 다른 이미지는 서로 멀리 떨어져 있도록 </a:t>
            </a:r>
            <a:r>
              <a:rPr lang="ko-KR" altLang="en-US" sz="1600" dirty="0" err="1"/>
              <a:t>저차원</a:t>
            </a:r>
            <a:r>
              <a:rPr lang="ko-KR" altLang="en-US" sz="1600" dirty="0"/>
              <a:t> 공간에서 이미지를 인코딩하는 방법을 모델이 학습하게 하는 방법론</a:t>
            </a:r>
            <a:endParaRPr lang="en-US" altLang="ko-KR" sz="1600" dirty="0"/>
          </a:p>
          <a:p>
            <a:r>
              <a:rPr lang="ko-KR" altLang="en-US" sz="1600" dirty="0"/>
              <a:t>기존의 생성모델 방법론들과는 다르게 특정 예측을 생성하기 위해 모델을 최적화하는 것이 아닌 표현 자체가 의미가 있는지 확인하는 작업을 거침</a:t>
            </a:r>
            <a:r>
              <a:rPr lang="en-US" altLang="ko-KR" sz="1600" dirty="0"/>
              <a:t> -&gt; </a:t>
            </a:r>
            <a:r>
              <a:rPr lang="ko-KR" altLang="en-US" sz="1600" dirty="0"/>
              <a:t>레이블이 없기 때문에 이러한 방식을 채택함</a:t>
            </a:r>
            <a:endParaRPr lang="en-US" altLang="ko-KR" sz="1600" dirty="0"/>
          </a:p>
          <a:p>
            <a:r>
              <a:rPr lang="ko-KR" altLang="en-US" sz="1600" dirty="0"/>
              <a:t>따라서 주석이나 레이블 없이도 데이터에 대해 많은 것을 학습하고 모델을 훈련하는 것이 가능함</a:t>
            </a: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5F431BC5-E9D9-E945-10AC-5D888C450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700" y="4114585"/>
            <a:ext cx="4536415" cy="2517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563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</a:t>
            </a:r>
            <a:r>
              <a:rPr kumimoji="1" lang="en-US" altLang="ko-KR" sz="32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Contrastive Learning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2. Contrastive Learning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05536684-855D-B126-8CE4-52058225D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2016835"/>
            <a:ext cx="8915400" cy="407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423B23-E8E6-69AF-E098-A6D5EFF14B75}"/>
              </a:ext>
            </a:extLst>
          </p:cNvPr>
          <p:cNvSpPr txBox="1"/>
          <p:nvPr/>
        </p:nvSpPr>
        <p:spPr>
          <a:xfrm>
            <a:off x="2340500" y="1775528"/>
            <a:ext cx="3968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Cosine Similarity</a:t>
            </a:r>
            <a:endParaRPr lang="ko-KR" altLang="en-US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4592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</a:t>
            </a:r>
            <a:r>
              <a:rPr kumimoji="1" lang="en-US" altLang="ko-KR" sz="32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Contrastive Learning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2. Contrastive Learning – Multimodal Representation learning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36EA3A4-5C4D-2A51-5BAC-877796A27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668" y="1829872"/>
            <a:ext cx="8787740" cy="434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37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</a:t>
            </a:r>
            <a:r>
              <a:rPr kumimoji="1" lang="en-US" altLang="ko-KR" sz="32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Paper Review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1. Introduction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48F92AA-A0AF-BBA1-CBF6-C38067DDF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00" y="1829872"/>
            <a:ext cx="3739896" cy="48021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B7BEF3-8C9A-8B1E-11E1-4989AD2B2453}"/>
              </a:ext>
            </a:extLst>
          </p:cNvPr>
          <p:cNvSpPr txBox="1"/>
          <p:nvPr/>
        </p:nvSpPr>
        <p:spPr>
          <a:xfrm>
            <a:off x="5165766" y="1801009"/>
            <a:ext cx="6188034" cy="2675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i="0" dirty="0">
                <a:solidFill>
                  <a:srgbClr val="212121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Alzheimer's disease</a:t>
            </a:r>
            <a:r>
              <a:rPr lang="en-US" altLang="ko-KR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(AD)</a:t>
            </a:r>
            <a:r>
              <a:rPr lang="ko-KR" altLang="en-US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란</a:t>
            </a:r>
            <a:r>
              <a:rPr lang="en-US" altLang="ko-KR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만성 신경 퇴행성 질환으로서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아밀로이드반의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비정상적인 축적과 뇌의 신경섬유매듭이 엉키는 특징을 가지고 있음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대부분의 연구가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neuroimaging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데이터셋으로 이루어짐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현재까지 치료법이 발견되지 않았기 때문에 조기 발견이 매우 중요함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i="0" dirty="0">
                <a:solidFill>
                  <a:srgbClr val="212121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해당 연구에서는 </a:t>
            </a:r>
            <a:r>
              <a:rPr lang="en-US" altLang="ko-KR" sz="1400" b="1" i="0" dirty="0">
                <a:solidFill>
                  <a:srgbClr val="212121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Alzheimer's disease</a:t>
            </a:r>
            <a:r>
              <a:rPr lang="en-US" altLang="ko-KR" sz="1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(AD)</a:t>
            </a:r>
            <a:r>
              <a:rPr lang="en-US" altLang="ko-KR" sz="1400" b="1" dirty="0">
                <a:solidFill>
                  <a:srgbClr val="21212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Healthy Controls(HC) </a:t>
            </a:r>
            <a:r>
              <a:rPr lang="ko-KR" altLang="en-US" sz="1400" dirty="0">
                <a:solidFill>
                  <a:srgbClr val="21212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구분을 목적으로 함</a:t>
            </a:r>
            <a:endParaRPr lang="en-US" altLang="ko-KR" sz="1400" i="0" dirty="0">
              <a:solidFill>
                <a:srgbClr val="212121"/>
              </a:solidFill>
              <a:effectLst/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29EA4AA6-0CD7-D7AE-05CC-9B1F788C4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971" y="4293476"/>
            <a:ext cx="3372628" cy="224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알츠하이머병">
            <a:extLst>
              <a:ext uri="{FF2B5EF4-FFF2-40B4-BE49-F238E27FC236}">
                <a16:creationId xmlns:a16="http://schemas.microsoft.com/office/drawing/2014/main" id="{28F50A93-F317-595F-A648-E64DB573F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051" y="4692041"/>
            <a:ext cx="2593249" cy="1448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016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</a:t>
            </a:r>
            <a:r>
              <a:rPr kumimoji="1" lang="en-US" altLang="ko-KR" sz="32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Paper Review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3. Methods(DDIM model + Contrastive loss)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13</a:t>
            </a:fld>
            <a:endParaRPr kumimoji="1" lang="ko-Kore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800B31-445A-9CF5-0977-011383651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33361"/>
            <a:ext cx="6374278" cy="274911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BBC51BE-7BCA-E6E7-1985-4C438B2B3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04" y="2280768"/>
            <a:ext cx="4140405" cy="66682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E499121-66FB-B0AC-D33F-8946C20CA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732" y="3320320"/>
            <a:ext cx="4088077" cy="66682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5A447F3-D3D9-09DD-2E9E-D08078F065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0732" y="4395626"/>
            <a:ext cx="2245157" cy="5917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9A6F677-5D5D-C195-B0D8-BD639CACD4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9358" y="5677782"/>
            <a:ext cx="4560331" cy="3464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268BAC-F105-1803-536B-B06FA25DE365}"/>
              </a:ext>
            </a:extLst>
          </p:cNvPr>
          <p:cNvSpPr txBox="1"/>
          <p:nvPr/>
        </p:nvSpPr>
        <p:spPr>
          <a:xfrm>
            <a:off x="7726351" y="2961013"/>
            <a:ext cx="4412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-&gt; DDIM model loss(MSE)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6CCC2D-D243-C84D-C242-2BDBF66E819D}"/>
              </a:ext>
            </a:extLst>
          </p:cNvPr>
          <p:cNvSpPr txBox="1"/>
          <p:nvPr/>
        </p:nvSpPr>
        <p:spPr>
          <a:xfrm>
            <a:off x="7779596" y="4009137"/>
            <a:ext cx="4412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-&gt; Contrastive loss</a:t>
            </a:r>
            <a:endParaRPr lang="ko-KR" alt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506A00-ABD3-F2AF-342A-78498BBEC6D4}"/>
              </a:ext>
            </a:extLst>
          </p:cNvPr>
          <p:cNvSpPr txBox="1"/>
          <p:nvPr/>
        </p:nvSpPr>
        <p:spPr>
          <a:xfrm>
            <a:off x="7726351" y="4942340"/>
            <a:ext cx="4412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-&gt; Predictive loss(Cross-entropy)</a:t>
            </a:r>
            <a:endParaRPr lang="ko-KR" altLang="en-US" b="1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02ED3EC-609A-944A-E820-EAF113836C83}"/>
              </a:ext>
            </a:extLst>
          </p:cNvPr>
          <p:cNvSpPr/>
          <p:nvPr/>
        </p:nvSpPr>
        <p:spPr>
          <a:xfrm>
            <a:off x="3270397" y="1761195"/>
            <a:ext cx="2369127" cy="236912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D999240-379D-566F-E0E6-C617A124CC60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5639524" y="1546328"/>
            <a:ext cx="2446511" cy="1399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A31F083-5332-02A1-E34A-D79374F96912}"/>
              </a:ext>
            </a:extLst>
          </p:cNvPr>
          <p:cNvSpPr txBox="1"/>
          <p:nvPr/>
        </p:nvSpPr>
        <p:spPr>
          <a:xfrm>
            <a:off x="8074160" y="1448423"/>
            <a:ext cx="406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K-nearest method : contrastive learning</a:t>
            </a:r>
            <a:endParaRPr lang="ko-KR" altLang="en-US" b="1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6D04CA9-977F-D2C9-A819-998EDA07C0E5}"/>
              </a:ext>
            </a:extLst>
          </p:cNvPr>
          <p:cNvCxnSpPr/>
          <p:nvPr/>
        </p:nvCxnSpPr>
        <p:spPr>
          <a:xfrm flipV="1">
            <a:off x="3889169" y="2280768"/>
            <a:ext cx="445325" cy="45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FD59556-7231-F7C5-E849-FD549185C212}"/>
                  </a:ext>
                </a:extLst>
              </p:cNvPr>
              <p:cNvSpPr txBox="1"/>
              <p:nvPr/>
            </p:nvSpPr>
            <p:spPr>
              <a:xfrm>
                <a:off x="4299854" y="1978287"/>
                <a:ext cx="9992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400" dirty="0"/>
                  <a:t> (mode)</a:t>
                </a:r>
                <a:endParaRPr lang="ko-KR" alt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FD59556-7231-F7C5-E849-FD549185C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854" y="1978287"/>
                <a:ext cx="999244" cy="307777"/>
              </a:xfrm>
              <a:prstGeom prst="rect">
                <a:avLst/>
              </a:prstGeom>
              <a:blipFill>
                <a:blip r:embed="rId7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0379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</a:t>
            </a:r>
            <a:r>
              <a:rPr kumimoji="1" lang="en-US" altLang="ko-KR" sz="32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Paper Review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4. Experiments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14</a:t>
            </a:fld>
            <a:endParaRPr kumimoji="1" lang="ko-Kore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FD8BC0-3ED6-D9FF-B28B-97B05AD92ADA}"/>
              </a:ext>
            </a:extLst>
          </p:cNvPr>
          <p:cNvSpPr txBox="1"/>
          <p:nvPr/>
        </p:nvSpPr>
        <p:spPr>
          <a:xfrm>
            <a:off x="892700" y="1889872"/>
            <a:ext cx="106026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DATA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10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공공 데이터셋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(Ex ADNI)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을 사용하여 총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6137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환자 데이터를 확보함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(AD = 1105, HC = 5032)</a:t>
            </a:r>
          </a:p>
          <a:p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ko-KR" altLang="en-US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학습과정</a:t>
            </a:r>
            <a:endParaRPr lang="en-US" altLang="ko-KR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구분 없는 학습과정을 거침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(340 epoch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까지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) – diffusion loss</a:t>
            </a:r>
          </a:p>
          <a:p>
            <a:pPr marL="342900" indent="-342900">
              <a:buAutoNum type="arabicPeriod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K=7 latent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representation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learning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활용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(500 epoch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까지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) –Contrastive loss, predictive loss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추가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en-US" altLang="ko-KR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Hardware</a:t>
            </a:r>
          </a:p>
          <a:p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Preprocess model : U-Net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Activation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function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: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SiLU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(Swish)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Parameter number : 7.6 million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GPU  :  Nvidia GeForce RTX 4090</a:t>
            </a:r>
          </a:p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</a:p>
          <a:p>
            <a:endParaRPr lang="ko-KR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9901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4. </a:t>
            </a:r>
            <a:r>
              <a:rPr kumimoji="1" lang="en-US" altLang="ko-KR" sz="32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Paper Review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5. Results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E4EEA9-5CB2-6ECE-2504-A21407B0B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71" y="1829872"/>
            <a:ext cx="3509528" cy="263214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044BF52-0A39-819C-7A3F-65A90EA1F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78" y="2086319"/>
            <a:ext cx="5991225" cy="1866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8A33BE1-C512-FA13-02A3-FE441E2C1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78" y="4192777"/>
            <a:ext cx="6029325" cy="18764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1CAF25F-9C60-DEE7-E401-CEA675D639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3003" y="4605225"/>
            <a:ext cx="4582886" cy="146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07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5. </a:t>
            </a:r>
            <a:r>
              <a:rPr kumimoji="1" lang="en-US" altLang="ko-KR" sz="32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Conclusion</a:t>
            </a:r>
            <a:endParaRPr kumimoji="1" lang="ko-KR" altLang="en-US" sz="32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B206FC-3C69-6CA2-3AB4-1D8B59EC5C00}"/>
              </a:ext>
            </a:extLst>
          </p:cNvPr>
          <p:cNvSpPr txBox="1"/>
          <p:nvPr/>
        </p:nvSpPr>
        <p:spPr>
          <a:xfrm>
            <a:off x="838200" y="1603169"/>
            <a:ext cx="1045233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Diffusion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이라는 생성모델 기법을 사용하여 모델의 </a:t>
            </a:r>
            <a:r>
              <a:rPr lang="ko-KR" altLang="en-US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해석력을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높임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(Semantic representation)</a:t>
            </a:r>
          </a:p>
          <a:p>
            <a:endParaRPr lang="en-US" altLang="ko-KR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Limitation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Global explanation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은 가능하나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local explanation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은 불가능함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정확도 측면에서 기존의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baseline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모델보다 낮다는 한계점을 가짐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Contrastive learning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방법론 도입 여부에 대한 언급이 없음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임상적으로 해당 결과의 해석에 대한 검증이 이루어지지 않았음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(image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만으로는 판단이 어려웠음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ko-KR" altLang="en-US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연구 활용방안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현재 연구중인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PPMI(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파킨슨병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)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데이터셋은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Multimodal dataset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이고 특유의 라벨 적용이 어려움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따라서 해당 데이터셋에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diffusion autoencoder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를 적용하여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latent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variable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추출할 예정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이를 이용하여 향후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RL(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강화학습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에서 사용할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STATE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를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Define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할 예정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56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2849598" y="375911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3698209" y="3053170"/>
            <a:ext cx="4795581" cy="7516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THANK YOU</a:t>
            </a:r>
            <a:endParaRPr kumimoji="1" lang="ko-KR" altLang="en-US" sz="5000" b="1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18217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5411</TotalTime>
  <Words>666</Words>
  <Application>Microsoft Office PowerPoint</Application>
  <PresentationFormat>와이드스크린</PresentationFormat>
  <Paragraphs>125</Paragraphs>
  <Slides>17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Noto Sans KR</vt:lpstr>
      <vt:lpstr>Noto Sans KR Medium</vt:lpstr>
      <vt:lpstr>Arial</vt:lpstr>
      <vt:lpstr>Calibri</vt:lpstr>
      <vt:lpstr>Cambria Math</vt:lpstr>
      <vt:lpstr>Office 테마</vt:lpstr>
      <vt:lpstr>Autoencoder, Diffusion model, contrastive learning and Medical adoption in AD </vt:lpstr>
      <vt:lpstr>Index</vt:lpstr>
      <vt:lpstr>1. Autoencoder </vt:lpstr>
      <vt:lpstr>1. Autoencoder </vt:lpstr>
      <vt:lpstr>2. Diffusion Autoencoder </vt:lpstr>
      <vt:lpstr>2. Diffusion Autoencoder </vt:lpstr>
      <vt:lpstr>2. Diffusion Autoencoder </vt:lpstr>
      <vt:lpstr>3. Contrastive Learning</vt:lpstr>
      <vt:lpstr>3. Contrastive Learning</vt:lpstr>
      <vt:lpstr>3. Contrastive Learning</vt:lpstr>
      <vt:lpstr>3. Contrastive Learning</vt:lpstr>
      <vt:lpstr>4. Paper Review</vt:lpstr>
      <vt:lpstr>4. Paper Review</vt:lpstr>
      <vt:lpstr>4. Paper Review</vt:lpstr>
      <vt:lpstr>4. Paper Review</vt:lpstr>
      <vt:lpstr>5. Conclusion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Review :  Toward a Fully Automated Artificial Pancreas System Using a Bioinspired Reinforcement Learning Design : In Silico Validation</dc:title>
  <dc:creator>박찬영[ 대학원석사과정재학 / 산업경영공학과 ]</dc:creator>
  <cp:lastModifiedBy>hongbum kim</cp:lastModifiedBy>
  <cp:revision>35</cp:revision>
  <dcterms:created xsi:type="dcterms:W3CDTF">2022-12-08T07:49:53Z</dcterms:created>
  <dcterms:modified xsi:type="dcterms:W3CDTF">2024-09-02T04:54:10Z</dcterms:modified>
</cp:coreProperties>
</file>