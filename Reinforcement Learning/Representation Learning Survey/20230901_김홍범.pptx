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46" r:id="rId2"/>
    <p:sldId id="375" r:id="rId3"/>
    <p:sldId id="443" r:id="rId4"/>
    <p:sldId id="432" r:id="rId5"/>
    <p:sldId id="433" r:id="rId6"/>
    <p:sldId id="439" r:id="rId7"/>
    <p:sldId id="437" r:id="rId8"/>
    <p:sldId id="438" r:id="rId9"/>
    <p:sldId id="440" r:id="rId10"/>
    <p:sldId id="444" r:id="rId11"/>
    <p:sldId id="446" r:id="rId12"/>
    <p:sldId id="447" r:id="rId13"/>
    <p:sldId id="441" r:id="rId14"/>
    <p:sldId id="434" r:id="rId15"/>
    <p:sldId id="448" r:id="rId16"/>
    <p:sldId id="430" r:id="rId17"/>
    <p:sldId id="418" r:id="rId18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6DD"/>
    <a:srgbClr val="479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152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D9BD-2644-764D-AC55-9028C546D2ED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5B8BB-7660-B84C-9CB5-ECD67EA3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592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6FD4-6F0F-074A-A347-2C6D366F2D5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03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2F2E-4010-5354-F5B2-B29D01D4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401-B77C-98A5-6EB2-E59AE7F07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ECCE-A5C3-8226-D909-F0B9E327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E1CB-3399-AFB7-7277-52352BE8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C7F2B-AB1D-71E9-9486-558BA0F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49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1680-5B14-B61A-70EF-AC85827D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904A3-7CBD-9348-56D7-07048158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35814-90F5-D6D8-AE04-D6FD3F91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485A-9FFC-05E0-1F6F-377CD409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9A904-41FC-DFC3-B43E-46D65019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E534D-416E-946E-903E-7BBB242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E3E8B-5E06-1AB1-274D-1BEBCE9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3D40-669B-F093-20AE-D4ABB7F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92659-6B2A-50DC-C940-A1F22685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8163C-1555-9BAE-C514-BBD3225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822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6733B-460C-B2E7-02ED-A20E68C5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0646E-6FD2-2E42-8BAB-4827930C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3004F-7B83-26EB-31B6-4B892EF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1E533-7092-97E9-3275-0398B3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2FA06-2CEF-CFC9-9691-597334B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C1354-196A-2DA5-E2E6-98C61C69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978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74F9-FDF5-F9C3-D1C9-1F1433A2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647C6-33F9-D69F-7FA4-829F9027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CF2D-369A-96B1-5977-1EA09EA8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EFCBA-237F-3BC0-B1BF-58A9843C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40D8C8-D3AC-7C75-4D5A-DFCAB69C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787C-0123-32E6-7032-B830ED32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045C7-CDD9-6C5F-073B-ED6AC81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2B8D11-65CC-5222-C88A-9BCF396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522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F9CC-BCF6-82EE-38D0-791279FB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B49994-B667-7CCE-A8BA-BB6F061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29155-6038-CD9A-620B-0C355068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4145-F0A3-2C38-3383-B5E19F8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2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9DA578-5E85-0C0D-D833-586E0E5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3FFC2-4C4E-8DC4-ACC9-A61C125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A0920-51FE-A23A-B0C2-074C538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8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6049-5938-8CDB-1087-8544304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57DB-33AC-D8F5-ED5D-4A73DBFE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31EEE-86E8-1CAD-84A9-5D0108C8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26493-6EE9-5919-F2D9-711A6DF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C275E-4D2B-0870-1510-B013451B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123A0-0227-255B-929E-C79AC53A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35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C9BF-515B-315A-A3F1-42AB23F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D1114-9997-D134-CF5C-7507E7497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00470-F1B2-EE31-0281-C7E6C7B81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FE232-FD6F-B3AE-485C-72678F5D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70D6A8-CD80-B64A-FC92-F3C96F9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A7781-3B8C-1EA2-3925-A4FB19F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8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DCDB4-AC7A-5A09-DBE7-A9751B28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A7F-0B8F-389A-2A20-C26098BB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B4C-248F-CB02-E64D-A49957D2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C4D8C-8700-7C9F-2A22-6243FC2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9B4AA-DE14-79AC-DE5B-DE18FB7B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3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D9137-FE15-031C-F459-AAD4C9463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74E8A-933E-6989-3454-F1CFF998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DD073-25BB-E8AE-F288-106059F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09/01/2023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AC884-01DA-545C-EE55-15F2D65B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41523-8935-2338-84B9-D289DEE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49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ADEA76-BAD6-14A4-3F43-7A44D7B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9457C-2F9F-B8BA-FD22-8CB32B9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4117A-C927-9246-39E2-6ECA1C8B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A81CE695-34C9-0C4C-935F-C9CE81A53A21}" type="datetimeFigureOut">
              <a:rPr kumimoji="1" lang="ko-Kore-KR" altLang="en-US" smtClean="0"/>
              <a:pPr/>
              <a:t>09/01/2023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BD33F-54C9-E685-FD61-A68A2E7B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59F7C-B18A-A322-E08D-E8CF63D2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94845DB3-6CBB-354F-BA70-189B252AE394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95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33863-B1E8-B34A-AB3A-78498D07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84" y="1309008"/>
            <a:ext cx="11390464" cy="2387600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Noto Sans KR" panose="020B0500000000000000" pitchFamily="34" charset="-128"/>
                <a:ea typeface="Noto Sans KR" panose="020B0500000000000000" pitchFamily="34" charset="-128"/>
              </a:rPr>
              <a:t>An Empirical Study of Representation Learning for Reinforcement Learning in Healthcare</a:t>
            </a:r>
            <a:endParaRPr lang="ko-KR" altLang="en-US" sz="36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828B390-F77A-27D4-9AB6-B267151A199C}"/>
              </a:ext>
            </a:extLst>
          </p:cNvPr>
          <p:cNvSpPr txBox="1">
            <a:spLocks/>
          </p:cNvSpPr>
          <p:nvPr/>
        </p:nvSpPr>
        <p:spPr>
          <a:xfrm>
            <a:off x="551332" y="4904233"/>
            <a:ext cx="113987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고려대학교 </a:t>
            </a:r>
            <a:r>
              <a:rPr lang="ko-KR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산업경영공학과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데이터 </a:t>
            </a:r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애널리틱스</a:t>
            </a:r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및 헬스케어 시스템 연구실</a:t>
            </a:r>
            <a:r>
              <a:rPr lang="en-US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(DAHS)</a:t>
            </a: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석사과정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김홍범</a:t>
            </a:r>
            <a:endParaRPr kumimoji="1" lang="ko-KR" altLang="en-US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37C8C-A9D8-77B4-6C0D-0338708DD9B6}"/>
              </a:ext>
            </a:extLst>
          </p:cNvPr>
          <p:cNvSpPr/>
          <p:nvPr/>
        </p:nvSpPr>
        <p:spPr>
          <a:xfrm>
            <a:off x="551332" y="3748434"/>
            <a:ext cx="11264616" cy="99077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1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What is Representation Learning?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pic>
        <p:nvPicPr>
          <p:cNvPr id="1028" name="Picture 4" descr="1. Representation Learning 이란?">
            <a:extLst>
              <a:ext uri="{FF2B5EF4-FFF2-40B4-BE49-F238E27FC236}">
                <a16:creationId xmlns:a16="http://schemas.microsoft.com/office/drawing/2014/main" id="{58E1E4BF-D69F-5696-8818-FBC004F98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36" y="1820355"/>
            <a:ext cx="3485423" cy="353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ransitioning to Deep Learning">
            <a:extLst>
              <a:ext uri="{FF2B5EF4-FFF2-40B4-BE49-F238E27FC236}">
                <a16:creationId xmlns:a16="http://schemas.microsoft.com/office/drawing/2014/main" id="{E12128E1-297E-61F9-A9DE-63DD5F14F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641" y="2148775"/>
            <a:ext cx="5164023" cy="290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7BE469-B73D-7B43-B4CB-500E2AA88293}"/>
              </a:ext>
            </a:extLst>
          </p:cNvPr>
          <p:cNvSpPr txBox="1"/>
          <p:nvPr/>
        </p:nvSpPr>
        <p:spPr>
          <a:xfrm>
            <a:off x="918358" y="5542077"/>
            <a:ext cx="10355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Representation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최종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task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유형에 따라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‘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New Representation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’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 해당하는 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new feature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&lt;---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&gt;input feature)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뽑게 학습하는 방법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supervised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든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unsupervised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든 모두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objective(loss) function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 존재하므로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new representation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 해당하는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hidden feature vector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구할 수 있게 됨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endParaRPr lang="ko-KR" altLang="en-US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504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Introduction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2F2BDF-A76E-6226-31DC-D76D17DA6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25" y="1991533"/>
            <a:ext cx="3364051" cy="4729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279F08-0833-9162-623A-0DD0DB6D2C54}"/>
              </a:ext>
            </a:extLst>
          </p:cNvPr>
          <p:cNvSpPr txBox="1"/>
          <p:nvPr/>
        </p:nvSpPr>
        <p:spPr>
          <a:xfrm>
            <a:off x="5557652" y="3019769"/>
            <a:ext cx="55220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정식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ACCEPT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되진 않은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But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방식의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representation methods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health care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데이터에 사용했다는 점에서 의의가 있었음</a:t>
            </a:r>
          </a:p>
        </p:txBody>
      </p:sp>
    </p:spTree>
    <p:extLst>
      <p:ext uri="{BB962C8B-B14F-4D97-AF65-F5344CB8AC3E}">
        <p14:creationId xmlns:p14="http://schemas.microsoft.com/office/powerpoint/2010/main" val="406913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Why representation learning?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EDE92A-C267-A9F7-5971-2AC102BDC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00" y="1912551"/>
            <a:ext cx="4704004" cy="3791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FCF40C-6399-2DAE-D185-E9F647206197}"/>
              </a:ext>
            </a:extLst>
          </p:cNvPr>
          <p:cNvSpPr txBox="1"/>
          <p:nvPr/>
        </p:nvSpPr>
        <p:spPr>
          <a:xfrm>
            <a:off x="6417425" y="2128058"/>
            <a:ext cx="46941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Datasets : MIMMIC-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III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RL relies on informative latent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These raw observation of severe health are not directly separable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Objective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Effect of representation dimension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Impact of including Contextual information(5 demographic features)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Find treatment policies from off-line RL algorithm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3D02E7-9571-5D0E-96FB-C2F709BCF138}"/>
              </a:ext>
            </a:extLst>
          </p:cNvPr>
          <p:cNvSpPr txBox="1"/>
          <p:nvPr/>
        </p:nvSpPr>
        <p:spPr>
          <a:xfrm>
            <a:off x="1148344" y="5889196"/>
            <a:ext cx="469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Colored by SOFA score, visualized via PCA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742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70754C-354C-EF1A-A2F0-A5BC1DBB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05" y="2000177"/>
            <a:ext cx="10211790" cy="2766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D0566A-FB82-56F9-E28B-2145E5C7C558}"/>
              </a:ext>
            </a:extLst>
          </p:cNvPr>
          <p:cNvSpPr txBox="1"/>
          <p:nvPr/>
        </p:nvSpPr>
        <p:spPr>
          <a:xfrm>
            <a:off x="2535778" y="5043450"/>
            <a:ext cx="906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Six recurrent model + simple non-recurrent Autoencoder</a:t>
            </a:r>
            <a:endParaRPr lang="ko-KR" altLang="en-US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7D7BC2-DB3B-0DBF-FF12-765612A0D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801" y="663072"/>
            <a:ext cx="2386787" cy="11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8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0566A-FB82-56F9-E28B-2145E5C7C558}"/>
              </a:ext>
            </a:extLst>
          </p:cNvPr>
          <p:cNvSpPr txBox="1"/>
          <p:nvPr/>
        </p:nvSpPr>
        <p:spPr>
          <a:xfrm>
            <a:off x="2042556" y="4523317"/>
            <a:ext cx="906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Autoencoder architecture</a:t>
            </a:r>
            <a:endParaRPr lang="ko-KR" altLang="en-US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992D78-B7B3-CBA8-05D3-178469AA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01" y="1936448"/>
            <a:ext cx="6178660" cy="2344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68AFD2-232F-7B72-112A-92E5F010B666}"/>
                  </a:ext>
                </a:extLst>
              </p:cNvPr>
              <p:cNvSpPr txBox="1"/>
              <p:nvPr/>
            </p:nvSpPr>
            <p:spPr>
              <a:xfrm>
                <a:off x="7703127" y="1829872"/>
                <a:ext cx="4006735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22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Observation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22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Treatment Action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22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State Representation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sz="22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Encoding function(model)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22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22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sz="22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Decoding function(model)</a:t>
                </a:r>
                <a:endParaRPr lang="ko-KR" altLang="en-US" sz="2200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68AFD2-232F-7B72-112A-92E5F010B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127" y="1829872"/>
                <a:ext cx="4006735" cy="1785104"/>
              </a:xfrm>
              <a:prstGeom prst="rect">
                <a:avLst/>
              </a:prstGeom>
              <a:blipFill>
                <a:blip r:embed="rId3"/>
                <a:stretch>
                  <a:fillRect l="-913" t="-2389" r="-1979" b="-6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85D4C3-E493-BFD3-CA71-7264DCC38AC3}"/>
                  </a:ext>
                </a:extLst>
              </p:cNvPr>
              <p:cNvSpPr txBox="1"/>
              <p:nvPr/>
            </p:nvSpPr>
            <p:spPr>
              <a:xfrm>
                <a:off x="1151511" y="5050889"/>
                <a:ext cx="10130443" cy="1245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𝐿𝑂𝑆𝑆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𝜆𝜌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𝜆𝜌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𝑆𝑂𝐹𝐴</m:t>
                        </m:r>
                      </m:sup>
                    </m:sSup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𝑆𝐴𝑃𝑆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𝐼𝐼</m:t>
                        </m:r>
                      </m:sup>
                    </m:sSup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𝑂𝐴𝑆𝐼𝑆</m:t>
                        </m:r>
                      </m:sup>
                    </m:sSup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) 	-&gt;	Regularization term</a:t>
                </a:r>
              </a:p>
              <a:p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SOFA, SAPS II, OASIS : Independent acuity score</a:t>
                </a:r>
                <a:endParaRPr lang="ko-KR" altLang="en-US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85D4C3-E493-BFD3-CA71-7264DCC38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511" y="5050889"/>
                <a:ext cx="10130443" cy="1245406"/>
              </a:xfrm>
              <a:prstGeom prst="rect">
                <a:avLst/>
              </a:prstGeom>
              <a:blipFill>
                <a:blip r:embed="rId4"/>
                <a:stretch>
                  <a:fillRect l="-542" t="-1471" b="-68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52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E34CE3-924D-D2BA-1A66-0C94F7E0B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00" y="2625364"/>
            <a:ext cx="4899999" cy="126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4375805-60A9-7F71-8713-9A36604D9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19" y="2647944"/>
            <a:ext cx="4124355" cy="1562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5F7415-B2DC-5609-6F72-CE7B39C92B65}"/>
                  </a:ext>
                </a:extLst>
              </p:cNvPr>
              <p:cNvSpPr txBox="1"/>
              <p:nvPr/>
            </p:nvSpPr>
            <p:spPr>
              <a:xfrm>
                <a:off x="1093311" y="4321728"/>
                <a:ext cx="411123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sz="18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3-layer Recurrent Neural Network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8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sz="18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3-layer feed-forward neural network</a:t>
                </a:r>
              </a:p>
              <a:p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endParaRPr lang="en-US" altLang="ko-KR" sz="1800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5F7415-B2DC-5609-6F72-CE7B39C92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311" y="4321728"/>
                <a:ext cx="4111237" cy="1477328"/>
              </a:xfrm>
              <a:prstGeom prst="rect">
                <a:avLst/>
              </a:prstGeom>
              <a:blipFill>
                <a:blip r:embed="rId4"/>
                <a:stretch>
                  <a:fillRect l="-1185" t="-2479" r="-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C99D396-C3B1-DEEA-D33F-B931ECB47EB6}"/>
              </a:ext>
            </a:extLst>
          </p:cNvPr>
          <p:cNvSpPr txBox="1"/>
          <p:nvPr/>
        </p:nvSpPr>
        <p:spPr>
          <a:xfrm>
            <a:off x="6761019" y="2198454"/>
            <a:ext cx="431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Approximate Information State(AIS)</a:t>
            </a:r>
            <a:endParaRPr lang="ko-KR" altLang="en-US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C813C-C9EA-E617-FC46-795FF985ECC3}"/>
              </a:ext>
            </a:extLst>
          </p:cNvPr>
          <p:cNvSpPr txBox="1"/>
          <p:nvPr/>
        </p:nvSpPr>
        <p:spPr>
          <a:xfrm>
            <a:off x="1822389" y="2198454"/>
            <a:ext cx="479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Basic RNN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0BDA38-76A1-BFAF-A272-BB117EF5709B}"/>
                  </a:ext>
                </a:extLst>
              </p:cNvPr>
              <p:cNvSpPr txBox="1"/>
              <p:nvPr/>
            </p:nvSpPr>
            <p:spPr>
              <a:xfrm>
                <a:off x="6774137" y="4444440"/>
                <a:ext cx="411123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sz="18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gated recurrent unit(GRU)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8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sz="18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3-layer feed-forward neural network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Current action</a:t>
                </a:r>
              </a:p>
              <a:p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0BDA38-76A1-BFAF-A272-BB117EF5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137" y="4444440"/>
                <a:ext cx="4111237" cy="1477328"/>
              </a:xfrm>
              <a:prstGeom prst="rect">
                <a:avLst/>
              </a:prstGeom>
              <a:blipFill>
                <a:blip r:embed="rId5"/>
                <a:stretch>
                  <a:fillRect l="-1185" t="-20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E792D914-5B80-C038-413B-893CEB9FE04D}"/>
              </a:ext>
            </a:extLst>
          </p:cNvPr>
          <p:cNvSpPr/>
          <p:nvPr/>
        </p:nvSpPr>
        <p:spPr>
          <a:xfrm>
            <a:off x="8829755" y="3707612"/>
            <a:ext cx="849085" cy="5613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028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4AAA14-E578-7074-AFC6-68DC8A6B2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0227"/>
            <a:ext cx="4787300" cy="29703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0C544F-FAB9-2910-80C5-7A2321AE1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257" y="2038201"/>
            <a:ext cx="5800529" cy="12961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6CB670-635C-4FCF-B85D-78590F38252D}"/>
              </a:ext>
            </a:extLst>
          </p:cNvPr>
          <p:cNvSpPr txBox="1"/>
          <p:nvPr/>
        </p:nvSpPr>
        <p:spPr>
          <a:xfrm>
            <a:off x="1457165" y="1753121"/>
            <a:ext cx="3801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Decoupled Dynamics Module(DDM)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D08C5-FD25-BB02-84E8-205C0FFBD84B}"/>
              </a:ext>
            </a:extLst>
          </p:cNvPr>
          <p:cNvSpPr txBox="1"/>
          <p:nvPr/>
        </p:nvSpPr>
        <p:spPr>
          <a:xfrm>
            <a:off x="7789937" y="1753121"/>
            <a:ext cx="380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Deep Signature Transform(DST)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14A80C-0FF8-5163-67BE-EE97E8110147}"/>
                  </a:ext>
                </a:extLst>
              </p:cNvPr>
              <p:cNvSpPr txBox="1"/>
              <p:nvPr/>
            </p:nvSpPr>
            <p:spPr>
              <a:xfrm>
                <a:off x="1457165" y="4967149"/>
                <a:ext cx="4729879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500" i="1">
                            <a:latin typeface="Cambria Math" panose="02040503050406030204" pitchFamily="18" charset="0"/>
                          </a:rPr>
                          <m:t>enc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3-layer feed-forward neural network(ELU)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𝐿𝑆𝑇𝑀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two linear layers, LSTM Cell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5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3-layer feed-forward neural network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14A80C-0FF8-5163-67BE-EE97E8110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65" y="4967149"/>
                <a:ext cx="4729879" cy="784830"/>
              </a:xfrm>
              <a:prstGeom prst="rect">
                <a:avLst/>
              </a:prstGeom>
              <a:blipFill>
                <a:blip r:embed="rId4"/>
                <a:stretch>
                  <a:fillRect t="-1550" b="-6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B339AB54-5D77-5F92-4610-BFC6D0F391EE}"/>
              </a:ext>
            </a:extLst>
          </p:cNvPr>
          <p:cNvSpPr/>
          <p:nvPr/>
        </p:nvSpPr>
        <p:spPr>
          <a:xfrm>
            <a:off x="2517570" y="2113547"/>
            <a:ext cx="1294410" cy="283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E20D87-CDC2-7CA2-1565-AA95E5E26C50}"/>
                  </a:ext>
                </a:extLst>
              </p:cNvPr>
              <p:cNvSpPr txBox="1"/>
              <p:nvPr/>
            </p:nvSpPr>
            <p:spPr>
              <a:xfrm>
                <a:off x="6876272" y="3976960"/>
                <a:ext cx="47298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50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sz="1500" b="0" i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pointwise encoder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500" i="1">
                            <a:latin typeface="Cambria Math" panose="02040503050406030204" pitchFamily="18" charset="0"/>
                          </a:rPr>
                          <m:t>enc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3-layer feed-forward neural network(ELU)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𝐿𝑆𝑇𝑀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two linear layers, LSTM Cell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5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3-layer feed-forward neural network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E20D87-CDC2-7CA2-1565-AA95E5E26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72" y="3976960"/>
                <a:ext cx="4729879" cy="1015663"/>
              </a:xfrm>
              <a:prstGeom prst="rect">
                <a:avLst/>
              </a:prstGeom>
              <a:blipFill>
                <a:blip r:embed="rId5"/>
                <a:stretch>
                  <a:fillRect t="-1198" b="-5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E582E5-2714-9FA5-4C10-2AE9125C15F1}"/>
              </a:ext>
            </a:extLst>
          </p:cNvPr>
          <p:cNvSpPr/>
          <p:nvPr/>
        </p:nvSpPr>
        <p:spPr>
          <a:xfrm>
            <a:off x="6319258" y="2038201"/>
            <a:ext cx="3044436" cy="14412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009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CB670-635C-4FCF-B85D-78590F38252D}"/>
              </a:ext>
            </a:extLst>
          </p:cNvPr>
          <p:cNvSpPr txBox="1"/>
          <p:nvPr/>
        </p:nvSpPr>
        <p:spPr>
          <a:xfrm>
            <a:off x="2788201" y="1841998"/>
            <a:ext cx="1178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ODE RNN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D08C5-FD25-BB02-84E8-205C0FFBD84B}"/>
              </a:ext>
            </a:extLst>
          </p:cNvPr>
          <p:cNvSpPr txBox="1"/>
          <p:nvPr/>
        </p:nvSpPr>
        <p:spPr>
          <a:xfrm>
            <a:off x="6787867" y="1841998"/>
            <a:ext cx="473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Neural Control Differential Equations(CDEs)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E0F7F9-8CA9-A791-9CB5-B8EA2AE3B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84" y="2505068"/>
            <a:ext cx="4362482" cy="9239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CB3C99-1FF8-CB01-8DB4-5B1531F77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734" y="2505068"/>
            <a:ext cx="4177629" cy="12354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CF1C53-FCE8-80D1-7F64-DB46E1FD7813}"/>
                  </a:ext>
                </a:extLst>
              </p:cNvPr>
              <p:cNvSpPr txBox="1"/>
              <p:nvPr/>
            </p:nvSpPr>
            <p:spPr>
              <a:xfrm>
                <a:off x="1420621" y="3982449"/>
                <a:ext cx="4729879" cy="561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𝑂𝐷𝐸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𝑅𝑁𝑁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ODE_RNN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5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3-layer feed-forward neural network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CF1C53-FCE8-80D1-7F64-DB46E1FD7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621" y="3982449"/>
                <a:ext cx="4729879" cy="561692"/>
              </a:xfrm>
              <a:prstGeom prst="rect">
                <a:avLst/>
              </a:prstGeom>
              <a:blipFill>
                <a:blip r:embed="rId4"/>
                <a:stretch>
                  <a:fillRect t="-2174" b="-11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DDC027-50A8-859C-B28C-EFC9C443F542}"/>
                  </a:ext>
                </a:extLst>
              </p:cNvPr>
              <p:cNvSpPr txBox="1"/>
              <p:nvPr/>
            </p:nvSpPr>
            <p:spPr>
              <a:xfrm>
                <a:off x="6517784" y="3870880"/>
                <a:ext cx="4729879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0" i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Cubic Spine : observation, action</a:t>
                </a:r>
                <a:r>
                  <a:rPr lang="ko-KR" altLang="en-US" sz="1500" b="0" i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간의 </a:t>
                </a:r>
                <a:r>
                  <a:rPr lang="en-US" altLang="ko-KR" sz="1500" b="0" i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coefficient</a:t>
                </a:r>
                <a:r>
                  <a:rPr lang="ko-KR" altLang="en-US" sz="1500" i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endParaRPr lang="en-US" altLang="ko-KR" sz="1500" b="0" i="1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50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sz="1500" b="0" i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MLP(100 layer)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5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sz="1500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3-layer feed-forward neural network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DDC027-50A8-859C-B28C-EFC9C443F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784" y="3870880"/>
                <a:ext cx="4729879" cy="784830"/>
              </a:xfrm>
              <a:prstGeom prst="rect">
                <a:avLst/>
              </a:prstGeom>
              <a:blipFill>
                <a:blip r:embed="rId5"/>
                <a:stretch>
                  <a:fillRect l="-515" t="-1550" b="-6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BE95C2ED-36BA-32D4-18E8-C1D46DAF67B6}"/>
              </a:ext>
            </a:extLst>
          </p:cNvPr>
          <p:cNvSpPr/>
          <p:nvPr/>
        </p:nvSpPr>
        <p:spPr>
          <a:xfrm>
            <a:off x="2084120" y="2612572"/>
            <a:ext cx="872835" cy="7659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070A47-730C-65FA-5571-F09B830B3FAB}"/>
              </a:ext>
            </a:extLst>
          </p:cNvPr>
          <p:cNvSpPr/>
          <p:nvPr/>
        </p:nvSpPr>
        <p:spPr>
          <a:xfrm>
            <a:off x="6517784" y="2604141"/>
            <a:ext cx="2537151" cy="7659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829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 – ODE Network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10</a:t>
            </a:fld>
            <a:endParaRPr kumimoji="1" lang="ko-Kore-KR" alt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9670456-E788-220A-8DA4-A9FBAC928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1" y="2397423"/>
            <a:ext cx="3637736" cy="122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F03D93-0FF8-54C4-9D10-5CA1C172D714}"/>
              </a:ext>
            </a:extLst>
          </p:cNvPr>
          <p:cNvSpPr txBox="1"/>
          <p:nvPr/>
        </p:nvSpPr>
        <p:spPr>
          <a:xfrm>
            <a:off x="1902250" y="1688406"/>
            <a:ext cx="1178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RNN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구조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E6D2246-038C-2398-2220-8427384FC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700" y="2112471"/>
            <a:ext cx="2721346" cy="56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EE17B63-1BB2-9AD4-0100-0421C0590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382" y="2841517"/>
            <a:ext cx="2617549" cy="61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9A9561A2-0CA2-A70E-1D96-D1AD6CE7D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791" y="5052296"/>
            <a:ext cx="4333256" cy="5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B55F2A-846B-7932-CE8B-F7CF3250575B}"/>
              </a:ext>
            </a:extLst>
          </p:cNvPr>
          <p:cNvSpPr txBox="1"/>
          <p:nvPr/>
        </p:nvSpPr>
        <p:spPr>
          <a:xfrm>
            <a:off x="9507729" y="2348844"/>
            <a:ext cx="220134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g1,g2 : activation function</a:t>
            </a:r>
          </a:p>
          <a:p>
            <a:r>
              <a:rPr lang="en-US" altLang="ko-KR" sz="13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x_t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input </a:t>
            </a:r>
          </a:p>
          <a:p>
            <a:r>
              <a:rPr lang="en-US" altLang="ko-KR" sz="13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a_t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hidden state</a:t>
            </a:r>
          </a:p>
          <a:p>
            <a:r>
              <a:rPr lang="en-US" altLang="ko-KR" sz="13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y_t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output</a:t>
            </a:r>
            <a:endParaRPr lang="ko-KR" altLang="en-US" sz="13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507C64D-A85C-F393-B972-63FFBA7081AD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5783762" y="3371540"/>
            <a:ext cx="565649" cy="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7F21F0-1285-34F8-1778-26EDF512D4B0}"/>
                  </a:ext>
                </a:extLst>
              </p:cNvPr>
              <p:cNvSpPr txBox="1"/>
              <p:nvPr/>
            </p:nvSpPr>
            <p:spPr>
              <a:xfrm>
                <a:off x="5337448" y="3225346"/>
                <a:ext cx="44631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3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1300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7F21F0-1285-34F8-1778-26EDF512D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448" y="3225346"/>
                <a:ext cx="446314" cy="29238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5B8C4F7-2CD9-2067-A4B6-A9C0262438D2}"/>
              </a:ext>
            </a:extLst>
          </p:cNvPr>
          <p:cNvCxnSpPr>
            <a:cxnSpLocks/>
          </p:cNvCxnSpPr>
          <p:nvPr/>
        </p:nvCxnSpPr>
        <p:spPr>
          <a:xfrm>
            <a:off x="7574478" y="3613404"/>
            <a:ext cx="0" cy="1326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EDFE00-0A3C-9880-4A12-FEB72E9F7F46}"/>
              </a:ext>
            </a:extLst>
          </p:cNvPr>
          <p:cNvSpPr txBox="1"/>
          <p:nvPr/>
        </p:nvSpPr>
        <p:spPr>
          <a:xfrm>
            <a:off x="1863899" y="3652275"/>
            <a:ext cx="2446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Ordinary Differential Equations</a:t>
            </a:r>
          </a:p>
          <a:p>
            <a:pPr algn="ctr"/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미분방정식</a:t>
            </a:r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1C696A6-B0B4-B360-93C2-04BB28CFF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018" y="4557796"/>
            <a:ext cx="4122574" cy="122359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C589101-DCEB-F2FC-6ABE-EAA86E3C450B}"/>
              </a:ext>
            </a:extLst>
          </p:cNvPr>
          <p:cNvSpPr txBox="1"/>
          <p:nvPr/>
        </p:nvSpPr>
        <p:spPr>
          <a:xfrm>
            <a:off x="7837714" y="4126885"/>
            <a:ext cx="1555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Euler methods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EA62A4-9084-FAF5-FE82-B6C7F98C40FC}"/>
              </a:ext>
            </a:extLst>
          </p:cNvPr>
          <p:cNvSpPr/>
          <p:nvPr/>
        </p:nvSpPr>
        <p:spPr>
          <a:xfrm>
            <a:off x="1598188" y="4585071"/>
            <a:ext cx="2362233" cy="296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AA7E5E0-2D64-6DBB-0C9C-54A6C25CBFB9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960421" y="3455894"/>
            <a:ext cx="2535382" cy="12773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1128687-3D68-9A5D-868D-E3F43B2F495A}"/>
              </a:ext>
            </a:extLst>
          </p:cNvPr>
          <p:cNvCxnSpPr>
            <a:stCxn id="2052" idx="3"/>
            <a:endCxn id="2054" idx="1"/>
          </p:cNvCxnSpPr>
          <p:nvPr/>
        </p:nvCxnSpPr>
        <p:spPr>
          <a:xfrm flipV="1">
            <a:off x="4310197" y="2395945"/>
            <a:ext cx="2054503" cy="6116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2FA1296-834B-95FA-29B0-AE4E801144D5}"/>
              </a:ext>
            </a:extLst>
          </p:cNvPr>
          <p:cNvCxnSpPr>
            <a:cxnSpLocks/>
          </p:cNvCxnSpPr>
          <p:nvPr/>
        </p:nvCxnSpPr>
        <p:spPr>
          <a:xfrm>
            <a:off x="7574478" y="2679418"/>
            <a:ext cx="0" cy="32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67B880-4E2D-85BD-B671-7207A7824D0D}"/>
              </a:ext>
            </a:extLst>
          </p:cNvPr>
          <p:cNvSpPr txBox="1"/>
          <p:nvPr/>
        </p:nvSpPr>
        <p:spPr>
          <a:xfrm>
            <a:off x="5391406" y="3157659"/>
            <a:ext cx="13853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동일 가정</a:t>
            </a:r>
            <a:r>
              <a:rPr lang="en-US" altLang="ko-KR" sz="7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(Autoregressive)</a:t>
            </a:r>
            <a:endParaRPr lang="ko-KR" altLang="en-US" sz="7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579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 – ODE Network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11</a:t>
            </a:fld>
            <a:endParaRPr kumimoji="1" lang="ko-Kore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B174C5-E322-F3B2-447D-68CE4F9D1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90567"/>
            <a:ext cx="7162523" cy="197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3AC03C-FF45-DECD-5B98-5E5EFC42A3D5}"/>
              </a:ext>
            </a:extLst>
          </p:cNvPr>
          <p:cNvSpPr txBox="1"/>
          <p:nvPr/>
        </p:nvSpPr>
        <p:spPr>
          <a:xfrm>
            <a:off x="892700" y="1900052"/>
            <a:ext cx="9278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Q :</a:t>
            </a:r>
            <a:r>
              <a:rPr lang="ko-KR" altLang="en-US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위와 같이 </a:t>
            </a:r>
            <a:r>
              <a:rPr lang="en-US" altLang="ko-KR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ODE Network</a:t>
            </a:r>
            <a:r>
              <a:rPr lang="ko-KR" altLang="en-US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를 만들면</a:t>
            </a:r>
            <a:r>
              <a:rPr lang="en-US" altLang="ko-KR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, inference</a:t>
            </a:r>
            <a:r>
              <a:rPr lang="ko-KR" altLang="en-US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는 미분방정식을 풀 수 있다</a:t>
            </a:r>
            <a:r>
              <a:rPr lang="en-US" altLang="ko-KR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그러면 </a:t>
            </a:r>
            <a:r>
              <a:rPr lang="en-US" altLang="ko-KR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Backprop, </a:t>
            </a:r>
            <a:r>
              <a:rPr lang="ko-KR" altLang="en-US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즉 모델의 </a:t>
            </a:r>
            <a:r>
              <a:rPr lang="en-US" altLang="ko-KR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parameter update</a:t>
            </a:r>
            <a:r>
              <a:rPr lang="ko-KR" altLang="en-US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는 어떻게 해야 하는 걸까요</a:t>
            </a:r>
            <a:r>
              <a:rPr lang="en-US" altLang="ko-KR" i="0" dirty="0"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?</a:t>
            </a:r>
          </a:p>
          <a:p>
            <a:endParaRPr lang="en-US" altLang="ko-KR" i="0" dirty="0"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: Loss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계산하고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backprop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하기 위해서 역순으로 새로운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ODE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계산하고 이를 기존의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ODE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값과 비교하고 업데이트를 진행해 나감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23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Methods – ODE Network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12</a:t>
            </a:fld>
            <a:endParaRPr kumimoji="1" lang="ko-Kore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F88F96A-6EB2-E7FA-6685-348DB2741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700" y="2096903"/>
            <a:ext cx="7309262" cy="241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633A2B2-1AB5-6DC7-1BBA-88CB5A9E8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184" y="2225693"/>
            <a:ext cx="2559619" cy="215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319BFA-0A5A-2816-A15B-7DD25443C5C1}"/>
              </a:ext>
            </a:extLst>
          </p:cNvPr>
          <p:cNvSpPr txBox="1"/>
          <p:nvPr/>
        </p:nvSpPr>
        <p:spPr>
          <a:xfrm>
            <a:off x="1330036" y="4928260"/>
            <a:ext cx="9939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ODE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초기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Timestamp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에서의 몇 개의 값을 바탕으로 이후의 값을 예측하는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task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가 가능함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기존의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RNN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 비해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RMSE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값이 더 작음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256DF-B72B-B1A5-150E-C645EE1A69A4}"/>
              </a:ext>
            </a:extLst>
          </p:cNvPr>
          <p:cNvSpPr txBox="1"/>
          <p:nvPr/>
        </p:nvSpPr>
        <p:spPr>
          <a:xfrm>
            <a:off x="1193470" y="1880678"/>
            <a:ext cx="9280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Q :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해당 모델의 구조를 통해 무엇이 가능한지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?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016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Reinforcement Learning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BEE41C-7823-62FA-7228-3ACA28DE0314}"/>
              </a:ext>
            </a:extLst>
          </p:cNvPr>
          <p:cNvSpPr txBox="1"/>
          <p:nvPr/>
        </p:nvSpPr>
        <p:spPr>
          <a:xfrm>
            <a:off x="975828" y="1968041"/>
            <a:ext cx="4308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BCQ(Batch Constrained Q-Learning)</a:t>
            </a: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 -RL Algorithm</a:t>
            </a: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WIS(weighted importance sampling)</a:t>
            </a: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- Testing subset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F89845-60B8-7812-C42E-5D2979251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06" y="1417963"/>
            <a:ext cx="4869507" cy="43982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AAB534-52D3-31F3-AE81-1537A7A87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57781"/>
            <a:ext cx="4869506" cy="21965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63639D-0783-DCDD-C189-2AF9E1C7C940}"/>
              </a:ext>
            </a:extLst>
          </p:cNvPr>
          <p:cNvSpPr txBox="1"/>
          <p:nvPr/>
        </p:nvSpPr>
        <p:spPr>
          <a:xfrm>
            <a:off x="2107870" y="5816227"/>
            <a:ext cx="827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Highest capacity representation may not be the most informative!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F60CE5-6795-E37D-3A90-5EBFD4F6AB00}"/>
                  </a:ext>
                </a:extLst>
              </p:cNvPr>
              <p:cNvSpPr txBox="1"/>
              <p:nvPr/>
            </p:nvSpPr>
            <p:spPr>
              <a:xfrm>
                <a:off x="1861129" y="5322135"/>
                <a:ext cx="3756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O : Observation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Demopraphics</m:t>
                    </m:r>
                  </m:oMath>
                </a14:m>
                <a:endParaRPr lang="ko-KR" altLang="en-US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F60CE5-6795-E37D-3A90-5EBFD4F6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129" y="5322135"/>
                <a:ext cx="3756946" cy="369332"/>
              </a:xfrm>
              <a:prstGeom prst="rect">
                <a:avLst/>
              </a:prstGeom>
              <a:blipFill>
                <a:blip r:embed="rId4"/>
                <a:stretch>
                  <a:fillRect l="-1297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714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FB9A10-2DB8-6FD5-0FD8-B8FFBB95B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063" y="2253632"/>
            <a:ext cx="8306790" cy="35239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E5415B-1EF5-BAB7-6EF1-618786586618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Results – latent</a:t>
            </a:r>
            <a:r>
              <a:rPr kumimoji="1" lang="ko-KR" altLang="en-US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</a:t>
            </a: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PCA</a:t>
            </a:r>
            <a:endParaRPr kumimoji="1" lang="ko-KR" altLang="en-US" sz="2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302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Paper Review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DE5415B-1EF5-BAB7-6EF1-618786586618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Results – latent</a:t>
            </a:r>
            <a:r>
              <a:rPr kumimoji="1" lang="ko-KR" altLang="en-US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</a:t>
            </a: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PCA</a:t>
            </a:r>
            <a:endParaRPr kumimoji="1" lang="ko-KR" altLang="en-US" sz="2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6B6A295-B340-E75F-B3A8-A06CBD115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1936750"/>
            <a:ext cx="102965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3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Conclusion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206FC-3C69-6CA2-3AB4-1D8B59EC5C00}"/>
              </a:ext>
            </a:extLst>
          </p:cNvPr>
          <p:cNvSpPr txBox="1"/>
          <p:nvPr/>
        </p:nvSpPr>
        <p:spPr>
          <a:xfrm>
            <a:off x="838200" y="1603169"/>
            <a:ext cx="104523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representation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기법을 통하여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health care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데이터에 적용하고 이를 바탕으로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RL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모델을 도출함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Limitation</a:t>
            </a:r>
          </a:p>
          <a:p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구체적인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RL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 따른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Policy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해석이 부족함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Action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및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reward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정의가 부족함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최종적으로는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state representation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다양한 기법의 소개라는 한계점을 지님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연구 활용방안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 연구중인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PPMI(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파킨슨병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Multimodal dataset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이고 특유의 라벨 적용이 어려움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해당 논문에서 제안하는 다양한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state representation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기법을 적용하는 중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이를 이용하여 향후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RL(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강화학습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에서 사용할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STATE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Define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할 예정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더 나아가 이를 이용한 구체적인 투약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policy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수립 및 평가를 진행하고 임상적 의미 파악 예정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6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2849598" y="375911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3698209" y="3053170"/>
            <a:ext cx="479558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THANK YOU</a:t>
            </a:r>
            <a:endParaRPr kumimoji="1" lang="ko-KR" altLang="en-US" sz="5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821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11204</TotalTime>
  <Words>724</Words>
  <Application>Microsoft Office PowerPoint</Application>
  <PresentationFormat>와이드스크린</PresentationFormat>
  <Paragraphs>138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Noto Sans KR</vt:lpstr>
      <vt:lpstr>Noto Sans KR Medium</vt:lpstr>
      <vt:lpstr>Arial</vt:lpstr>
      <vt:lpstr>Calibri</vt:lpstr>
      <vt:lpstr>Cambria Math</vt:lpstr>
      <vt:lpstr>Office 테마</vt:lpstr>
      <vt:lpstr>An Empirical Study of Representation Learning for Reinforcement Learning in Healthcare</vt:lpstr>
      <vt:lpstr>1. Introduction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2. Paper Review </vt:lpstr>
      <vt:lpstr>3. 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Review :  Toward a Fully Automated Artificial Pancreas System Using a Bioinspired Reinforcement Learning Design : In Silico Validation</dc:title>
  <dc:creator>박찬영[ 대학원석사과정재학 / 산업경영공학과 ]</dc:creator>
  <cp:lastModifiedBy>김홍범[ 대학원석사과정재학 / 산업경영공학과 ]</cp:lastModifiedBy>
  <cp:revision>47</cp:revision>
  <dcterms:created xsi:type="dcterms:W3CDTF">2022-12-08T07:49:53Z</dcterms:created>
  <dcterms:modified xsi:type="dcterms:W3CDTF">2023-09-04T01:10:09Z</dcterms:modified>
</cp:coreProperties>
</file>