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46" r:id="rId2"/>
    <p:sldId id="375" r:id="rId3"/>
    <p:sldId id="449" r:id="rId4"/>
    <p:sldId id="450" r:id="rId5"/>
    <p:sldId id="452" r:id="rId6"/>
    <p:sldId id="453" r:id="rId7"/>
    <p:sldId id="454" r:id="rId8"/>
    <p:sldId id="451" r:id="rId9"/>
    <p:sldId id="455" r:id="rId10"/>
    <p:sldId id="456" r:id="rId11"/>
    <p:sldId id="457" r:id="rId12"/>
    <p:sldId id="459" r:id="rId13"/>
    <p:sldId id="460" r:id="rId14"/>
    <p:sldId id="418" r:id="rId1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6DD"/>
    <a:srgbClr val="479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1520"/>
  </p:normalViewPr>
  <p:slideViewPr>
    <p:cSldViewPr snapToGrid="0">
      <p:cViewPr varScale="1">
        <p:scale>
          <a:sx n="148" d="100"/>
          <a:sy n="148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6D9BD-2644-764D-AC55-9028C546D2ED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5B8BB-7660-B84C-9CB5-ECD67EA308D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1592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6FD4-6F0F-074A-A347-2C6D366F2D58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035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17864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21587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37926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295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1010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38612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2557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88713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5B8BB-7660-B84C-9CB5-ECD67EA308DE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8852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3B2F2E-4010-5354-F5B2-B29D01D4B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401-B77C-98A5-6EB2-E59AE7F07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4FECCE-A5C3-8226-D909-F0B9E327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8E1CB-3399-AFB7-7277-52352BE8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8C7F2B-AB1D-71E9-9486-558BA0F6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749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1680-5B14-B61A-70EF-AC85827D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9904A3-7CBD-9348-56D7-07048158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35814-90F5-D6D8-AE04-D6FD3F91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485A-9FFC-05E0-1F6F-377CD409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9A904-41FC-DFC3-B43E-46D65019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9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E534D-416E-946E-903E-7BBB242B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3E3E8B-5E06-1AB1-274D-1BEBCE9F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F3D40-669B-F093-20AE-D4ABB7F8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F92659-6B2A-50DC-C940-A1F22685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D8163C-1555-9BAE-C514-BBD32250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822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6733B-460C-B2E7-02ED-A20E68C5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0646E-6FD2-2E42-8BAB-4827930C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C3004F-7B83-26EB-31B6-4B892EFC4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1E533-7092-97E9-3275-0398B31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F2FA06-2CEF-CFC9-9691-597334BE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0C1354-196A-2DA5-E2E6-98C61C69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1978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474F9-FDF5-F9C3-D1C9-1F1433A2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3647C6-33F9-D69F-7FA4-829F9027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DECF2D-369A-96B1-5977-1EA09EA8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EFCBA-237F-3BC0-B1BF-58A9843CA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40D8C8-D3AC-7C75-4D5A-DFCAB69C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25787C-0123-32E6-7032-B830ED32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2045C7-CDD9-6C5F-073B-ED6AC81B9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C2B8D11-65CC-5222-C88A-9BCF396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5225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F9CC-BCF6-82EE-38D0-791279FB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B49994-B667-7CCE-A8BA-BB6F061B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29155-6038-CD9A-620B-0C355068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B14145-F0A3-2C38-3383-B5E19F89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28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9DA578-5E85-0C0D-D833-586E0E5E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63FFC2-4C4E-8DC4-ACC9-A61C1259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A0920-51FE-A23A-B0C2-074C538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88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6049-5938-8CDB-1087-8544304E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557DB-33AC-D8F5-ED5D-4A73DBFE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731EEE-86E8-1CAD-84A9-5D0108C8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626493-6EE9-5919-F2D9-711A6DF4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7C275E-4D2B-0870-1510-B013451B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123A0-0227-255B-929E-C79AC53A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35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0C9BF-515B-315A-A3F1-42AB23F5B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D1114-9997-D134-CF5C-7507E7497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00470-F1B2-EE31-0281-C7E6C7B81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8FE232-FD6F-B3AE-485C-72678F5D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70D6A8-CD80-B64A-FC92-F3C96F90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5A7781-3B8C-1EA2-3925-A4FB19F6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8825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DCDB4-AC7A-5A09-DBE7-A9751B28B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5E3A7F-0B8F-389A-2A20-C26098BB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98B4C-248F-CB02-E64D-A49957D2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CC4D8C-8700-7C9F-2A22-6243FC26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9B4AA-DE14-79AC-DE5B-DE18FB7B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6367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6D9137-FE15-031C-F459-AAD4C9463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574E8A-933E-6989-3454-F1CFF998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ADD073-25BB-E8AE-F288-106059FB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CE695-34C9-0C4C-935F-C9CE81A53A21}" type="datetimeFigureOut">
              <a:rPr kumimoji="1" lang="ko-Kore-KR" altLang="en-US" smtClean="0"/>
              <a:t>01/26/2024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AC884-01DA-545C-EE55-15F2D65B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41523-8935-2338-84B9-D289DEE7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5DB3-6CBB-354F-BA70-189B252AE39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5249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ADEA76-BAD6-14A4-3F43-7A44D7B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9457C-2F9F-B8BA-FD22-8CB32B9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4117A-C927-9246-39E2-6ECA1C8B2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A81CE695-34C9-0C4C-935F-C9CE81A53A21}" type="datetimeFigureOut">
              <a:rPr kumimoji="1" lang="ko-Kore-KR" altLang="en-US" smtClean="0"/>
              <a:pPr/>
              <a:t>01/26/2024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1BD33F-54C9-E685-FD61-A68A2E7B5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59F7C-B18A-A322-E08D-E8CF63D20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defRPr>
            </a:lvl1pPr>
          </a:lstStyle>
          <a:p>
            <a:fld id="{94845DB3-6CBB-354F-BA70-189B252AE394}" type="slidenum">
              <a:rPr kumimoji="1" lang="ko-Kore-KR" altLang="en-US" smtClean="0"/>
              <a:pPr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959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oto Sans KR" panose="020B0500000000000000" pitchFamily="34" charset="-127"/>
          <a:ea typeface="Noto Sans KR" panose="020B0500000000000000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33863-B1E8-B34A-AB3A-78498D071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484" y="1309008"/>
            <a:ext cx="11390464" cy="2387600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Noto Sans KR" panose="020B0500000000000000" pitchFamily="34" charset="-128"/>
                <a:ea typeface="Noto Sans KR" panose="020B0500000000000000" pitchFamily="34" charset="-128"/>
              </a:rPr>
              <a:t>Introduction to Inverse Reinforcement Learning</a:t>
            </a:r>
            <a:endParaRPr lang="ko-KR" altLang="en-US" sz="3600" b="1" dirty="0">
              <a:latin typeface="Noto Sans KR" panose="020B0500000000000000" pitchFamily="34" charset="-128"/>
              <a:ea typeface="Noto Sans KR" panose="020B0500000000000000" pitchFamily="34" charset="-128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7828B390-F77A-27D4-9AB6-B267151A199C}"/>
              </a:ext>
            </a:extLst>
          </p:cNvPr>
          <p:cNvSpPr txBox="1">
            <a:spLocks/>
          </p:cNvSpPr>
          <p:nvPr/>
        </p:nvSpPr>
        <p:spPr>
          <a:xfrm>
            <a:off x="551332" y="4904233"/>
            <a:ext cx="1139875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고려대학교 </a:t>
            </a:r>
            <a:r>
              <a:rPr lang="ko-KR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산업경영공학과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데이터 </a:t>
            </a:r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애널리틱스</a:t>
            </a:r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 및 헬스케어 시스템 연구실</a:t>
            </a:r>
            <a:r>
              <a:rPr lang="en-US" altLang="ko-KR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(DAHS)</a:t>
            </a:r>
          </a:p>
          <a:p>
            <a:pPr algn="r"/>
            <a:r>
              <a:rPr lang="ko-KR" altLang="en-US" sz="1800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석사과정</a:t>
            </a:r>
            <a:endParaRPr lang="en-US" altLang="ko-KR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  <a:p>
            <a:pPr algn="r"/>
            <a:r>
              <a:rPr lang="ko-KR" altLang="en-US" sz="1800" dirty="0" err="1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김홍범</a:t>
            </a:r>
            <a:endParaRPr kumimoji="1" lang="ko-KR" altLang="en-US" sz="1800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A37C8C-A9D8-77B4-6C0D-0338708DD9B6}"/>
              </a:ext>
            </a:extLst>
          </p:cNvPr>
          <p:cNvSpPr/>
          <p:nvPr/>
        </p:nvSpPr>
        <p:spPr>
          <a:xfrm>
            <a:off x="551332" y="3748434"/>
            <a:ext cx="11264616" cy="99077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912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What is Inverse Reinforcement Learning?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40D862-B1DE-9259-75CD-B25CA435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6580"/>
            <a:ext cx="4773386" cy="264942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1B18CFD-0269-1143-C55E-AB3B60732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511317"/>
              </p:ext>
            </p:extLst>
          </p:nvPr>
        </p:nvGraphicFramePr>
        <p:xfrm>
          <a:off x="5931724" y="2366580"/>
          <a:ext cx="5795817" cy="33613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31939">
                  <a:extLst>
                    <a:ext uri="{9D8B030D-6E8A-4147-A177-3AD203B41FA5}">
                      <a16:colId xmlns:a16="http://schemas.microsoft.com/office/drawing/2014/main" val="800406651"/>
                    </a:ext>
                  </a:extLst>
                </a:gridCol>
                <a:gridCol w="1931939">
                  <a:extLst>
                    <a:ext uri="{9D8B030D-6E8A-4147-A177-3AD203B41FA5}">
                      <a16:colId xmlns:a16="http://schemas.microsoft.com/office/drawing/2014/main" val="550281202"/>
                    </a:ext>
                  </a:extLst>
                </a:gridCol>
                <a:gridCol w="1931939">
                  <a:extLst>
                    <a:ext uri="{9D8B030D-6E8A-4147-A177-3AD203B41FA5}">
                      <a16:colId xmlns:a16="http://schemas.microsoft.com/office/drawing/2014/main" val="4205279468"/>
                    </a:ext>
                  </a:extLst>
                </a:gridCol>
              </a:tblGrid>
              <a:tr h="5266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Type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RL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IL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285577"/>
                  </a:ext>
                </a:extLst>
              </a:tr>
              <a:tr h="572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Learn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Learn through rewards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Learn through demonstrations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832465"/>
                  </a:ext>
                </a:extLst>
              </a:tr>
              <a:tr h="5720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Policy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Trial and error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No rewards necessary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12515"/>
                  </a:ext>
                </a:extLst>
              </a:tr>
              <a:tr h="5266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Speed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Super speed simulation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Real time interaction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85412"/>
                  </a:ext>
                </a:extLst>
              </a:tr>
              <a:tr h="5266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Style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Agent becomes “Optimal” at task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Agent becomes “Human - like” at task</a:t>
                      </a:r>
                      <a:endParaRPr lang="ko-KR" altLang="en-US" dirty="0"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2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04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1. Introduction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What is Inverse Reinforcement Learning?</a:t>
            </a:r>
            <a:endParaRPr kumimoji="1"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E18DC1-47BC-C216-6110-6C7E059C2B57}"/>
              </a:ext>
            </a:extLst>
          </p:cNvPr>
          <p:cNvSpPr txBox="1"/>
          <p:nvPr/>
        </p:nvSpPr>
        <p:spPr>
          <a:xfrm>
            <a:off x="892699" y="1841998"/>
            <a:ext cx="446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IL(Imitation Learning)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B7210A4-F4E1-9048-4C3F-C9AC4973C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00" y="2223456"/>
            <a:ext cx="6687911" cy="1414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E44564-5FBE-6D81-07AC-1F39818FB0BC}"/>
              </a:ext>
            </a:extLst>
          </p:cNvPr>
          <p:cNvSpPr txBox="1"/>
          <p:nvPr/>
        </p:nvSpPr>
        <p:spPr>
          <a:xfrm>
            <a:off x="838200" y="4264717"/>
            <a:ext cx="905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IRL(Inverse Reinforcement Learning) = AL(Apprenticeship Learning)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0E3055-C662-F374-91F9-1F60E22D3C28}"/>
              </a:ext>
            </a:extLst>
          </p:cNvPr>
          <p:cNvSpPr txBox="1"/>
          <p:nvPr/>
        </p:nvSpPr>
        <p:spPr>
          <a:xfrm>
            <a:off x="838200" y="3752540"/>
            <a:ext cx="786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Dis - Advantage : Overfitting, Sufficient Dataset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AC53DFE-F1F7-8A23-2A0B-0FD38DA21BF2}"/>
              </a:ext>
            </a:extLst>
          </p:cNvPr>
          <p:cNvCxnSpPr/>
          <p:nvPr/>
        </p:nvCxnSpPr>
        <p:spPr>
          <a:xfrm>
            <a:off x="7718961" y="2956956"/>
            <a:ext cx="9856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1A7721-EDE5-BA1B-887C-A5A79D8F459D}"/>
              </a:ext>
            </a:extLst>
          </p:cNvPr>
          <p:cNvSpPr txBox="1"/>
          <p:nvPr/>
        </p:nvSpPr>
        <p:spPr>
          <a:xfrm>
            <a:off x="8882743" y="2571008"/>
            <a:ext cx="27432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BC(Behavior Cloning)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전문가의 행동을 그대로 따라 학습함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49EAD77-276D-CF3C-5EF7-6010420CB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99" y="4732261"/>
            <a:ext cx="6525699" cy="1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8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3B56B0-E66C-8B26-CEA9-D44E2C236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00" y="1829872"/>
            <a:ext cx="3586803" cy="4286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ED99F2-104A-079E-CBD4-04AB5FA342A9}"/>
              </a:ext>
            </a:extLst>
          </p:cNvPr>
          <p:cNvSpPr txBox="1"/>
          <p:nvPr/>
        </p:nvSpPr>
        <p:spPr>
          <a:xfrm>
            <a:off x="4968350" y="2756781"/>
            <a:ext cx="63309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0" u="none" strike="noStrike" dirty="0">
                <a:effectLst/>
              </a:rPr>
              <a:t>ICML '04: Proceedings of the twenty-first international conference on Machine learning, </a:t>
            </a:r>
            <a:r>
              <a:rPr lang="en-US" altLang="ko-KR" b="1" i="0" dirty="0">
                <a:effectLst/>
              </a:rPr>
              <a:t>July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nl-NL" altLang="ko-KR" b="1" dirty="0"/>
              <a:t>Pieter Abbeel, Andrew Y. Ng</a:t>
            </a:r>
          </a:p>
          <a:p>
            <a:endParaRPr lang="en-US" altLang="ko-KR" b="1" dirty="0"/>
          </a:p>
          <a:p>
            <a:r>
              <a:rPr lang="en-US" altLang="ko-KR" b="1" dirty="0"/>
              <a:t>Citation : 3890</a:t>
            </a:r>
          </a:p>
          <a:p>
            <a:endParaRPr lang="ko-KR" altLang="en-US" b="1" dirty="0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A9658072-49E2-03C2-E0C0-C9812BC5DE51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</a:t>
            </a:r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ALIRL(Apprenticeship Learning via IRL)</a:t>
            </a:r>
            <a:endParaRPr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A8FFAB-1385-4C25-673D-899729C317F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</a:t>
            </a:r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ALIRL(Apprenticeship Learning via IRL)</a:t>
            </a:r>
            <a:endParaRPr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ED8AD6-11B0-011A-6EF6-1D5ED71692F3}"/>
              </a:ext>
            </a:extLst>
          </p:cNvPr>
          <p:cNvSpPr txBox="1"/>
          <p:nvPr/>
        </p:nvSpPr>
        <p:spPr>
          <a:xfrm>
            <a:off x="892700" y="1889933"/>
            <a:ext cx="874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Objective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Guess the reward function by using linear combination 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1A691-2343-515A-3830-B65BB4BD5117}"/>
              </a:ext>
            </a:extLst>
          </p:cNvPr>
          <p:cNvSpPr txBox="1"/>
          <p:nvPr/>
        </p:nvSpPr>
        <p:spPr>
          <a:xfrm>
            <a:off x="892700" y="2897032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Estimate feature expectation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3C2DBA-483D-081D-C945-7FB776B43B2D}"/>
                  </a:ext>
                </a:extLst>
              </p:cNvPr>
              <p:cNvSpPr txBox="1"/>
              <p:nvPr/>
            </p:nvSpPr>
            <p:spPr>
              <a:xfrm>
                <a:off x="1240432" y="4913076"/>
                <a:ext cx="9279335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Expected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discounted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accumulated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eature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expectation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)|</m:t>
                        </m:r>
                      </m:e>
                    </m:nary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nor/>
                      </m:rPr>
                      <a:rPr lang="en-US" altLang="ko-KR" dirty="0"/>
                      <m:t>]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C3C2DBA-483D-081D-C945-7FB776B43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32" y="4913076"/>
                <a:ext cx="9279335" cy="281937"/>
              </a:xfrm>
              <a:prstGeom prst="rect">
                <a:avLst/>
              </a:prstGeom>
              <a:blipFill>
                <a:blip r:embed="rId3"/>
                <a:stretch>
                  <a:fillRect l="-1182" t="-173913" b="-26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F9158C-18D6-0DA8-9B10-EDBFC3596FD8}"/>
                  </a:ext>
                </a:extLst>
              </p:cNvPr>
              <p:cNvSpPr txBox="1"/>
              <p:nvPr/>
            </p:nvSpPr>
            <p:spPr>
              <a:xfrm>
                <a:off x="8789413" y="3135520"/>
                <a:ext cx="213995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sz="1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000" dirty="0"/>
                  <a:t>:some vector of features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F9158C-18D6-0DA8-9B10-EDBFC3596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413" y="3135520"/>
                <a:ext cx="2139950" cy="246221"/>
              </a:xfrm>
              <a:prstGeom prst="rect">
                <a:avLst/>
              </a:prstGeom>
              <a:blipFill>
                <a:blip r:embed="rId4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그림 28">
            <a:extLst>
              <a:ext uri="{FF2B5EF4-FFF2-40B4-BE49-F238E27FC236}">
                <a16:creationId xmlns:a16="http://schemas.microsoft.com/office/drawing/2014/main" id="{80D34920-50C0-277D-8244-9CD5822EA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9927" y="3381796"/>
            <a:ext cx="6058746" cy="1228896"/>
          </a:xfrm>
          <a:prstGeom prst="rect">
            <a:avLst/>
          </a:prstGeom>
        </p:spPr>
      </p:pic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9586B6B-4741-366C-581C-BCB0E18DBE44}"/>
              </a:ext>
            </a:extLst>
          </p:cNvPr>
          <p:cNvCxnSpPr/>
          <p:nvPr/>
        </p:nvCxnSpPr>
        <p:spPr>
          <a:xfrm>
            <a:off x="3524250" y="5663915"/>
            <a:ext cx="1168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C2FE67-AFF2-B157-EC9C-CEF120CF77EE}"/>
                  </a:ext>
                </a:extLst>
              </p:cNvPr>
              <p:cNvSpPr txBox="1"/>
              <p:nvPr/>
            </p:nvSpPr>
            <p:spPr>
              <a:xfrm>
                <a:off x="4862925" y="5470559"/>
                <a:ext cx="3003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Value of policy(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C2FE67-AFF2-B157-EC9C-CEF120CF7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925" y="5470559"/>
                <a:ext cx="3003550" cy="369332"/>
              </a:xfrm>
              <a:prstGeom prst="rect">
                <a:avLst/>
              </a:prstGeom>
              <a:blipFill>
                <a:blip r:embed="rId6"/>
                <a:stretch>
                  <a:fillRect l="-1829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14CF1A10-1688-C760-8F20-B7CADF852549}"/>
              </a:ext>
            </a:extLst>
          </p:cNvPr>
          <p:cNvSpPr/>
          <p:nvPr/>
        </p:nvSpPr>
        <p:spPr>
          <a:xfrm>
            <a:off x="6728460" y="3396965"/>
            <a:ext cx="679450" cy="386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83FA211-06B5-CC54-EA5E-BA9A68C7F001}"/>
              </a:ext>
            </a:extLst>
          </p:cNvPr>
          <p:cNvSpPr/>
          <p:nvPr/>
        </p:nvSpPr>
        <p:spPr>
          <a:xfrm>
            <a:off x="6728460" y="3860711"/>
            <a:ext cx="1062990" cy="32567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8330A3D-25A0-7551-8E84-F6F6AEAA70FF}"/>
                  </a:ext>
                </a:extLst>
              </p:cNvPr>
              <p:cNvSpPr txBox="1"/>
              <p:nvPr/>
            </p:nvSpPr>
            <p:spPr>
              <a:xfrm>
                <a:off x="9294018" y="3824820"/>
                <a:ext cx="13763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8330A3D-25A0-7551-8E84-F6F6AEAA7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4018" y="3824820"/>
                <a:ext cx="1376363" cy="369332"/>
              </a:xfrm>
              <a:prstGeom prst="rect">
                <a:avLst/>
              </a:prstGeom>
              <a:blipFill>
                <a:blip r:embed="rId7"/>
                <a:stretch>
                  <a:fillRect r="-889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613C36D-DC69-EF5E-AAAC-BBC9602EC9DE}"/>
              </a:ext>
            </a:extLst>
          </p:cNvPr>
          <p:cNvCxnSpPr>
            <a:cxnSpLocks/>
          </p:cNvCxnSpPr>
          <p:nvPr/>
        </p:nvCxnSpPr>
        <p:spPr>
          <a:xfrm flipH="1">
            <a:off x="9636650" y="3723811"/>
            <a:ext cx="367542" cy="101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6178487-4AB4-8F0D-9B0F-B76A960D2136}"/>
              </a:ext>
            </a:extLst>
          </p:cNvPr>
          <p:cNvSpPr txBox="1"/>
          <p:nvPr/>
        </p:nvSpPr>
        <p:spPr>
          <a:xfrm>
            <a:off x="10004192" y="3568917"/>
            <a:ext cx="16358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Unknown reward function</a:t>
            </a:r>
            <a:endParaRPr lang="ko-KR" alt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386099-82B1-B74E-EDD6-3F9AA28B946B}"/>
                  </a:ext>
                </a:extLst>
              </p:cNvPr>
              <p:cNvSpPr txBox="1"/>
              <p:nvPr/>
            </p:nvSpPr>
            <p:spPr>
              <a:xfrm>
                <a:off x="892700" y="2270531"/>
                <a:ext cx="9174480" cy="66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/>
                  <a:t>finite-state MDP (S, A, T,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ko-KR" dirty="0"/>
                  <a:t>, D) 	D : initial-state distribution</a:t>
                </a:r>
              </a:p>
              <a:p>
                <a:r>
                  <a:rPr lang="en-US" altLang="ko-KR" dirty="0"/>
                  <a:t>1. Randomly pick some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dirty="0"/>
                  <a:t> (via Monte Carlo),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D386099-82B1-B74E-EDD6-3F9AA28B9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0" y="2270531"/>
                <a:ext cx="9174480" cy="669992"/>
              </a:xfrm>
              <a:prstGeom prst="rect">
                <a:avLst/>
              </a:prstGeom>
              <a:blipFill>
                <a:blip r:embed="rId8"/>
                <a:stretch>
                  <a:fillRect l="-532" t="-4545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6AD35CFB-43AF-365F-C70D-F159A4D9C511}"/>
              </a:ext>
            </a:extLst>
          </p:cNvPr>
          <p:cNvSpPr txBox="1"/>
          <p:nvPr/>
        </p:nvSpPr>
        <p:spPr>
          <a:xfrm>
            <a:off x="1572224" y="3476584"/>
            <a:ext cx="1227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Feature expectation</a:t>
            </a:r>
            <a:endParaRPr lang="ko-KR" altLang="en-US" sz="8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41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A8FFAB-1385-4C25-673D-899729C317F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</a:t>
            </a:r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ALIRL(Apprenticeship Learning via IRL)</a:t>
            </a:r>
            <a:endParaRPr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2CB40-7891-0C89-532D-2F3D0C9956BE}"/>
              </a:ext>
            </a:extLst>
          </p:cNvPr>
          <p:cNvSpPr txBox="1"/>
          <p:nvPr/>
        </p:nvSpPr>
        <p:spPr>
          <a:xfrm>
            <a:off x="1009650" y="1829872"/>
            <a:ext cx="7524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Compute difference expert expectation and apprenticeship expectation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6B575BE-885E-C313-7900-7B1245C2C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059" y="2256032"/>
            <a:ext cx="3810532" cy="5715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28B344-DCED-9B56-813E-5072537D479B}"/>
              </a:ext>
            </a:extLst>
          </p:cNvPr>
          <p:cNvSpPr txBox="1"/>
          <p:nvPr/>
        </p:nvSpPr>
        <p:spPr>
          <a:xfrm>
            <a:off x="1120509" y="2357156"/>
            <a:ext cx="218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Expert expectation</a:t>
            </a:r>
            <a:endParaRPr lang="ko-KR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8A6F4B8-5873-7276-235B-2DDDB93A5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363" y="3706839"/>
            <a:ext cx="4506936" cy="28276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CF9C56F-0E61-D883-7145-C24FE028A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181" y="2784333"/>
            <a:ext cx="3996748" cy="869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024C53-5DC0-A9B5-D9B7-7AC00F17D46D}"/>
                  </a:ext>
                </a:extLst>
              </p:cNvPr>
              <p:cNvSpPr txBox="1"/>
              <p:nvPr/>
            </p:nvSpPr>
            <p:spPr>
              <a:xfrm>
                <a:off x="8023491" y="2327768"/>
                <a:ext cx="1996809" cy="378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024C53-5DC0-A9B5-D9B7-7AC00F17D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491" y="2327768"/>
                <a:ext cx="1996809" cy="378245"/>
              </a:xfrm>
              <a:prstGeom prst="rect">
                <a:avLst/>
              </a:prstGeom>
              <a:blipFill>
                <a:blip r:embed="rId6"/>
                <a:stretch>
                  <a:fillRect t="-6452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CDC2F2E-B6AA-0CEB-8C64-7D565A1A261B}"/>
              </a:ext>
            </a:extLst>
          </p:cNvPr>
          <p:cNvCxnSpPr/>
          <p:nvPr/>
        </p:nvCxnSpPr>
        <p:spPr>
          <a:xfrm>
            <a:off x="7642860" y="3208020"/>
            <a:ext cx="1028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B3D9FF3-6A09-7B41-2C75-30873DFC6F50}"/>
              </a:ext>
            </a:extLst>
          </p:cNvPr>
          <p:cNvSpPr txBox="1"/>
          <p:nvPr/>
        </p:nvSpPr>
        <p:spPr>
          <a:xfrm>
            <a:off x="8779605" y="3019769"/>
            <a:ext cx="300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Linear combination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688664-CCBD-D584-EF78-5D6908E9F27A}"/>
                  </a:ext>
                </a:extLst>
              </p:cNvPr>
              <p:cNvSpPr txBox="1"/>
              <p:nvPr/>
            </p:nvSpPr>
            <p:spPr>
              <a:xfrm>
                <a:off x="1009650" y="3647671"/>
                <a:ext cx="7524750" cy="2903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ko-KR" dirty="0"/>
                  <a:t>, then terminate.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5. Using the RL algorithm, compute the optimal policy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r>
                  <a:rPr lang="en-US" altLang="ko-KR" dirty="0"/>
                  <a:t>     for the MDP using R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dirty="0"/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6.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7. 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dirty="0"/>
                  <a:t>, and go back to step 3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They solve this algorithm QP (or SVM) solver.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688664-CCBD-D584-EF78-5D6908E9F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3647671"/>
                <a:ext cx="7524750" cy="2903102"/>
              </a:xfrm>
              <a:prstGeom prst="rect">
                <a:avLst/>
              </a:prstGeom>
              <a:blipFill>
                <a:blip r:embed="rId7"/>
                <a:stretch>
                  <a:fillRect l="-729" t="-629" b="-23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4825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A8FFAB-1385-4C25-673D-899729C317F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382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1. </a:t>
            </a:r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ALIRL(Apprenticeship Learning via IRL)</a:t>
            </a:r>
            <a:endParaRPr lang="ko-KR" altLang="en-US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0AE573-E6FB-9661-FE57-240623D4A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9872"/>
            <a:ext cx="5010849" cy="361047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0657950-3546-3925-853B-5F3B7CACB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953" y="1841998"/>
            <a:ext cx="4734586" cy="37152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FACA47-6EF0-8C2E-1569-DC6A5D3C3314}"/>
              </a:ext>
            </a:extLst>
          </p:cNvPr>
          <p:cNvSpPr txBox="1"/>
          <p:nvPr/>
        </p:nvSpPr>
        <p:spPr>
          <a:xfrm>
            <a:off x="4974492" y="5772142"/>
            <a:ext cx="224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Grid world Example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5621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49526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2. </a:t>
            </a:r>
            <a:r>
              <a:rPr kumimoji="1" lang="en-US" altLang="ko-KR" sz="20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MaxENT</a:t>
            </a:r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IRL(Maximum Entropy IRL)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FDD3B-4270-853E-9C11-5A000F4EEFFE}"/>
              </a:ext>
            </a:extLst>
          </p:cNvPr>
          <p:cNvSpPr txBox="1"/>
          <p:nvPr/>
        </p:nvSpPr>
        <p:spPr>
          <a:xfrm>
            <a:off x="892699" y="1829872"/>
            <a:ext cx="11033138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ALIRL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수많은 정책이 동일한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Feature expectation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 발생시킬 수 있다는 단점을 가짐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각 정책이 수많은 보상 함수에 대해 최적일 수 있음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endParaRPr kumimoji="1" lang="en-US" altLang="ko-KR" sz="16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kumimoji="1" lang="en-US" altLang="ko-KR" sz="16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MaxENT</a:t>
            </a:r>
            <a:r>
              <a:rPr kumimoji="1" lang="en-US" altLang="ko-KR" sz="16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IRL(Maximum Entropy IRL)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MaxENT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은 관측된 데이터로부터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feature expectation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따르는 확률 분포를 구함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분포의 엔트로피를 최대화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파라미터 초기화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보상에 관한 최적의 정책 계산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상태 방문 빈도 계산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확률 분포 엔트로피 최대화를 위한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그래디언트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계산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계산된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그래디언트를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이용한 파라미터 업데이트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2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번부터 반복 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단점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파라미터에 대한 선택이 필수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비모수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방식의 </a:t>
            </a: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GPIRL(Gaussian Process IRL)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 도입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-&gt; GP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특성상 개수에 비례하여 계산 복잡성이 증가하는 단점을 가짐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확률분포가 아닌 복잡하고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비선형적인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심층 신경망 방식인 </a:t>
            </a:r>
            <a:r>
              <a:rPr lang="en-US" altLang="ko-KR" sz="15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DeepIRL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 도입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복잡도가 샘플 개수와 무관하다는 단점을 가짐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95B750-16E9-94E2-8893-48AD457F3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082" y="3138223"/>
            <a:ext cx="3617500" cy="18963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A4E4FB-E8A4-5AE7-5E2A-3CB294EFC96F}"/>
              </a:ext>
            </a:extLst>
          </p:cNvPr>
          <p:cNvSpPr txBox="1"/>
          <p:nvPr/>
        </p:nvSpPr>
        <p:spPr>
          <a:xfrm>
            <a:off x="8298409" y="4924750"/>
            <a:ext cx="9528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DeepIRL</a:t>
            </a:r>
            <a:endParaRPr lang="ko-KR" altLang="en-US" sz="13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028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3775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3. GCL(Guided Cost Learning)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4B06F2-E44F-618A-D23A-90D526963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82216"/>
            <a:ext cx="5056137" cy="28697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187751-B4FB-246F-8B6A-E366876DC69F}"/>
              </a:ext>
            </a:extLst>
          </p:cNvPr>
          <p:cNvSpPr txBox="1"/>
          <p:nvPr/>
        </p:nvSpPr>
        <p:spPr>
          <a:xfrm>
            <a:off x="892698" y="1781299"/>
            <a:ext cx="983540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ALIRL, </a:t>
            </a:r>
            <a:r>
              <a:rPr lang="en-US" altLang="ko-KR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MaxENT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IRL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RL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이용해 최적의 정책 도출 후 이를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이용하여 업데이트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시간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비용낭비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GCL : RL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로 최적의 정책을 한번에 찾지 않고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IRL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과 번갈아 가며 서로 동시에 업데이트 진행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AF0EAF5-CA8A-1000-B01B-F48F7823A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430" y="3082216"/>
            <a:ext cx="5809623" cy="28697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FEACF36-A795-962E-3E39-409703682B62}"/>
              </a:ext>
            </a:extLst>
          </p:cNvPr>
          <p:cNvSpPr txBox="1"/>
          <p:nvPr/>
        </p:nvSpPr>
        <p:spPr>
          <a:xfrm>
            <a:off x="2741265" y="3771750"/>
            <a:ext cx="448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RL</a:t>
            </a:r>
            <a:endParaRPr lang="ko-KR" altLang="en-US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766884-668C-20DC-CDBA-236B8C7BC574}"/>
              </a:ext>
            </a:extLst>
          </p:cNvPr>
          <p:cNvSpPr txBox="1"/>
          <p:nvPr/>
        </p:nvSpPr>
        <p:spPr>
          <a:xfrm>
            <a:off x="2754664" y="4882842"/>
            <a:ext cx="534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</a:t>
            </a:r>
            <a:endParaRPr lang="ko-KR" altLang="en-US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23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3775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4.GAIL(Generative Adversarial Imitation Learning)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2DB54-6858-C379-DCEE-74749B96D461}"/>
              </a:ext>
            </a:extLst>
          </p:cNvPr>
          <p:cNvSpPr txBox="1"/>
          <p:nvPr/>
        </p:nvSpPr>
        <p:spPr>
          <a:xfrm>
            <a:off x="892700" y="1809618"/>
            <a:ext cx="6327453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이전까지의 </a:t>
            </a:r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 </a:t>
            </a:r>
            <a:r>
              <a:rPr lang="ko-KR" altLang="en-US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방법론</a:t>
            </a:r>
            <a:endParaRPr lang="en-US" altLang="ko-KR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정책 초기화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현재 정책과 전문가의 정책을 비교하여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그래디언트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계산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계산된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그래디언트를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이용하여 보상 함수 업데이트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highlight>
                  <a:srgbClr val="FFFF00"/>
                </a:highlight>
                <a:latin typeface="Noto Sans KR" panose="020B0500000000000000" pitchFamily="34" charset="-127"/>
                <a:ea typeface="Noto Sans KR" panose="020B0500000000000000" pitchFamily="34" charset="-127"/>
              </a:rPr>
              <a:t>현재 보상 함수로부터 최적의 정책 계산 </a:t>
            </a:r>
            <a:r>
              <a:rPr lang="en-US" altLang="ko-KR" sz="1500" dirty="0">
                <a:highlight>
                  <a:srgbClr val="FFFF00"/>
                </a:highlight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1500" dirty="0">
                <a:highlight>
                  <a:srgbClr val="FFFF00"/>
                </a:highlight>
                <a:latin typeface="Noto Sans KR" panose="020B0500000000000000" pitchFamily="34" charset="-127"/>
                <a:ea typeface="Noto Sans KR" panose="020B0500000000000000" pitchFamily="34" charset="-127"/>
              </a:rPr>
              <a:t>많은 시간과 자원이 필요함</a:t>
            </a:r>
            <a:endParaRPr lang="en-US" altLang="ko-KR" sz="1500" dirty="0">
              <a:highlight>
                <a:srgbClr val="FFFF00"/>
              </a:highlight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2)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번부터 반복하여 수행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GAIL</a:t>
            </a:r>
            <a:r>
              <a:rPr kumimoji="1" lang="en-US" altLang="ko-KR" sz="16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(Generative Adversarial Imitation Learning)</a:t>
            </a:r>
            <a:endParaRPr lang="en-US" altLang="ko-KR" sz="15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생성기</a:t>
            </a: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(Generator) =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정책</a:t>
            </a: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(policy)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전문가의 정책을 모방하기 위해 계속해서 유사한 정책 생성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판별기</a:t>
            </a: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(Discriminator) = </a:t>
            </a:r>
            <a:r>
              <a:rPr lang="ko-KR" altLang="en-US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보상 함수</a:t>
            </a: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(Reward)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전문가가 수행한 행동인지 아닌지를 구별하는 역할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Occupancy Measure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특정한 정책 아래에서 발생하는 상태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-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행동 쌍의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정규화되지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않은 분포를 의미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해당 분포를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convex conjugate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함수로 변형하여 수식을 단순화함으로써 기존의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GAN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과 유사한 목적함수로 변형해주는 역할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TRPO(Trust Re-</a:t>
            </a:r>
            <a:r>
              <a:rPr lang="en-US" altLang="ko-KR" sz="15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gion</a:t>
            </a:r>
            <a:r>
              <a:rPr lang="en-US" altLang="ko-KR" sz="15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Policy Optimization)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RL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과정에서 정책이 급하게 변하는 것을 방지하는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역활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4C119ED-FDAD-5D03-F64F-D6F2D0526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653" y="3697844"/>
            <a:ext cx="4694368" cy="206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1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3775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5. VAIL(Variational Adversarial Imitating Learning)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5591C5-96AC-06CB-C875-D2F8D5254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351" y="4194214"/>
            <a:ext cx="4989100" cy="2162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4A6430-B5CC-D240-4858-0AE50F619636}"/>
              </a:ext>
            </a:extLst>
          </p:cNvPr>
          <p:cNvSpPr txBox="1"/>
          <p:nvPr/>
        </p:nvSpPr>
        <p:spPr>
          <a:xfrm>
            <a:off x="892700" y="1897135"/>
            <a:ext cx="867248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GAIL :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생성기와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판별기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사이의 학습 불균형으로 인한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IL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성능 저하 문제 존재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kumimoji="1" lang="en-US" altLang="ko-KR" sz="16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VAIL(Variational Adversarial Imitating Learning)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기본적인 구조는 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GAIL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과 유사함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상호 정보량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(Mutual Information) :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인코딩을 통해 정보를 제한하는 과정에서 사용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(KL-divergence)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정보 병목 과정을 통하여 </a:t>
            </a:r>
            <a:r>
              <a:rPr lang="ko-KR" altLang="en-US" sz="15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판별기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(reward)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빠른 학습을 억제하고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생성기의 불완전한 학습을 방지하는 역할을 수행함</a:t>
            </a:r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또한 불필요한 정보를 무시함</a:t>
            </a:r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340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2. Algorithms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892700" y="1403712"/>
            <a:ext cx="10515600" cy="3775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6. </a:t>
            </a:r>
            <a:r>
              <a:rPr lang="en-US" altLang="ko-KR" sz="20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InfoGAIL</a:t>
            </a:r>
            <a:r>
              <a:rPr lang="en-US" altLang="ko-KR" sz="20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Interpretable Imitation Learning from Visual Demonstrations</a:t>
            </a:r>
            <a:endParaRPr kumimoji="1" lang="en-US" altLang="ko-KR" sz="20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CE859E1-150D-EE5A-2890-324279C5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00" y="3892948"/>
            <a:ext cx="4681378" cy="2410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A80C50-7A49-2C14-1AB1-64AFF677DD75}"/>
              </a:ext>
            </a:extLst>
          </p:cNvPr>
          <p:cNvSpPr txBox="1"/>
          <p:nvPr/>
        </p:nvSpPr>
        <p:spPr>
          <a:xfrm>
            <a:off x="1043010" y="1900425"/>
            <a:ext cx="871255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GAIL : </a:t>
            </a:r>
            <a:r>
              <a:rPr lang="ko-KR" altLang="en-US" sz="15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전문가 시연 데이터에 존재하지 않는 행동에 대해서는 학습을 잘 구별하지 못함</a:t>
            </a:r>
          </a:p>
          <a:p>
            <a:endParaRPr lang="en-US" altLang="ko-KR" sz="15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sz="16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InfoGAIL</a:t>
            </a:r>
            <a:r>
              <a:rPr lang="en-US" altLang="ko-KR" sz="16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Interpretable Imitation Learning from Visual Demonstrations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Info - GAN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방식과 유사하게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Latent Space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와 궤적 간의 상호 정보량을 근사적으로 최대화</a:t>
            </a: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InfoGAIL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=  GAIL + Reward Augmentation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WGAN(Wasserstein GAN)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최적화 과정에서 도입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-&gt; 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일반적인 </a:t>
            </a:r>
            <a:r>
              <a:rPr lang="en-US" altLang="ko-KR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GAN</a:t>
            </a:r>
            <a:r>
              <a:rPr lang="ko-KR" altLang="en-US" sz="16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학습 문제점들 극복</a:t>
            </a:r>
            <a:endParaRPr lang="en-US" altLang="ko-KR" sz="16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0296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E989F2E-F8A4-BBF8-61FD-CA44397B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941"/>
            <a:ext cx="10515600" cy="1603931"/>
          </a:xfrm>
        </p:spPr>
        <p:txBody>
          <a:bodyPr>
            <a:normAutofit/>
          </a:bodyPr>
          <a:lstStyle/>
          <a:p>
            <a:r>
              <a:rPr kumimoji="1" lang="en-US" altLang="ko-KR" sz="3200" dirty="0"/>
              <a:t>3. Conclusion</a:t>
            </a:r>
            <a:endParaRPr kumimoji="1" lang="ko-KR" altLang="en-US" sz="32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892700" y="128744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CBB36-6193-AA65-D4E3-2173F47F8BAA}"/>
              </a:ext>
            </a:extLst>
          </p:cNvPr>
          <p:cNvSpPr txBox="1"/>
          <p:nvPr/>
        </p:nvSpPr>
        <p:spPr>
          <a:xfrm>
            <a:off x="971550" y="1562100"/>
            <a:ext cx="101917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Conclusion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여러가지 다양한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기법들을 소개함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현재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은 강화학습 분야에서도 상대적으로 덜 연구된 분야임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현재 생성형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AI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여러 기법들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(Ex, diffusion model)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Reward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생성에 도입해보면 어떨까 생각이 들었음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특히 의료 분야에서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reward function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추정할 수 없는 경우가 많은데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해당 케이스들에 대해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을 사용한다면 임상적으로 의미 있는 결과를 낼 수 있으리라 생각됨</a:t>
            </a:r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r>
              <a:rPr lang="en-US" altLang="ko-KR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Next step</a:t>
            </a:r>
          </a:p>
          <a:p>
            <a:endParaRPr lang="en-US" altLang="ko-KR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다음 랩미팅에서는 헬스케어 분야에서의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적용사례 및 본인 연구에서의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IRL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알고리즘 적용 및 결과를 발표할 예정입니다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9541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CA34-4E66-4529-0F4C-5C78FCFF6913}"/>
              </a:ext>
            </a:extLst>
          </p:cNvPr>
          <p:cNvSpPr/>
          <p:nvPr/>
        </p:nvSpPr>
        <p:spPr>
          <a:xfrm>
            <a:off x="2849598" y="3759110"/>
            <a:ext cx="5472000" cy="45719"/>
          </a:xfrm>
          <a:prstGeom prst="rect">
            <a:avLst/>
          </a:prstGeom>
          <a:solidFill>
            <a:srgbClr val="7C0A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7D137D-6C3C-C88B-B6B9-FB3A73B85EE4}"/>
              </a:ext>
            </a:extLst>
          </p:cNvPr>
          <p:cNvSpPr txBox="1">
            <a:spLocks/>
          </p:cNvSpPr>
          <p:nvPr/>
        </p:nvSpPr>
        <p:spPr>
          <a:xfrm>
            <a:off x="3698209" y="3053170"/>
            <a:ext cx="4795581" cy="7516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000" b="1" dirty="0">
                <a:latin typeface="Noto Sans KR Medium" panose="020B0500000000000000" pitchFamily="34" charset="-128"/>
                <a:ea typeface="Noto Sans KR Medium" panose="020B0500000000000000" pitchFamily="34" charset="-128"/>
              </a:rPr>
              <a:t>THANK YOU</a:t>
            </a:r>
            <a:endParaRPr kumimoji="1" lang="ko-KR" altLang="en-US" sz="5000" b="1" dirty="0">
              <a:latin typeface="Noto Sans KR Medium" panose="020B0500000000000000" pitchFamily="34" charset="-128"/>
              <a:ea typeface="Noto Sans KR Medium" panose="020B0500000000000000" pitchFamily="34" charset="-128"/>
            </a:endParaRP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D0BA37C-1A75-0130-0D0B-9FDD407F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0AA807A-1477-5C4C-A1D5-A8A29A54860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8217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12750</TotalTime>
  <Words>940</Words>
  <Application>Microsoft Office PowerPoint</Application>
  <PresentationFormat>와이드스크린</PresentationFormat>
  <Paragraphs>163</Paragraphs>
  <Slides>14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Noto Sans KR</vt:lpstr>
      <vt:lpstr>Noto Sans KR Medium</vt:lpstr>
      <vt:lpstr>Arial</vt:lpstr>
      <vt:lpstr>Calibri</vt:lpstr>
      <vt:lpstr>Cambria Math</vt:lpstr>
      <vt:lpstr>Wingdings</vt:lpstr>
      <vt:lpstr>Office 테마</vt:lpstr>
      <vt:lpstr>Introduction to Inverse Reinforcement Learning</vt:lpstr>
      <vt:lpstr>1. Introduction</vt:lpstr>
      <vt:lpstr>1. Introduction</vt:lpstr>
      <vt:lpstr>2. Algorithms</vt:lpstr>
      <vt:lpstr>2. Algorithms</vt:lpstr>
      <vt:lpstr>2. Algorithms</vt:lpstr>
      <vt:lpstr>2. Algorithms</vt:lpstr>
      <vt:lpstr>2. Algorithms</vt:lpstr>
      <vt:lpstr>2. Algorithms</vt:lpstr>
      <vt:lpstr>2. Algorithms</vt:lpstr>
      <vt:lpstr>2. Algorithms</vt:lpstr>
      <vt:lpstr>2. Algorithms</vt:lpstr>
      <vt:lpstr>3. 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Review :  Toward a Fully Automated Artificial Pancreas System Using a Bioinspired Reinforcement Learning Design : In Silico Validation</dc:title>
  <dc:creator>박찬영[ 대학원석사과정재학 / 산업경영공학과 ]</dc:creator>
  <cp:lastModifiedBy>김홍범[ 대학원석사과정재학 / 산업경영공학과 ]</cp:lastModifiedBy>
  <cp:revision>52</cp:revision>
  <dcterms:created xsi:type="dcterms:W3CDTF">2022-12-08T07:49:53Z</dcterms:created>
  <dcterms:modified xsi:type="dcterms:W3CDTF">2024-01-26T04:11:49Z</dcterms:modified>
</cp:coreProperties>
</file>