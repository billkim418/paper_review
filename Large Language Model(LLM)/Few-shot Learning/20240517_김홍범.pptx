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346" r:id="rId2"/>
    <p:sldId id="462" r:id="rId3"/>
    <p:sldId id="464" r:id="rId4"/>
    <p:sldId id="375" r:id="rId5"/>
    <p:sldId id="466" r:id="rId6"/>
    <p:sldId id="467" r:id="rId7"/>
    <p:sldId id="468" r:id="rId8"/>
    <p:sldId id="469" r:id="rId9"/>
    <p:sldId id="477" r:id="rId10"/>
    <p:sldId id="475" r:id="rId11"/>
    <p:sldId id="471" r:id="rId12"/>
    <p:sldId id="470" r:id="rId13"/>
    <p:sldId id="472" r:id="rId14"/>
    <p:sldId id="473" r:id="rId15"/>
    <p:sldId id="474" r:id="rId16"/>
    <p:sldId id="476" r:id="rId17"/>
    <p:sldId id="478" r:id="rId18"/>
    <p:sldId id="460" r:id="rId19"/>
    <p:sldId id="418" r:id="rId20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5F6DD"/>
    <a:srgbClr val="479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1520"/>
  </p:normalViewPr>
  <p:slideViewPr>
    <p:cSldViewPr snapToGrid="0">
      <p:cViewPr>
        <p:scale>
          <a:sx n="150" d="100"/>
          <a:sy n="150" d="100"/>
        </p:scale>
        <p:origin x="55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C6D9BD-2644-764D-AC55-9028C546D2ED}" type="datetimeFigureOut">
              <a:rPr kumimoji="1" lang="ko-Kore-KR" altLang="en-US" smtClean="0"/>
              <a:t>05/16/2024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5B8BB-7660-B84C-9CB5-ECD67EA308D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15920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A6FD4-6F0F-074A-A347-2C6D366F2D58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4035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29186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92065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심박수로 활동 인식</a:t>
            </a:r>
            <a:r>
              <a:rPr lang="en-US" altLang="ko-KR" dirty="0"/>
              <a:t> 2. </a:t>
            </a:r>
            <a:r>
              <a:rPr lang="ko-KR" altLang="en-US" dirty="0"/>
              <a:t>심방세동 예측 </a:t>
            </a:r>
            <a:r>
              <a:rPr lang="en-US" altLang="ko-KR" dirty="0"/>
              <a:t>3. </a:t>
            </a:r>
            <a:r>
              <a:rPr lang="ko-KR" altLang="en-US" dirty="0"/>
              <a:t>스트레스 지수 예측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93250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심박수로 활동 인식</a:t>
            </a:r>
            <a:r>
              <a:rPr lang="en-US" altLang="ko-KR" dirty="0"/>
              <a:t> 2. </a:t>
            </a:r>
            <a:r>
              <a:rPr lang="ko-KR" altLang="en-US" dirty="0"/>
              <a:t>심방세동 예측 </a:t>
            </a:r>
            <a:r>
              <a:rPr lang="en-US" altLang="ko-KR" dirty="0"/>
              <a:t>3. </a:t>
            </a:r>
            <a:r>
              <a:rPr lang="ko-KR" altLang="en-US" dirty="0"/>
              <a:t>스트레스 지수 예측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1693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언어 이해 및 생성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47092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오른쪽 천산갑이 정답으로 인간은 이해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42506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오른쪽 천산갑이 정답으로 인간은 이해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42436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atrial fibrillation(</a:t>
            </a:r>
            <a:r>
              <a:rPr lang="ko-KR" altLang="en-US" dirty="0"/>
              <a:t>심방세동</a:t>
            </a:r>
            <a:r>
              <a:rPr lang="en-US" altLang="ko-KR" dirty="0"/>
              <a:t>), sinus bradycardia(</a:t>
            </a:r>
            <a:r>
              <a:rPr lang="ko-KR" altLang="en-US" dirty="0"/>
              <a:t>동성 </a:t>
            </a:r>
            <a:r>
              <a:rPr lang="ko-KR" altLang="en-US" dirty="0" err="1"/>
              <a:t>빈맥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83159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언어 이해 및 생성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379388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언어 이해 및 생성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01876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Prompt Layer : ML</a:t>
            </a:r>
            <a:r>
              <a:rPr lang="ko-KR" altLang="en-US" dirty="0"/>
              <a:t>등의 다양한 방식으로 </a:t>
            </a:r>
            <a:r>
              <a:rPr lang="en-US" altLang="ko-KR" dirty="0"/>
              <a:t>Fine tuning </a:t>
            </a:r>
            <a:r>
              <a:rPr lang="ko-KR" altLang="en-US" dirty="0"/>
              <a:t>시킴 </a:t>
            </a:r>
            <a:r>
              <a:rPr lang="en-US" altLang="ko-KR" dirty="0"/>
              <a:t>-&gt; </a:t>
            </a:r>
            <a:r>
              <a:rPr lang="ko-KR" altLang="en-US" dirty="0"/>
              <a:t>해당 논문에서는 </a:t>
            </a:r>
            <a:r>
              <a:rPr lang="en-US" altLang="ko-KR" dirty="0"/>
              <a:t>4096 * 1</a:t>
            </a:r>
            <a:r>
              <a:rPr lang="ko-KR" altLang="en-US" dirty="0"/>
              <a:t>의  </a:t>
            </a:r>
            <a:r>
              <a:rPr lang="ko-KR" altLang="en-US" dirty="0" err="1"/>
              <a:t>임베딩</a:t>
            </a:r>
            <a:r>
              <a:rPr lang="ko-KR" altLang="en-US" dirty="0"/>
              <a:t> 사이즈 벡터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816063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Prompt Layer : ML</a:t>
            </a:r>
            <a:r>
              <a:rPr lang="ko-KR" altLang="en-US" dirty="0"/>
              <a:t>등의 다양한 방식으로 </a:t>
            </a:r>
            <a:r>
              <a:rPr lang="en-US" altLang="ko-KR" dirty="0"/>
              <a:t>Fine tuning </a:t>
            </a:r>
            <a:r>
              <a:rPr lang="ko-KR" altLang="en-US" dirty="0"/>
              <a:t>시킴 </a:t>
            </a:r>
            <a:r>
              <a:rPr lang="en-US" altLang="ko-KR" dirty="0"/>
              <a:t>-&gt; </a:t>
            </a:r>
            <a:r>
              <a:rPr lang="ko-KR" altLang="en-US" dirty="0"/>
              <a:t>해당 논문에서는 </a:t>
            </a:r>
            <a:r>
              <a:rPr lang="en-US" altLang="ko-KR" dirty="0"/>
              <a:t>4096 * 1</a:t>
            </a:r>
            <a:r>
              <a:rPr lang="ko-KR" altLang="en-US" dirty="0"/>
              <a:t>의  </a:t>
            </a:r>
            <a:r>
              <a:rPr lang="ko-KR" altLang="en-US" dirty="0" err="1"/>
              <a:t>임베딩</a:t>
            </a:r>
            <a:r>
              <a:rPr lang="ko-KR" altLang="en-US" dirty="0"/>
              <a:t> 사이즈 벡터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69306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Prompt Layer : ML</a:t>
            </a:r>
            <a:r>
              <a:rPr lang="ko-KR" altLang="en-US" dirty="0"/>
              <a:t>등의 다양한 방식으로 </a:t>
            </a:r>
            <a:r>
              <a:rPr lang="en-US" altLang="ko-KR" dirty="0"/>
              <a:t>Fine tuning </a:t>
            </a:r>
            <a:r>
              <a:rPr lang="ko-KR" altLang="en-US" dirty="0"/>
              <a:t>시킴 </a:t>
            </a:r>
            <a:r>
              <a:rPr lang="en-US" altLang="ko-KR" dirty="0"/>
              <a:t>-&gt; </a:t>
            </a:r>
            <a:r>
              <a:rPr lang="ko-KR" altLang="en-US" dirty="0"/>
              <a:t>해당 논문에서는 </a:t>
            </a:r>
            <a:r>
              <a:rPr lang="en-US" altLang="ko-KR" dirty="0"/>
              <a:t>4096 * 1</a:t>
            </a:r>
            <a:r>
              <a:rPr lang="ko-KR" altLang="en-US" dirty="0"/>
              <a:t>의  </a:t>
            </a:r>
            <a:r>
              <a:rPr lang="ko-KR" altLang="en-US" dirty="0" err="1"/>
              <a:t>임베딩</a:t>
            </a:r>
            <a:r>
              <a:rPr lang="ko-KR" altLang="en-US" dirty="0"/>
              <a:t> 사이즈 벡터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082290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461896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Prompt Layer : ML</a:t>
            </a:r>
            <a:r>
              <a:rPr lang="ko-KR" altLang="en-US" dirty="0"/>
              <a:t>등의 다양한 방식으로 </a:t>
            </a:r>
            <a:r>
              <a:rPr lang="en-US" altLang="ko-KR" dirty="0"/>
              <a:t>Fine tuning </a:t>
            </a:r>
            <a:r>
              <a:rPr lang="ko-KR" altLang="en-US" dirty="0"/>
              <a:t>시킴 </a:t>
            </a:r>
            <a:r>
              <a:rPr lang="en-US" altLang="ko-KR" dirty="0"/>
              <a:t>-&gt; </a:t>
            </a:r>
            <a:r>
              <a:rPr lang="ko-KR" altLang="en-US" dirty="0"/>
              <a:t>해당 논문에서는 </a:t>
            </a:r>
            <a:r>
              <a:rPr lang="en-US" altLang="ko-KR" dirty="0"/>
              <a:t>4096 * 1</a:t>
            </a:r>
            <a:r>
              <a:rPr lang="ko-KR" altLang="en-US" dirty="0"/>
              <a:t>의  </a:t>
            </a:r>
            <a:r>
              <a:rPr lang="ko-KR" altLang="en-US" dirty="0" err="1"/>
              <a:t>임베딩</a:t>
            </a:r>
            <a:r>
              <a:rPr lang="ko-KR" altLang="en-US" dirty="0"/>
              <a:t> 사이즈 벡터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404494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88521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3B2F2E-4010-5354-F5B2-B29D01D4B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9A5401-B77C-98A5-6EB2-E59AE7F07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4FECCE-A5C3-8226-D909-F0B9E3279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05/16/2024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D8E1CB-3399-AFB7-7277-52352BE83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8C7F2B-AB1D-71E9-9486-558BA0F63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74990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21680-5B14-B61A-70EF-AC85827DC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9904A3-7CBD-9348-56D7-070481589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35814-90F5-D6D8-AE04-D6FD3F91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05/16/2024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09485A-9FFC-05E0-1F6F-377CD4094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D9A904-41FC-DFC3-B43E-46D65019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2988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E534D-416E-946E-903E-7BBB242BA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3E3E8B-5E06-1AB1-274D-1BEBCE9F7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0F3D40-669B-F093-20AE-D4ABB7F87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05/16/2024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F92659-6B2A-50DC-C940-A1F22685D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D8163C-1555-9BAE-C514-BBD32250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38223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6733B-460C-B2E7-02ED-A20E68C5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50646E-6FD2-2E42-8BAB-4827930C1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C3004F-7B83-26EB-31B6-4B892EFC4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61E533-7092-97E9-3275-0398B310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05/16/2024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F2FA06-2CEF-CFC9-9691-597334BEB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0C1354-196A-2DA5-E2E6-98C61C69D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1978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1474F9-FDF5-F9C3-D1C9-1F1433A26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3647C6-33F9-D69F-7FA4-829F90275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DECF2D-369A-96B1-5977-1EA09EA8F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BEFCBA-237F-3BC0-B1BF-58A9843CA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40D8C8-D3AC-7C75-4D5A-DFCAB69CA6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25787C-0123-32E6-7032-B830ED325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05/16/2024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2045C7-CDD9-6C5F-073B-ED6AC81B9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C2B8D11-65CC-5222-C88A-9BCF3966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95225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6F9CC-BCF6-82EE-38D0-791279FB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3B49994-B667-7CCE-A8BA-BB6F061B3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05/16/2024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E29155-6038-CD9A-620B-0C3550689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B14145-F0A3-2C38-3383-B5E19F89E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928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9DA578-5E85-0C0D-D833-586E0E5E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05/16/2024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63FFC2-4C4E-8DC4-ACC9-A61C12598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9A0920-51FE-A23A-B0C2-074C538E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11880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086049-5938-8CDB-1087-8544304EA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E557DB-33AC-D8F5-ED5D-4A73DBFE6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731EEE-86E8-1CAD-84A9-5D0108C8A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626493-6EE9-5919-F2D9-711A6DF41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05/16/2024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7C275E-4D2B-0870-1510-B013451BE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C123A0-0227-255B-929E-C79AC53A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53567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0C9BF-515B-315A-A3F1-42AB23F5B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29D1114-9997-D134-CF5C-7507E7497A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D00470-F1B2-EE31-0281-C7E6C7B81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8FE232-FD6F-B3AE-485C-72678F5DB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05/16/2024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70D6A8-CD80-B64A-FC92-F3C96F90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5A7781-3B8C-1EA2-3925-A4FB19F64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8825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DCDB4-AC7A-5A09-DBE7-A9751B28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5E3A7F-0B8F-389A-2A20-C26098BB7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398B4C-248F-CB02-E64D-A49957D27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05/16/2024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CC4D8C-8700-7C9F-2A22-6243FC265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D9B4AA-DE14-79AC-DE5B-DE18FB7B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63678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6D9137-FE15-031C-F459-AAD4C9463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574E8A-933E-6989-3454-F1CFF9981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ADD073-25BB-E8AE-F288-106059FB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05/16/2024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2AC884-01DA-545C-EE55-15F2D65B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141523-8935-2338-84B9-D289DEE7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5249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AADEA76-BAD6-14A4-3F43-7A44D7B37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59457C-2F9F-B8BA-FD22-8CB32B9CB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14117A-C927-9246-39E2-6ECA1C8B2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1pPr>
          </a:lstStyle>
          <a:p>
            <a:fld id="{A81CE695-34C9-0C4C-935F-C9CE81A53A21}" type="datetimeFigureOut">
              <a:rPr kumimoji="1" lang="ko-Kore-KR" altLang="en-US" smtClean="0"/>
              <a:pPr/>
              <a:t>05/16/2024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1BD33F-54C9-E685-FD61-A68A2E7B5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A59F7C-B18A-A322-E08D-E8CF63D20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1pPr>
          </a:lstStyle>
          <a:p>
            <a:fld id="{94845DB3-6CBB-354F-BA70-189B252AE394}" type="slidenum">
              <a:rPr kumimoji="1" lang="ko-Kore-KR" altLang="en-US" smtClean="0"/>
              <a:pPr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9594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33863-B1E8-B34A-AB3A-78498D071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484" y="1309008"/>
            <a:ext cx="11390464" cy="2387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Noto Sans KR" panose="020B0500000000000000" pitchFamily="34" charset="-128"/>
                <a:ea typeface="Noto Sans KR" panose="020B0500000000000000" pitchFamily="34" charset="-128"/>
              </a:rPr>
              <a:t>Large Language Models </a:t>
            </a:r>
            <a:br>
              <a:rPr lang="en-US" altLang="ko-KR" sz="3600" dirty="0">
                <a:latin typeface="Noto Sans KR" panose="020B0500000000000000" pitchFamily="34" charset="-128"/>
                <a:ea typeface="Noto Sans KR" panose="020B0500000000000000" pitchFamily="34" charset="-128"/>
              </a:rPr>
            </a:br>
            <a:r>
              <a:rPr lang="en-US" altLang="ko-KR" sz="3600" dirty="0">
                <a:latin typeface="Noto Sans KR" panose="020B0500000000000000" pitchFamily="34" charset="-128"/>
                <a:ea typeface="Noto Sans KR" panose="020B0500000000000000" pitchFamily="34" charset="-128"/>
              </a:rPr>
              <a:t>are Few-Shot Health Learners</a:t>
            </a:r>
            <a:endParaRPr lang="ko-KR" altLang="en-US" sz="36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7828B390-F77A-27D4-9AB6-B267151A199C}"/>
              </a:ext>
            </a:extLst>
          </p:cNvPr>
          <p:cNvSpPr txBox="1">
            <a:spLocks/>
          </p:cNvSpPr>
          <p:nvPr/>
        </p:nvSpPr>
        <p:spPr>
          <a:xfrm>
            <a:off x="551332" y="4904233"/>
            <a:ext cx="1139875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고려대학교 </a:t>
            </a:r>
            <a:r>
              <a:rPr lang="ko-KR" altLang="ko-KR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산업경영공학과</a:t>
            </a:r>
            <a:endParaRPr lang="en-US" altLang="ko-KR" sz="1800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  <a:p>
            <a:pPr algn="r"/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데이터 </a:t>
            </a:r>
            <a:r>
              <a:rPr lang="ko-KR" altLang="en-US" sz="1800" dirty="0" err="1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애널리틱스</a:t>
            </a:r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 및 헬스케어 시스템 연구실</a:t>
            </a:r>
            <a:r>
              <a:rPr lang="en-US" altLang="ko-KR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(DAHS)</a:t>
            </a:r>
          </a:p>
          <a:p>
            <a:pPr algn="r"/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석사과정</a:t>
            </a:r>
            <a:endParaRPr lang="en-US" altLang="ko-KR" sz="1800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  <a:p>
            <a:pPr algn="r"/>
            <a:r>
              <a:rPr lang="ko-KR" altLang="en-US" sz="1800" dirty="0" err="1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김홍범</a:t>
            </a:r>
            <a:endParaRPr kumimoji="1" lang="ko-KR" altLang="en-US" sz="1800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A37C8C-A9D8-77B4-6C0D-0338708DD9B6}"/>
              </a:ext>
            </a:extLst>
          </p:cNvPr>
          <p:cNvSpPr/>
          <p:nvPr/>
        </p:nvSpPr>
        <p:spPr>
          <a:xfrm>
            <a:off x="551332" y="3748434"/>
            <a:ext cx="11264616" cy="99077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7912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1. Contents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66711"/>
            <a:ext cx="10515600" cy="49628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AutoNum type="arabicPeriod"/>
            </a:pPr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What is LLM?</a:t>
            </a:r>
          </a:p>
          <a:p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대형 언어 모델</a:t>
            </a: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(Large</a:t>
            </a: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Language</a:t>
            </a: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Model, LLM)</a:t>
            </a:r>
          </a:p>
          <a:p>
            <a:endParaRPr kumimoji="1" lang="en-US" altLang="ko-KR" sz="15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대규모 데이터셋으로 학습되었으며</a:t>
            </a: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대규모 파라미터를 가진 모델</a:t>
            </a:r>
            <a:endParaRPr kumimoji="1"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기존의 </a:t>
            </a: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PLM(</a:t>
            </a: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사전학습모델</a:t>
            </a: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들을 대규모로 확장하면 성능이 늘어난다는 것을 확인</a:t>
            </a: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-&gt; ‘</a:t>
            </a: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대형</a:t>
            </a: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’</a:t>
            </a: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기준은 없음</a:t>
            </a:r>
            <a:endParaRPr kumimoji="1"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(GPT-3</a:t>
            </a: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학습 파라미터 개수 </a:t>
            </a: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1750</a:t>
            </a: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억 개</a:t>
            </a: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방대한 양의 텍스트 데이터를 사전 학습</a:t>
            </a: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(Pre-trained)</a:t>
            </a: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한 전이 학습</a:t>
            </a: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(Transfer) </a:t>
            </a: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모델임</a:t>
            </a: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ChatGPT, </a:t>
            </a:r>
            <a:r>
              <a:rPr kumimoji="1" lang="en-US" altLang="ko-KR" sz="15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LLaMA</a:t>
            </a: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</a:t>
            </a: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생성형 언어 모델</a:t>
            </a: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Decoder </a:t>
            </a: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기반 언어 모델</a:t>
            </a: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kumimoji="1" lang="en-US" altLang="ko-KR" sz="20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kumimoji="1" lang="en-US" altLang="ko-KR" sz="2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Basic Term</a:t>
            </a:r>
          </a:p>
          <a:p>
            <a:endParaRPr kumimoji="1"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engineering : </a:t>
            </a: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모델에 입력하는 질문이나 명령을 </a:t>
            </a:r>
            <a:r>
              <a:rPr kumimoji="1" lang="ko-KR" altLang="en-US" sz="15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구조화하여</a:t>
            </a: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모델의 성능을 향상시키는 과정</a:t>
            </a:r>
            <a:endParaRPr kumimoji="1"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tuning</a:t>
            </a:r>
          </a:p>
          <a:p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Foundation model : Label</a:t>
            </a: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이 지정되지 않는 광범위한 데이터 집합에 대해 훈련된 대규모 인공 지능 모델</a:t>
            </a: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광범위한 </a:t>
            </a:r>
            <a:r>
              <a:rPr kumimoji="1" lang="ko-KR" altLang="en-US" sz="15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다운스트림</a:t>
            </a: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작업에 적용할 수 있는 </a:t>
            </a: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AI </a:t>
            </a: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모델 유형을 말함</a:t>
            </a:r>
            <a:endParaRPr kumimoji="1"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kumimoji="1"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kumimoji="1"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kumimoji="1" lang="en-US" altLang="ko-KR" sz="20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  <p:sp>
        <p:nvSpPr>
          <p:cNvPr id="3" name="AutoShape 4" descr="대형 언어 모델(Large Language Models, LLM)이란 무엇인가요?">
            <a:extLst>
              <a:ext uri="{FF2B5EF4-FFF2-40B4-BE49-F238E27FC236}">
                <a16:creationId xmlns:a16="http://schemas.microsoft.com/office/drawing/2014/main" id="{1BA7A9C8-754D-4D5A-9B75-F0455D320D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56E096-E526-2AFB-159A-22F7221B51FB}"/>
              </a:ext>
            </a:extLst>
          </p:cNvPr>
          <p:cNvSpPr txBox="1"/>
          <p:nvPr/>
        </p:nvSpPr>
        <p:spPr>
          <a:xfrm>
            <a:off x="8004220" y="6598364"/>
            <a:ext cx="37477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https://arxiv.org/abs/2303.18223?utm_source=pytorchkr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491534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273" y="13415"/>
            <a:ext cx="10515600" cy="11537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1. Contents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549711" y="807083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458273" y="1007031"/>
            <a:ext cx="10515600" cy="36197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AutoNum type="arabicPeriod"/>
            </a:pPr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What is LLM?</a:t>
            </a:r>
          </a:p>
          <a:p>
            <a:endParaRPr kumimoji="1" lang="en-US" altLang="ko-KR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대형 언어 모델</a:t>
            </a: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(Large</a:t>
            </a: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Language</a:t>
            </a:r>
            <a:r>
              <a:rPr kumimoji="1"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kumimoji="1"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Model, LLM)</a:t>
            </a:r>
          </a:p>
          <a:p>
            <a:endParaRPr kumimoji="1" lang="en-US" altLang="ko-KR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sp>
        <p:nvSpPr>
          <p:cNvPr id="3" name="AutoShape 4" descr="대형 언어 모델(Large Language Models, LLM)이란 무엇인가요?">
            <a:extLst>
              <a:ext uri="{FF2B5EF4-FFF2-40B4-BE49-F238E27FC236}">
                <a16:creationId xmlns:a16="http://schemas.microsoft.com/office/drawing/2014/main" id="{1BA7A9C8-754D-4D5A-9B75-F0455D320D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C51BB34-0064-4B7E-6638-0CB68D9DB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494" y="1960814"/>
            <a:ext cx="9599012" cy="44718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56E096-E526-2AFB-159A-22F7221B51FB}"/>
              </a:ext>
            </a:extLst>
          </p:cNvPr>
          <p:cNvSpPr txBox="1"/>
          <p:nvPr/>
        </p:nvSpPr>
        <p:spPr>
          <a:xfrm>
            <a:off x="8004220" y="6598364"/>
            <a:ext cx="37477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https://arxiv.org/abs/2303.18223?utm_source=pytorchkr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679183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1. Introduction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3E7BF61-FD83-4738-3B09-722774B1E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945" y="1470120"/>
            <a:ext cx="3141811" cy="4955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531690-3B0E-06E3-2CC7-CD9929266BAD}"/>
              </a:ext>
            </a:extLst>
          </p:cNvPr>
          <p:cNvSpPr txBox="1"/>
          <p:nvPr/>
        </p:nvSpPr>
        <p:spPr>
          <a:xfrm>
            <a:off x="5461358" y="3070527"/>
            <a:ext cx="60949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“Large Language Models are Few-Shot Health Learners”, Consumer Health R	</a:t>
            </a:r>
            <a:r>
              <a:rPr lang="en-US" altLang="ko-KR" b="1" dirty="0" err="1"/>
              <a:t>esearch</a:t>
            </a:r>
            <a:r>
              <a:rPr lang="en-US" altLang="ko-KR" b="1" dirty="0"/>
              <a:t> Team, Google</a:t>
            </a:r>
          </a:p>
          <a:p>
            <a:endParaRPr lang="en-US" altLang="ko-KR" b="1" dirty="0"/>
          </a:p>
          <a:p>
            <a:r>
              <a:rPr lang="nl-NL" altLang="ko-KR" b="1" dirty="0"/>
              <a:t>Xin Liu, Daniel McDuff, et al</a:t>
            </a:r>
          </a:p>
          <a:p>
            <a:endParaRPr lang="en-US" altLang="ko-KR" b="1" dirty="0"/>
          </a:p>
          <a:p>
            <a:r>
              <a:rPr lang="en-US" altLang="ko-KR" b="1" dirty="0"/>
              <a:t>Citation : 44, </a:t>
            </a:r>
            <a:r>
              <a:rPr lang="en-US" altLang="ko-KR" b="1" dirty="0" err="1"/>
              <a:t>arXiv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815049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1. Introduction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1. Question-answer pairs for health tasks</a:t>
            </a:r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91344A-83F4-DBEA-932D-8763D5769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98" y="1912551"/>
            <a:ext cx="10788203" cy="415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350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1. Introduction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1. Abstract</a:t>
            </a:r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17988B-CF5B-EF34-99F1-CC70C9761667}"/>
              </a:ext>
            </a:extLst>
          </p:cNvPr>
          <p:cNvSpPr txBox="1"/>
          <p:nvPr/>
        </p:nvSpPr>
        <p:spPr>
          <a:xfrm>
            <a:off x="991661" y="2642285"/>
            <a:ext cx="39761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Novelty</a:t>
            </a:r>
          </a:p>
          <a:p>
            <a:pPr marL="342900" indent="-342900">
              <a:buAutoNum type="arabicPeriod"/>
            </a:pPr>
            <a:r>
              <a:rPr lang="en-US" altLang="ko-KR" dirty="0"/>
              <a:t>Curate a consumer health tasks</a:t>
            </a:r>
          </a:p>
          <a:p>
            <a:pPr marL="342900" indent="-342900">
              <a:buAutoNum type="arabicPeriod"/>
            </a:pPr>
            <a:r>
              <a:rPr lang="en-US" altLang="ko-KR" dirty="0"/>
              <a:t>Demonstrate the capability of  LLM</a:t>
            </a:r>
          </a:p>
          <a:p>
            <a:pPr marL="342900" indent="-342900">
              <a:buAutoNum type="arabicPeriod"/>
            </a:pPr>
            <a:r>
              <a:rPr lang="en-US" altLang="ko-KR" dirty="0"/>
              <a:t>Expose the limitations of LLM</a:t>
            </a:r>
          </a:p>
          <a:p>
            <a:pPr marL="342900" indent="-342900">
              <a:buAutoNum type="arabicPeriod"/>
            </a:pPr>
            <a:r>
              <a:rPr lang="en-US" altLang="ko-KR" dirty="0"/>
              <a:t>Present an set of tuned models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73C895B-BA81-EB14-BA76-6B6309EA3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738" y="1486089"/>
            <a:ext cx="5812832" cy="454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276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Method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990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+mj-lt"/>
              <a:buAutoNum type="arabicPeriod"/>
            </a:pPr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Architecture</a:t>
            </a:r>
          </a:p>
          <a:p>
            <a:endParaRPr kumimoji="1" lang="en-US" altLang="ko-KR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kumimoji="1" lang="en-US" altLang="ko-KR" sz="20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PaLM</a:t>
            </a:r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Google pretrained model(54 billion parameter – transformer architecture)</a:t>
            </a:r>
          </a:p>
          <a:p>
            <a:endParaRPr kumimoji="1" lang="en-US" altLang="ko-KR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pic>
        <p:nvPicPr>
          <p:cNvPr id="1026" name="Picture 2" descr="모델이 커질수록 다양한 태스크를 수행할 수 있는 능력이 커집니다.">
            <a:extLst>
              <a:ext uri="{FF2B5EF4-FFF2-40B4-BE49-F238E27FC236}">
                <a16:creationId xmlns:a16="http://schemas.microsoft.com/office/drawing/2014/main" id="{5D500036-26F5-294D-9E17-3C2B3D2DA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006676"/>
            <a:ext cx="5980088" cy="2178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영어 NLP 태스크에서 SOTA를 얻은 PaLM 540B">
            <a:extLst>
              <a:ext uri="{FF2B5EF4-FFF2-40B4-BE49-F238E27FC236}">
                <a16:creationId xmlns:a16="http://schemas.microsoft.com/office/drawing/2014/main" id="{48826215-060A-0611-E9E6-80B7A1FB7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512" y="3006676"/>
            <a:ext cx="5448597" cy="2447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247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Method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990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A13076-EEA6-4611-B1C5-86BBD4965615}"/>
              </a:ext>
            </a:extLst>
          </p:cNvPr>
          <p:cNvSpPr txBox="1"/>
          <p:nvPr/>
        </p:nvSpPr>
        <p:spPr>
          <a:xfrm>
            <a:off x="838200" y="1460540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8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1. What is few-shot learning?</a:t>
            </a:r>
            <a:endParaRPr kumimoji="1" lang="ko-KR" altLang="en-US" sz="18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FD7693-2A20-776D-BB1D-58145F0437A6}"/>
              </a:ext>
            </a:extLst>
          </p:cNvPr>
          <p:cNvSpPr txBox="1"/>
          <p:nvPr/>
        </p:nvSpPr>
        <p:spPr>
          <a:xfrm>
            <a:off x="838200" y="1886700"/>
            <a:ext cx="677513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“Few</a:t>
            </a:r>
            <a:r>
              <a:rPr lang="ko-KR" altLang="en-US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한 데이터도 잘 분류할 수 있다는 것</a:t>
            </a:r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” -&gt; </a:t>
            </a:r>
            <a:r>
              <a:rPr lang="ko-KR" altLang="en-US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즉 구분하는 방법을 배우는 것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09ECAFE-C4CC-0DA5-A245-4119D2CD8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408" y="2324610"/>
            <a:ext cx="6905334" cy="387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1C5433-467B-D9A8-ED1E-305969AC6244}"/>
              </a:ext>
            </a:extLst>
          </p:cNvPr>
          <p:cNvSpPr txBox="1"/>
          <p:nvPr/>
        </p:nvSpPr>
        <p:spPr>
          <a:xfrm>
            <a:off x="7123627" y="6392718"/>
            <a:ext cx="609492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https://zzaebok.github.io/machine_learning/FSL/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B0E1C4B-3965-68D5-6237-200FEFA9EAF3}"/>
              </a:ext>
            </a:extLst>
          </p:cNvPr>
          <p:cNvCxnSpPr>
            <a:cxnSpLocks/>
          </p:cNvCxnSpPr>
          <p:nvPr/>
        </p:nvCxnSpPr>
        <p:spPr>
          <a:xfrm>
            <a:off x="9982200" y="2929944"/>
            <a:ext cx="0" cy="1461752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6A7553F-B88F-8EB0-30E7-9D243B128C38}"/>
              </a:ext>
            </a:extLst>
          </p:cNvPr>
          <p:cNvSpPr txBox="1"/>
          <p:nvPr/>
        </p:nvSpPr>
        <p:spPr>
          <a:xfrm>
            <a:off x="8364828" y="4604197"/>
            <a:ext cx="3221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Training set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없는 클래스를 맞추는 문제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C78116F-88EB-5F2D-0A9A-B37F6261D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5570" y="767191"/>
            <a:ext cx="3792378" cy="197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927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Method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990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A13076-EEA6-4611-B1C5-86BBD4965615}"/>
              </a:ext>
            </a:extLst>
          </p:cNvPr>
          <p:cNvSpPr txBox="1"/>
          <p:nvPr/>
        </p:nvSpPr>
        <p:spPr>
          <a:xfrm>
            <a:off x="838200" y="1460540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8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1. What is few-shot learning?</a:t>
            </a:r>
            <a:endParaRPr kumimoji="1" lang="ko-KR" altLang="en-US" sz="18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C5433-467B-D9A8-ED1E-305969AC6244}"/>
              </a:ext>
            </a:extLst>
          </p:cNvPr>
          <p:cNvSpPr txBox="1"/>
          <p:nvPr/>
        </p:nvSpPr>
        <p:spPr>
          <a:xfrm>
            <a:off x="7123627" y="6392718"/>
            <a:ext cx="609492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https://zzaebok.github.io/machine_learning/FSL/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73885B04-53E3-9AF3-69D8-34B6C009D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7611" y="2312297"/>
            <a:ext cx="7557685" cy="3642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B85586-8F62-A130-13FF-B475C09D4311}"/>
              </a:ext>
            </a:extLst>
          </p:cNvPr>
          <p:cNvSpPr txBox="1"/>
          <p:nvPr/>
        </p:nvSpPr>
        <p:spPr>
          <a:xfrm>
            <a:off x="838200" y="1886700"/>
            <a:ext cx="67751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K-way n-shot</a:t>
            </a:r>
          </a:p>
          <a:p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K : class, n : sample size</a:t>
            </a:r>
            <a:endParaRPr lang="ko-KR" alt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6733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Method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990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A13076-EEA6-4611-B1C5-86BBD4965615}"/>
              </a:ext>
            </a:extLst>
          </p:cNvPr>
          <p:cNvSpPr txBox="1"/>
          <p:nvPr/>
        </p:nvSpPr>
        <p:spPr>
          <a:xfrm>
            <a:off x="838200" y="1413352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8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Dataset</a:t>
            </a:r>
            <a:endParaRPr kumimoji="1" lang="ko-KR" altLang="en-US" sz="18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783CA4-34FE-5F50-0064-361B321E7D85}"/>
              </a:ext>
            </a:extLst>
          </p:cNvPr>
          <p:cNvSpPr txBox="1"/>
          <p:nvPr/>
        </p:nvSpPr>
        <p:spPr>
          <a:xfrm>
            <a:off x="892700" y="1739702"/>
            <a:ext cx="105156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Cardiovascular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HRs to Average HR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IBIs(</a:t>
            </a:r>
            <a:r>
              <a:rPr lang="en-US" altLang="ko-KR" dirty="0" err="1"/>
              <a:t>interbeat</a:t>
            </a:r>
            <a:r>
              <a:rPr lang="en-US" altLang="ko-KR" dirty="0"/>
              <a:t> intervals) to HR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IBIs(</a:t>
            </a:r>
            <a:r>
              <a:rPr lang="en-US" altLang="ko-KR" dirty="0" err="1"/>
              <a:t>interbeat</a:t>
            </a:r>
            <a:r>
              <a:rPr lang="en-US" altLang="ko-KR" dirty="0"/>
              <a:t> intervals) to </a:t>
            </a:r>
            <a:r>
              <a:rPr lang="en-US" altLang="ko-KR" dirty="0" err="1"/>
              <a:t>A.Fib</a:t>
            </a:r>
            <a:r>
              <a:rPr lang="en-US" altLang="ko-KR" dirty="0"/>
              <a:t>(atrial fibrillation).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IBIs(</a:t>
            </a:r>
            <a:r>
              <a:rPr lang="en-US" altLang="ko-KR" dirty="0" err="1"/>
              <a:t>interbeat</a:t>
            </a:r>
            <a:r>
              <a:rPr lang="en-US" altLang="ko-KR" dirty="0"/>
              <a:t> intervals) to Sinus B.(sinus bradycardia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)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IBIs(</a:t>
            </a:r>
            <a:r>
              <a:rPr lang="en-US" altLang="ko-KR" dirty="0" err="1"/>
              <a:t>interbeat</a:t>
            </a:r>
            <a:r>
              <a:rPr lang="en-US" altLang="ko-KR" dirty="0"/>
              <a:t> intervals) to Sinus T(sinus tachycardia).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-US" altLang="ko-KR" sz="2000" b="1" dirty="0"/>
              <a:t>Activity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IMU(Inertial Measurement Unit) Activity – walking, running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-US" altLang="ko-KR" b="1" dirty="0"/>
              <a:t>Metabolic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Calories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-US" altLang="ko-KR" sz="2000" b="1" dirty="0" err="1"/>
              <a:t>Mhealth</a:t>
            </a:r>
            <a:endParaRPr lang="en-US" altLang="ko-K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Fitbit to Stress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Fitbit to PHQ(Patient health questionnaire)</a:t>
            </a:r>
          </a:p>
          <a:p>
            <a:endParaRPr lang="en-US" altLang="ko-KR" dirty="0"/>
          </a:p>
          <a:p>
            <a:r>
              <a:rPr lang="en-US" altLang="ko-KR" dirty="0"/>
              <a:t> Fitbit metrics (step count, resting heart rate and heart rate during non-REM sleep and sleep duration)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B3D106-5BAC-1729-AAC7-FCB7FADEF40E}"/>
                  </a:ext>
                </a:extLst>
              </p:cNvPr>
              <p:cNvSpPr txBox="1"/>
              <p:nvPr/>
            </p:nvSpPr>
            <p:spPr>
              <a:xfrm>
                <a:off x="2667000" y="4876800"/>
                <a:ext cx="52791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𝐶𝑎𝑙𝑜𝑟𝑖𝑒𝑠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𝑀𝐸𝑇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𝑉𝑎𝑙𝑢𝑒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𝐷𝑢𝑟𝑎𝑡𝑖𝑜𝑛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∗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𝑊𝑒𝑖𝑔h𝑡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200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B3D106-5BAC-1729-AAC7-FCB7FADEF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4876800"/>
                <a:ext cx="5279137" cy="276999"/>
              </a:xfrm>
              <a:prstGeom prst="rect">
                <a:avLst/>
              </a:prstGeom>
              <a:blipFill>
                <a:blip r:embed="rId3"/>
                <a:stretch>
                  <a:fillRect l="-693" t="-2222" r="-577" b="-3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6221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Method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990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8B0CD9-55AE-904A-5AC7-833B3C25963C}"/>
              </a:ext>
            </a:extLst>
          </p:cNvPr>
          <p:cNvSpPr txBox="1"/>
          <p:nvPr/>
        </p:nvSpPr>
        <p:spPr>
          <a:xfrm>
            <a:off x="838200" y="1460540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8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1. Zero-Shot learning</a:t>
            </a:r>
            <a:endParaRPr kumimoji="1" lang="ko-KR" altLang="en-US" sz="18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3407EE-61C1-9FAB-C3CC-4363B9EB75A0}"/>
              </a:ext>
            </a:extLst>
          </p:cNvPr>
          <p:cNvSpPr txBox="1"/>
          <p:nvPr/>
        </p:nvSpPr>
        <p:spPr>
          <a:xfrm>
            <a:off x="892700" y="1799888"/>
            <a:ext cx="1040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 : “Classify the following accelerometer data in meters per second squared as either walking or running: 0.052, 0.052, 0.052, 0.051, 0.052, 0.055, 0.051, 0.056, 0.06, 0.064”</a:t>
            </a:r>
          </a:p>
          <a:p>
            <a:endParaRPr lang="en-US" altLang="ko-KR" dirty="0"/>
          </a:p>
          <a:p>
            <a:r>
              <a:rPr lang="en-US" altLang="ko-KR" dirty="0"/>
              <a:t>Label : “Running”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29DE6E-8E36-702B-AD8A-0A8D0A72FFE3}"/>
              </a:ext>
            </a:extLst>
          </p:cNvPr>
          <p:cNvSpPr txBox="1"/>
          <p:nvPr/>
        </p:nvSpPr>
        <p:spPr>
          <a:xfrm>
            <a:off x="892700" y="3222171"/>
            <a:ext cx="5858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Chatgpt4o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2BE844-4379-38B4-19CB-7CB706168B89}"/>
              </a:ext>
            </a:extLst>
          </p:cNvPr>
          <p:cNvSpPr txBox="1"/>
          <p:nvPr/>
        </p:nvSpPr>
        <p:spPr>
          <a:xfrm>
            <a:off x="838200" y="3701193"/>
            <a:ext cx="1040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 : Same textual templates</a:t>
            </a:r>
          </a:p>
          <a:p>
            <a:endParaRPr lang="en-US" altLang="ko-KR" dirty="0"/>
          </a:p>
          <a:p>
            <a:r>
              <a:rPr lang="en-US" altLang="ko-KR" dirty="0"/>
              <a:t>Label : “walking”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DBBFFD1-BB1D-55CF-F196-AFD49D5E0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25" y="3255579"/>
            <a:ext cx="7354306" cy="81714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960DDE1-C4E1-3AFB-CD0A-25F256BDC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5" y="4214411"/>
            <a:ext cx="2359182" cy="247975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C1038F1-16E2-6E9F-13C9-6480CFF838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4817" y="4686248"/>
            <a:ext cx="4928114" cy="127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79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Method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990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F3E49F4-8BCC-1831-D421-90D546251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387" y="1693282"/>
            <a:ext cx="7566913" cy="43185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C974DE-61A9-6AE3-B297-8CA8C6D6B30A}"/>
              </a:ext>
            </a:extLst>
          </p:cNvPr>
          <p:cNvSpPr txBox="1"/>
          <p:nvPr/>
        </p:nvSpPr>
        <p:spPr>
          <a:xfrm>
            <a:off x="892700" y="2755197"/>
            <a:ext cx="31864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Training Methods</a:t>
            </a:r>
          </a:p>
          <a:p>
            <a:pPr marL="342900" indent="-342900">
              <a:buAutoNum type="arabi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Zero-Shot</a:t>
            </a:r>
          </a:p>
          <a:p>
            <a:pPr marL="342900" indent="-342900">
              <a:buAutoNum type="arabi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Prompt Eng</a:t>
            </a:r>
          </a:p>
          <a:p>
            <a:pPr marL="342900" indent="-342900">
              <a:buAutoNum type="arabi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Prompt Tune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213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Method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990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DE0D95-B10D-6D04-F8A7-A298C7353914}"/>
              </a:ext>
            </a:extLst>
          </p:cNvPr>
          <p:cNvSpPr txBox="1"/>
          <p:nvPr/>
        </p:nvSpPr>
        <p:spPr>
          <a:xfrm>
            <a:off x="892700" y="1403712"/>
            <a:ext cx="9989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Prompt Engineering vs Prompt tuning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3FB24EA-F9B3-81A3-C68B-C3AAECFE5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735" y="2465211"/>
            <a:ext cx="3090929" cy="2679491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C95A2C3E-C0DA-CA98-1A12-ED98D95503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272303"/>
              </p:ext>
            </p:extLst>
          </p:nvPr>
        </p:nvGraphicFramePr>
        <p:xfrm>
          <a:off x="892700" y="2083113"/>
          <a:ext cx="7034247" cy="381114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44749">
                  <a:extLst>
                    <a:ext uri="{9D8B030D-6E8A-4147-A177-3AD203B41FA5}">
                      <a16:colId xmlns:a16="http://schemas.microsoft.com/office/drawing/2014/main" val="1163863224"/>
                    </a:ext>
                  </a:extLst>
                </a:gridCol>
                <a:gridCol w="2344749">
                  <a:extLst>
                    <a:ext uri="{9D8B030D-6E8A-4147-A177-3AD203B41FA5}">
                      <a16:colId xmlns:a16="http://schemas.microsoft.com/office/drawing/2014/main" val="3635453484"/>
                    </a:ext>
                  </a:extLst>
                </a:gridCol>
                <a:gridCol w="2344749">
                  <a:extLst>
                    <a:ext uri="{9D8B030D-6E8A-4147-A177-3AD203B41FA5}">
                      <a16:colId xmlns:a16="http://schemas.microsoft.com/office/drawing/2014/main" val="2367050155"/>
                    </a:ext>
                  </a:extLst>
                </a:gridCol>
              </a:tblGrid>
              <a:tr h="34981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Prompt Tun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Prompt Eng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809975"/>
                  </a:ext>
                </a:extLst>
              </a:tr>
              <a:tr h="5954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프롬프트를 </a:t>
                      </a:r>
                      <a:r>
                        <a:rPr lang="ko-KR" altLang="en-US" sz="13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벡터화하여</a:t>
                      </a:r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자동으로 최적화 하는 기법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모델에게 주어지는 입력 문장을 수작업으로 설계하는 기법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883872"/>
                  </a:ext>
                </a:extLst>
              </a:tr>
              <a:tr h="4190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접근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머신러닝</a:t>
                      </a:r>
                      <a:r>
                        <a:rPr lang="en-US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3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임베딩</a:t>
                      </a:r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기법 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경험과 직관을 기반으로 수작업으로 설계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597370"/>
                  </a:ext>
                </a:extLst>
              </a:tr>
              <a:tr h="3498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프롬프트 표현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연속형 벡터 </a:t>
                      </a:r>
                      <a:r>
                        <a:rPr lang="ko-KR" altLang="en-US" sz="13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임베딩</a:t>
                      </a:r>
                      <a:endParaRPr lang="ko-KR" altLang="en-US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텍스트 형태의 입력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560376"/>
                  </a:ext>
                </a:extLst>
              </a:tr>
              <a:tr h="5954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효율성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모델 재훈련 없이 성능 개선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모델 재훈련 없이 성능 개선</a:t>
                      </a:r>
                    </a:p>
                    <a:p>
                      <a:pPr algn="ctr" latinLnBrk="1"/>
                      <a:endParaRPr lang="ko-KR" altLang="en-US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298037"/>
                  </a:ext>
                </a:extLst>
              </a:tr>
              <a:tr h="3498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도메인 지식 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도메인 지식 필요 </a:t>
                      </a:r>
                      <a:r>
                        <a:rPr lang="en-US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x</a:t>
                      </a:r>
                      <a:endParaRPr lang="ko-KR" altLang="en-US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도메인 지식 필요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030876"/>
                  </a:ext>
                </a:extLst>
              </a:tr>
              <a:tr h="5954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적용 사례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복잡한 작업 성능 향상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초기 단계의 간단한 작업 수행 혹은 특정 도메인 작업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62629"/>
                  </a:ext>
                </a:extLst>
              </a:tr>
              <a:tr h="4190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유연성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특정 작업에 최적화된 경우 유용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다양한 작업에 유연하게 적용 가능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829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8391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Method</a:t>
            </a:r>
            <a:endParaRPr kumimoji="1" lang="ko-KR" altLang="en-US" sz="3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990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14</a:t>
            </a:fld>
            <a:endParaRPr kumimoji="1" lang="ko-Kore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088852-F859-B3A3-C62A-99B717D37CE2}"/>
              </a:ext>
            </a:extLst>
          </p:cNvPr>
          <p:cNvSpPr txBox="1"/>
          <p:nvPr/>
        </p:nvSpPr>
        <p:spPr>
          <a:xfrm>
            <a:off x="838200" y="1460540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Prompt tuning</a:t>
            </a:r>
            <a:endParaRPr kumimoji="1" lang="ko-KR" altLang="en-US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BFCE5-A3FC-05B5-CE04-CE60CA995C63}"/>
              </a:ext>
            </a:extLst>
          </p:cNvPr>
          <p:cNvSpPr txBox="1"/>
          <p:nvPr/>
        </p:nvSpPr>
        <p:spPr>
          <a:xfrm>
            <a:off x="892700" y="1899185"/>
            <a:ext cx="8051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The Numerical-only</a:t>
            </a:r>
          </a:p>
          <a:p>
            <a:pPr marL="342900" indent="-342900">
              <a:buAutoNum type="arabicParenR"/>
            </a:pP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The Context-Inclusive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9C4731A-1B8C-9AE8-B23C-3DE75EBE6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700" y="2660723"/>
            <a:ext cx="10237631" cy="354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791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Method</a:t>
            </a:r>
            <a:endParaRPr kumimoji="1" lang="ko-KR" altLang="en-US" sz="3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990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15</a:t>
            </a:fld>
            <a:endParaRPr kumimoji="1" lang="ko-Kore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088852-F859-B3A3-C62A-99B717D37CE2}"/>
              </a:ext>
            </a:extLst>
          </p:cNvPr>
          <p:cNvSpPr txBox="1"/>
          <p:nvPr/>
        </p:nvSpPr>
        <p:spPr>
          <a:xfrm>
            <a:off x="838200" y="1460540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kumimoji="1"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. Prompt Engineering</a:t>
            </a:r>
            <a:endParaRPr kumimoji="1" lang="ko-KR" altLang="en-US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BFCE5-A3FC-05B5-CE04-CE60CA995C63}"/>
              </a:ext>
            </a:extLst>
          </p:cNvPr>
          <p:cNvSpPr txBox="1"/>
          <p:nvPr/>
        </p:nvSpPr>
        <p:spPr>
          <a:xfrm>
            <a:off x="892700" y="1899185"/>
            <a:ext cx="8051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Incorporate additional context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60F794-204C-B1C5-CFD4-5F0B231C1B5C}"/>
              </a:ext>
            </a:extLst>
          </p:cNvPr>
          <p:cNvSpPr txBox="1"/>
          <p:nvPr/>
        </p:nvSpPr>
        <p:spPr>
          <a:xfrm>
            <a:off x="892700" y="2333390"/>
            <a:ext cx="10406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Q : How many total calories will I burn after </a:t>
            </a:r>
            <a:r>
              <a:rPr lang="en-US" altLang="ko-KR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walking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for </a:t>
            </a:r>
            <a:r>
              <a:rPr lang="en-US" altLang="ko-KR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50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minutes? My weight is </a:t>
            </a:r>
            <a:r>
              <a:rPr lang="en-US" altLang="ko-KR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156 </a:t>
            </a:r>
            <a:r>
              <a:rPr lang="en-US" altLang="ko-KR" dirty="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Ibs</a:t>
            </a:r>
            <a:r>
              <a:rPr lang="en-US" altLang="ko-KR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A : 214</a:t>
            </a:r>
          </a:p>
          <a:p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Q : How many total calories I </a:t>
            </a:r>
            <a:r>
              <a:rPr lang="en-US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bured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after </a:t>
            </a:r>
            <a:r>
              <a:rPr lang="en-US" altLang="ko-KR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walking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for </a:t>
            </a:r>
            <a:r>
              <a:rPr lang="en-US" altLang="ko-KR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48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minutes? My weight is </a:t>
            </a:r>
            <a:r>
              <a:rPr lang="en-US" altLang="ko-KR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221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lbs.</a:t>
            </a:r>
          </a:p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A : “ ”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F61369-4955-C897-43BA-215CEB5143BD}"/>
              </a:ext>
            </a:extLst>
          </p:cNvPr>
          <p:cNvSpPr txBox="1"/>
          <p:nvPr/>
        </p:nvSpPr>
        <p:spPr>
          <a:xfrm>
            <a:off x="838200" y="3871986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Supervised Baseline</a:t>
            </a:r>
            <a:endParaRPr kumimoji="1" lang="ko-KR" altLang="en-US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ADF112-DB59-C5C0-2F53-24E955699486}"/>
              </a:ext>
            </a:extLst>
          </p:cNvPr>
          <p:cNvSpPr txBox="1"/>
          <p:nvPr/>
        </p:nvSpPr>
        <p:spPr>
          <a:xfrm>
            <a:off x="892699" y="4552767"/>
            <a:ext cx="96357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Multilayer Perceptron(MLP)</a:t>
            </a:r>
          </a:p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Layer size : 4096 * 1</a:t>
            </a:r>
          </a:p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Setting : 32 TPU-v4</a:t>
            </a:r>
          </a:p>
        </p:txBody>
      </p:sp>
    </p:spTree>
    <p:extLst>
      <p:ext uri="{BB962C8B-B14F-4D97-AF65-F5344CB8AC3E}">
        <p14:creationId xmlns:p14="http://schemas.microsoft.com/office/powerpoint/2010/main" val="812642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Results</a:t>
            </a:r>
            <a:endParaRPr kumimoji="1" lang="ko-KR" altLang="en-US" sz="3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990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16</a:t>
            </a:fld>
            <a:endParaRPr kumimoji="1" lang="ko-Kore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AC014F7-8130-C2F3-A992-ECA6A9056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030" y="1461275"/>
            <a:ext cx="5617939" cy="501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183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Results</a:t>
            </a:r>
            <a:endParaRPr kumimoji="1" lang="ko-KR" altLang="en-US" sz="3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990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17</a:t>
            </a:fld>
            <a:endParaRPr kumimoji="1" lang="ko-Kore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5C17F02-7EC2-C6B2-939A-B7DD04C43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700" y="2234934"/>
            <a:ext cx="9686925" cy="3009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139209-C2AF-183A-FB42-102D85917D3C}"/>
              </a:ext>
            </a:extLst>
          </p:cNvPr>
          <p:cNvSpPr txBox="1"/>
          <p:nvPr/>
        </p:nvSpPr>
        <p:spPr>
          <a:xfrm>
            <a:off x="838200" y="1460540"/>
            <a:ext cx="8621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Does offering more context to the LLM enhance performance?</a:t>
            </a:r>
            <a:endParaRPr kumimoji="1" lang="ko-KR" altLang="en-US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A937D73-25C1-CE83-BB9A-D0EE794D6BCA}"/>
              </a:ext>
            </a:extLst>
          </p:cNvPr>
          <p:cNvSpPr/>
          <p:nvPr/>
        </p:nvSpPr>
        <p:spPr>
          <a:xfrm>
            <a:off x="7495504" y="3629257"/>
            <a:ext cx="579549" cy="1515852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517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Conclusion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CBB36-6193-AA65-D4E3-2173F47F8BAA}"/>
              </a:ext>
            </a:extLst>
          </p:cNvPr>
          <p:cNvSpPr txBox="1"/>
          <p:nvPr/>
        </p:nvSpPr>
        <p:spPr>
          <a:xfrm>
            <a:off x="971550" y="1562100"/>
            <a:ext cx="10191750" cy="156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Conclusion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수치형 데이터에서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LLM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모델의 한계를 보여줌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다른 수치 모델과의 비교는 부족함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Few shot learning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장점을 보여줌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with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생리학적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행동학적 수치 데이터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9541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2849598" y="375911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3698209" y="3053170"/>
            <a:ext cx="4795581" cy="7516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THANK YOU</a:t>
            </a:r>
            <a:endParaRPr kumimoji="1" lang="ko-KR" altLang="en-US" sz="5000" b="1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18217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14580</TotalTime>
  <Words>960</Words>
  <Application>Microsoft Office PowerPoint</Application>
  <PresentationFormat>와이드스크린</PresentationFormat>
  <Paragraphs>191</Paragraphs>
  <Slides>19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7" baseType="lpstr">
      <vt:lpstr>-apple-system</vt:lpstr>
      <vt:lpstr>Noto Sans KR</vt:lpstr>
      <vt:lpstr>Noto Sans KR Medium</vt:lpstr>
      <vt:lpstr>Arial</vt:lpstr>
      <vt:lpstr>Calibri</vt:lpstr>
      <vt:lpstr>Cambria Math</vt:lpstr>
      <vt:lpstr>Wingdings</vt:lpstr>
      <vt:lpstr>Office 테마</vt:lpstr>
      <vt:lpstr>Large Language Models  are Few-Shot Health Learners</vt:lpstr>
      <vt:lpstr>1. Contents</vt:lpstr>
      <vt:lpstr>1. Contents</vt:lpstr>
      <vt:lpstr>1. Introduction</vt:lpstr>
      <vt:lpstr>1. Introduction</vt:lpstr>
      <vt:lpstr>1. Introduction</vt:lpstr>
      <vt:lpstr>2. Method</vt:lpstr>
      <vt:lpstr>2. Method</vt:lpstr>
      <vt:lpstr>2. Method</vt:lpstr>
      <vt:lpstr>2. Method</vt:lpstr>
      <vt:lpstr>2. Method</vt:lpstr>
      <vt:lpstr>2. Method</vt:lpstr>
      <vt:lpstr>2. Method</vt:lpstr>
      <vt:lpstr>2. Method</vt:lpstr>
      <vt:lpstr>2. Method</vt:lpstr>
      <vt:lpstr>3. Results</vt:lpstr>
      <vt:lpstr>3. Results</vt:lpstr>
      <vt:lpstr>4. Conclusion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Review :  Toward a Fully Automated Artificial Pancreas System Using a Bioinspired Reinforcement Learning Design : In Silico Validation</dc:title>
  <dc:creator>박찬영[ 대학원석사과정재학 / 산업경영공학과 ]</dc:creator>
  <cp:lastModifiedBy>hongbum kim</cp:lastModifiedBy>
  <cp:revision>58</cp:revision>
  <dcterms:created xsi:type="dcterms:W3CDTF">2022-12-08T07:49:53Z</dcterms:created>
  <dcterms:modified xsi:type="dcterms:W3CDTF">2024-05-17T04:51:26Z</dcterms:modified>
</cp:coreProperties>
</file>