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46" r:id="rId2"/>
    <p:sldId id="375" r:id="rId3"/>
    <p:sldId id="479" r:id="rId4"/>
    <p:sldId id="480" r:id="rId5"/>
    <p:sldId id="481" r:id="rId6"/>
    <p:sldId id="482" r:id="rId7"/>
    <p:sldId id="483" r:id="rId8"/>
    <p:sldId id="484" r:id="rId9"/>
    <p:sldId id="485" r:id="rId10"/>
    <p:sldId id="496" r:id="rId11"/>
    <p:sldId id="486" r:id="rId12"/>
    <p:sldId id="487" r:id="rId13"/>
    <p:sldId id="489" r:id="rId14"/>
    <p:sldId id="488" r:id="rId15"/>
    <p:sldId id="490" r:id="rId16"/>
    <p:sldId id="491" r:id="rId17"/>
    <p:sldId id="492" r:id="rId18"/>
    <p:sldId id="494" r:id="rId19"/>
    <p:sldId id="495" r:id="rId20"/>
    <p:sldId id="460" r:id="rId21"/>
    <p:sldId id="418" r:id="rId2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79FF9"/>
    <a:srgbClr val="F5F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1520"/>
  </p:normalViewPr>
  <p:slideViewPr>
    <p:cSldViewPr snapToGrid="0">
      <p:cViewPr>
        <p:scale>
          <a:sx n="150" d="100"/>
          <a:sy n="150" d="100"/>
        </p:scale>
        <p:origin x="624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6D9BD-2644-764D-AC55-9028C546D2ED}" type="datetimeFigureOut">
              <a:rPr kumimoji="1" lang="ko-Kore-KR" altLang="en-US" smtClean="0"/>
              <a:t>07/10/2024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5B8BB-7660-B84C-9CB5-ECD67EA308D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1592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6FD4-6F0F-074A-A347-2C6D366F2D5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4035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IB : Latent vector</a:t>
            </a:r>
            <a:r>
              <a:rPr lang="ko-KR" altLang="en-US" dirty="0"/>
              <a:t>를 포함된 모델링 </a:t>
            </a:r>
            <a:r>
              <a:rPr lang="en-US" altLang="ko-KR" dirty="0"/>
              <a:t>: </a:t>
            </a:r>
            <a:r>
              <a:rPr lang="ko-KR" altLang="en-US" dirty="0"/>
              <a:t>어떤 시스템의 불변하는 정보를 파악하기 위해 기저 방정식을 </a:t>
            </a:r>
            <a:r>
              <a:rPr lang="ko-KR" altLang="en-US" dirty="0" err="1"/>
              <a:t>변수들간의</a:t>
            </a:r>
            <a:r>
              <a:rPr lang="ko-KR" altLang="en-US" dirty="0"/>
              <a:t> 관계로 정립하고 관측 데이터로 부터 배운다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19178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Entropy : </a:t>
            </a:r>
            <a:r>
              <a:rPr lang="ko-KR" altLang="en-US" dirty="0"/>
              <a:t>어떤 사건이 발생할 확률이 낮을수록 그 사건에 대한 정보량이 높다고 평가하는 역할</a:t>
            </a:r>
            <a:r>
              <a:rPr lang="en-US" altLang="ko-KR" dirty="0"/>
              <a:t>, log scale + </a:t>
            </a:r>
            <a:r>
              <a:rPr lang="ko-KR" altLang="en-US" dirty="0"/>
              <a:t>음수</a:t>
            </a:r>
            <a:r>
              <a:rPr lang="en-US" altLang="ko-KR" dirty="0"/>
              <a:t> : 0</a:t>
            </a:r>
            <a:r>
              <a:rPr lang="ko-KR" altLang="en-US" dirty="0"/>
              <a:t>과 무한대 사이로 정보량을 </a:t>
            </a:r>
            <a:r>
              <a:rPr lang="ko-KR" altLang="en-US" dirty="0" err="1"/>
              <a:t>스케일링함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공리 참고</a:t>
            </a:r>
            <a:r>
              <a:rPr lang="en-US" altLang="ko-KR" dirty="0"/>
              <a:t>(</a:t>
            </a:r>
            <a:r>
              <a:rPr lang="ko-KR" altLang="en-US" dirty="0"/>
              <a:t>위키피디아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43669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DPI : state(time)</a:t>
            </a:r>
            <a:r>
              <a:rPr lang="ko-KR" altLang="en-US" dirty="0"/>
              <a:t>이 점점 진행될수록 </a:t>
            </a:r>
            <a:r>
              <a:rPr lang="en-US" altLang="ko-KR" dirty="0"/>
              <a:t>X</a:t>
            </a:r>
            <a:r>
              <a:rPr lang="ko-KR" altLang="en-US" dirty="0"/>
              <a:t>와의 연관성은 떨어짐</a:t>
            </a:r>
            <a:endParaRPr lang="en-US" altLang="ko-KR" dirty="0"/>
          </a:p>
          <a:p>
            <a:r>
              <a:rPr lang="en-US" altLang="ko-KR" dirty="0"/>
              <a:t>DPI</a:t>
            </a:r>
            <a:r>
              <a:rPr lang="ko-KR" altLang="en-US" dirty="0"/>
              <a:t> </a:t>
            </a:r>
            <a:r>
              <a:rPr lang="en-US" altLang="ko-KR" dirty="0"/>
              <a:t>corollary : </a:t>
            </a:r>
            <a:r>
              <a:rPr lang="ko-KR" altLang="en-US" dirty="0"/>
              <a:t>데이터를 가공할수록 정보량은 점차 손실됨</a:t>
            </a:r>
            <a:endParaRPr lang="en-US" altLang="ko-KR" dirty="0"/>
          </a:p>
          <a:p>
            <a:r>
              <a:rPr lang="en-US" altLang="ko-KR" dirty="0"/>
              <a:t>F(x) : </a:t>
            </a:r>
            <a:r>
              <a:rPr lang="ko-KR" altLang="en-US" dirty="0"/>
              <a:t>특정 인공지능 모델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21883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GP-VAE : Gaussian process IB approach -&gt; </a:t>
            </a:r>
            <a:r>
              <a:rPr lang="ko-KR" altLang="en-US" dirty="0"/>
              <a:t>필체 이상</a:t>
            </a:r>
            <a:endParaRPr lang="en-US" altLang="ko-KR" dirty="0"/>
          </a:p>
          <a:p>
            <a:r>
              <a:rPr lang="en-US" altLang="ko-KR" dirty="0"/>
              <a:t>HI-VAE : Extrapolation</a:t>
            </a:r>
            <a:r>
              <a:rPr lang="ko-KR" altLang="en-US" dirty="0"/>
              <a:t>에서 성능이 구림 </a:t>
            </a:r>
            <a:r>
              <a:rPr lang="en-US" altLang="ko-KR" dirty="0"/>
              <a:t>-&gt; </a:t>
            </a:r>
            <a:r>
              <a:rPr lang="ko-KR" altLang="en-US" dirty="0"/>
              <a:t>중간에</a:t>
            </a:r>
            <a:r>
              <a:rPr lang="en-US" altLang="ko-KR" dirty="0"/>
              <a:t> </a:t>
            </a:r>
            <a:r>
              <a:rPr lang="ko-KR" altLang="en-US" dirty="0"/>
              <a:t>있으면 의미 파악하지만 마지막에 </a:t>
            </a:r>
            <a:r>
              <a:rPr lang="ko-KR" altLang="en-US" dirty="0" err="1"/>
              <a:t>있을시</a:t>
            </a:r>
            <a:r>
              <a:rPr lang="ko-KR" altLang="en-US" dirty="0"/>
              <a:t> 학습 잘 안됨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09966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e.g. : for example </a:t>
            </a:r>
            <a:r>
              <a:rPr lang="ko-KR" altLang="en-US" dirty="0"/>
              <a:t>라틴어</a:t>
            </a:r>
            <a:endParaRPr lang="en-US" altLang="ko-KR" dirty="0"/>
          </a:p>
          <a:p>
            <a:r>
              <a:rPr lang="en-US" altLang="ko-KR" dirty="0"/>
              <a:t>Objective : </a:t>
            </a:r>
            <a:r>
              <a:rPr lang="ko-KR" altLang="en-US" dirty="0"/>
              <a:t>단순하게 세우면 </a:t>
            </a:r>
            <a:r>
              <a:rPr lang="en-US" altLang="ko-KR" dirty="0"/>
              <a:t>temporal </a:t>
            </a:r>
            <a:r>
              <a:rPr lang="en-US" altLang="ko-KR" dirty="0" err="1"/>
              <a:t>depdency</a:t>
            </a:r>
            <a:r>
              <a:rPr lang="ko-KR" altLang="en-US" dirty="0"/>
              <a:t>를 생각보다 잘 포착하지 못함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83612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e.g. : for example </a:t>
            </a:r>
            <a:r>
              <a:rPr lang="ko-KR" altLang="en-US" dirty="0"/>
              <a:t>라틴어</a:t>
            </a:r>
            <a:endParaRPr lang="en-US" altLang="ko-KR" dirty="0"/>
          </a:p>
          <a:p>
            <a:r>
              <a:rPr lang="en-US" altLang="ko-KR" dirty="0"/>
              <a:t>Objective : </a:t>
            </a:r>
            <a:r>
              <a:rPr lang="ko-KR" altLang="en-US" dirty="0"/>
              <a:t>단순하게 세우면 </a:t>
            </a:r>
            <a:r>
              <a:rPr lang="en-US" altLang="ko-KR" dirty="0"/>
              <a:t>temporal </a:t>
            </a:r>
            <a:r>
              <a:rPr lang="en-US" altLang="ko-KR" dirty="0" err="1"/>
              <a:t>depdency</a:t>
            </a:r>
            <a:r>
              <a:rPr lang="ko-KR" altLang="en-US" dirty="0"/>
              <a:t>를 생각보다 잘 포착하지 못함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3428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증명은 다른 논문에서 증명됨</a:t>
                </a:r>
                <a:endParaRPr lang="en-US" altLang="ko-KR" dirty="0"/>
              </a:p>
              <a:p>
                <a:r>
                  <a:rPr lang="ko-KR" altLang="en-US" dirty="0"/>
                  <a:t>왜 </a:t>
                </a:r>
                <a:r>
                  <a:rPr lang="en-US" altLang="ko-KR" dirty="0"/>
                  <a:t>reconstruction</a:t>
                </a:r>
                <a:r>
                  <a:rPr lang="ko-KR" altLang="en-US" dirty="0" err="1"/>
                  <a:t>텀에서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𝑋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\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𝑡</m:t>
                        </m:r>
                      </m:sub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ko-KR" altLang="en-US" dirty="0"/>
                  <a:t>이</a:t>
                </a:r>
                <a:r>
                  <a:rPr lang="en-US" altLang="ko-KR" baseline="0" dirty="0"/>
                  <a:t> </a:t>
                </a:r>
                <a:r>
                  <a:rPr lang="ko-KR" altLang="en-US" baseline="0" dirty="0"/>
                  <a:t>고려되지 않는지 궁금</a:t>
                </a:r>
                <a:endParaRPr lang="en-US" altLang="ko-KR" baseline="0" dirty="0"/>
              </a:p>
              <a:p>
                <a:endParaRPr lang="en-US" altLang="ko-KR" baseline="0" dirty="0"/>
              </a:p>
              <a:p>
                <a:r>
                  <a:rPr lang="ko-KR" altLang="en-US" baseline="0" dirty="0"/>
                  <a:t>바로 </a:t>
                </a:r>
                <a:r>
                  <a:rPr lang="ko-KR" altLang="en-US" baseline="0" dirty="0" err="1"/>
                  <a:t>구할순</a:t>
                </a:r>
                <a:r>
                  <a:rPr lang="ko-KR" altLang="en-US" baseline="0" dirty="0"/>
                  <a:t> 없으니 </a:t>
                </a:r>
                <a:r>
                  <a:rPr lang="en-US" altLang="ko-KR" baseline="0" dirty="0"/>
                  <a:t>ELBO</a:t>
                </a:r>
                <a:r>
                  <a:rPr lang="ko-KR" altLang="en-US" baseline="0" dirty="0"/>
                  <a:t>라는 파라미터 추정 기법들을 활용하여 매개변수 최적화에 사용함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증명은 다른 논문에서 증명됨</a:t>
                </a:r>
                <a:endParaRPr lang="en-US" altLang="ko-KR" dirty="0"/>
              </a:p>
              <a:p>
                <a:r>
                  <a:rPr lang="ko-KR" altLang="en-US" dirty="0"/>
                  <a:t>왜 </a:t>
                </a:r>
                <a:r>
                  <a:rPr lang="en-US" altLang="ko-KR" dirty="0"/>
                  <a:t>reconstruction</a:t>
                </a:r>
                <a:r>
                  <a:rPr lang="ko-KR" altLang="en-US" dirty="0" err="1"/>
                  <a:t>텀에서</a:t>
                </a:r>
                <a:r>
                  <a:rPr lang="ko-KR" altLang="en-US" dirty="0"/>
                  <a:t> </a:t>
                </a:r>
                <a:r>
                  <a:rPr lang="en-US" altLang="ko-KR" b="0" i="0" dirty="0">
                    <a:latin typeface="Cambria Math" panose="02040503050406030204" pitchFamily="18" charset="0"/>
                    <a:ea typeface="Noto Sans KR" panose="020B0200000000000000" pitchFamily="50" charset="-127"/>
                  </a:rPr>
                  <a:t>𝑋_(\𝑡)^𝑜</a:t>
                </a:r>
                <a:r>
                  <a:rPr lang="ko-KR" altLang="en-US" dirty="0"/>
                  <a:t>이</a:t>
                </a:r>
                <a:r>
                  <a:rPr lang="en-US" altLang="ko-KR" baseline="0" dirty="0"/>
                  <a:t> </a:t>
                </a:r>
                <a:r>
                  <a:rPr lang="ko-KR" altLang="en-US" baseline="0" dirty="0"/>
                  <a:t>고려되지 않는지 궁금</a:t>
                </a:r>
                <a:endParaRPr lang="en-US" altLang="ko-KR" baseline="0" dirty="0"/>
              </a:p>
              <a:p>
                <a:endParaRPr lang="en-US" altLang="ko-KR" baseline="0" dirty="0"/>
              </a:p>
              <a:p>
                <a:r>
                  <a:rPr lang="ko-KR" altLang="en-US" baseline="0" dirty="0"/>
                  <a:t>바로 </a:t>
                </a:r>
                <a:r>
                  <a:rPr lang="ko-KR" altLang="en-US" baseline="0" dirty="0" err="1"/>
                  <a:t>구할순</a:t>
                </a:r>
                <a:r>
                  <a:rPr lang="ko-KR" altLang="en-US" baseline="0" dirty="0"/>
                  <a:t> 없으니 </a:t>
                </a:r>
                <a:r>
                  <a:rPr lang="en-US" altLang="ko-KR" baseline="0" dirty="0"/>
                  <a:t>ELBO</a:t>
                </a:r>
                <a:r>
                  <a:rPr lang="ko-KR" altLang="en-US" baseline="0" dirty="0"/>
                  <a:t>라는 파라미터 추정 기법들을 활용하여 매개변수 최적화에 사용함</a:t>
                </a:r>
                <a:endParaRPr lang="en-US" altLang="ko-KR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39553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왜 </a:t>
                </a:r>
                <a:r>
                  <a:rPr lang="en-US" altLang="ko-KR" dirty="0"/>
                  <a:t>reconstruction</a:t>
                </a:r>
                <a:r>
                  <a:rPr lang="ko-KR" altLang="en-US" dirty="0" err="1"/>
                  <a:t>텀에서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𝑋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\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𝑡</m:t>
                        </m:r>
                      </m:sub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ko-KR" altLang="en-US" dirty="0"/>
                  <a:t>이</a:t>
                </a:r>
                <a:r>
                  <a:rPr lang="en-US" altLang="ko-KR" baseline="0" dirty="0"/>
                  <a:t> </a:t>
                </a:r>
                <a:r>
                  <a:rPr lang="ko-KR" altLang="en-US" baseline="0" dirty="0"/>
                  <a:t>고려되지 않는지 궁금</a:t>
                </a:r>
                <a:endParaRPr lang="en-US" altLang="ko-KR" baseline="0" dirty="0"/>
              </a:p>
              <a:p>
                <a:r>
                  <a:rPr lang="en-US" altLang="ko-KR" baseline="0" dirty="0"/>
                  <a:t>Chain rule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왜 </a:t>
                </a:r>
                <a:r>
                  <a:rPr lang="en-US" altLang="ko-KR" dirty="0"/>
                  <a:t>reconstruction</a:t>
                </a:r>
                <a:r>
                  <a:rPr lang="ko-KR" altLang="en-US" dirty="0" err="1"/>
                  <a:t>텀에서</a:t>
                </a:r>
                <a:r>
                  <a:rPr lang="ko-KR" altLang="en-US" dirty="0"/>
                  <a:t> </a:t>
                </a:r>
                <a:r>
                  <a:rPr lang="en-US" altLang="ko-KR" b="0" i="0" dirty="0">
                    <a:latin typeface="Cambria Math" panose="02040503050406030204" pitchFamily="18" charset="0"/>
                    <a:ea typeface="Noto Sans KR" panose="020B0200000000000000" pitchFamily="50" charset="-127"/>
                  </a:rPr>
                  <a:t>𝑋_(\𝑡)^𝑜</a:t>
                </a:r>
                <a:r>
                  <a:rPr lang="ko-KR" altLang="en-US" dirty="0"/>
                  <a:t>이</a:t>
                </a:r>
                <a:r>
                  <a:rPr lang="en-US" altLang="ko-KR" baseline="0" dirty="0"/>
                  <a:t> </a:t>
                </a:r>
                <a:r>
                  <a:rPr lang="ko-KR" altLang="en-US" baseline="0" dirty="0"/>
                  <a:t>고려되지 않는지 궁금</a:t>
                </a:r>
                <a:endParaRPr lang="en-US" altLang="ko-KR" baseline="0" dirty="0"/>
              </a:p>
              <a:p>
                <a:r>
                  <a:rPr lang="en-US" altLang="ko-KR" baseline="0" dirty="0"/>
                  <a:t>Chain rule</a:t>
                </a:r>
                <a:endParaRPr lang="en-US" altLang="ko-KR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86601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86825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19800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기존 </a:t>
                </a:r>
                <a:r>
                  <a:rPr lang="en-US" altLang="ko-KR" dirty="0"/>
                  <a:t>: </a:t>
                </a:r>
                <a:r>
                  <a:rPr lang="ko-KR" altLang="en-US" dirty="0" err="1"/>
                  <a:t>가우시안</a:t>
                </a:r>
                <a:r>
                  <a:rPr lang="en-US" altLang="ko-KR" dirty="0"/>
                  <a:t>(RBF) </a:t>
                </a:r>
                <a:r>
                  <a:rPr lang="ko-KR" altLang="en-US" dirty="0"/>
                  <a:t>커널</a:t>
                </a:r>
                <a:endParaRPr lang="en-US" altLang="ko-KR" dirty="0"/>
              </a:p>
              <a:p>
                <a:r>
                  <a:rPr lang="ko-KR" altLang="en-US" dirty="0" err="1"/>
                  <a:t>타우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기존 </a:t>
                </a:r>
                <a:r>
                  <a:rPr lang="en-US" altLang="ko-KR" dirty="0"/>
                  <a:t>: </a:t>
                </a:r>
                <a:r>
                  <a:rPr lang="ko-KR" altLang="en-US" dirty="0" err="1"/>
                  <a:t>가우시안</a:t>
                </a:r>
                <a:r>
                  <a:rPr lang="en-US" altLang="ko-KR" dirty="0"/>
                  <a:t>(RBF) </a:t>
                </a:r>
                <a:r>
                  <a:rPr lang="ko-KR" altLang="en-US" dirty="0"/>
                  <a:t>커널</a:t>
                </a:r>
                <a:endParaRPr lang="en-US" altLang="ko-KR" dirty="0"/>
              </a:p>
              <a:p>
                <a:r>
                  <a:rPr lang="ko-KR" altLang="en-US" dirty="0" err="1"/>
                  <a:t>타우</a:t>
                </a:r>
                <a:r>
                  <a:rPr lang="en-US" altLang="ko-KR" dirty="0"/>
                  <a:t>(</a:t>
                </a:r>
                <a:r>
                  <a:rPr lang="ko-KR" altLang="en-US" i="0">
                    <a:latin typeface="Cambria Math" panose="02040503050406030204" pitchFamily="18" charset="0"/>
                  </a:rPr>
                  <a:t>𝜏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)</a:t>
                </a:r>
                <a:endParaRPr lang="en-US" altLang="ko-KR" dirty="0"/>
              </a:p>
              <a:p>
                <a:endParaRPr lang="en-US" altLang="ko-KR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09004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Beta =0.1, gamma = 0.3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91690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결측치</a:t>
            </a:r>
            <a:r>
              <a:rPr lang="ko-KR" altLang="en-US" dirty="0"/>
              <a:t> 만든 데이터셋 </a:t>
            </a:r>
            <a:r>
              <a:rPr lang="en-US" altLang="ko-KR" dirty="0"/>
              <a:t>+ </a:t>
            </a:r>
            <a:r>
              <a:rPr lang="ko-KR" altLang="en-US" dirty="0"/>
              <a:t>예측 성능을 위한 데이터셋으로 검증 진행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92007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MNAR(</a:t>
            </a:r>
            <a:r>
              <a:rPr lang="ko-KR" altLang="en-US" dirty="0"/>
              <a:t>무작위 결측 </a:t>
            </a:r>
            <a:r>
              <a:rPr lang="en-US" altLang="ko-KR" dirty="0"/>
              <a:t>X) : </a:t>
            </a:r>
            <a:r>
              <a:rPr lang="ko-KR" altLang="en-US" dirty="0" err="1"/>
              <a:t>결측된</a:t>
            </a:r>
            <a:r>
              <a:rPr lang="ko-KR" altLang="en-US" dirty="0"/>
              <a:t> 이유가 있는 데이터 </a:t>
            </a:r>
            <a:r>
              <a:rPr lang="en-US" altLang="ko-KR" dirty="0"/>
              <a:t>EX) </a:t>
            </a:r>
            <a:r>
              <a:rPr lang="ko-KR" altLang="en-US" dirty="0"/>
              <a:t>우울증 환자의 경우 높은 확률로 </a:t>
            </a:r>
            <a:r>
              <a:rPr lang="en-US" altLang="ko-KR" dirty="0"/>
              <a:t>- 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39963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078419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HealingMNIST</a:t>
            </a:r>
            <a:r>
              <a:rPr lang="en-US" altLang="ko-KR" dirty="0"/>
              <a:t> : Missing </a:t>
            </a:r>
            <a:r>
              <a:rPr lang="ko-KR" altLang="en-US" dirty="0"/>
              <a:t>패턴이 있는 데이터셋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95452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HealingMNIST</a:t>
            </a:r>
            <a:r>
              <a:rPr lang="en-US" altLang="ko-KR" dirty="0"/>
              <a:t> : Missing </a:t>
            </a:r>
            <a:r>
              <a:rPr lang="ko-KR" altLang="en-US" dirty="0"/>
              <a:t>패턴이 있는 데이터셋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349054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기존의 </a:t>
            </a:r>
            <a:r>
              <a:rPr lang="en-US" altLang="ko-KR" dirty="0"/>
              <a:t>IB</a:t>
            </a:r>
            <a:r>
              <a:rPr lang="ko-KR" altLang="en-US" dirty="0"/>
              <a:t>는 시간 종속성 파악하지 못함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88521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B2F2E-4010-5354-F5B2-B29D01D4B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9A5401-B77C-98A5-6EB2-E59AE7F07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4FECCE-A5C3-8226-D909-F0B9E327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07/10/2024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8E1CB-3399-AFB7-7277-52352BE8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C7F2B-AB1D-71E9-9486-558BA0F6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7499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21680-5B14-B61A-70EF-AC85827D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904A3-7CBD-9348-56D7-07048158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35814-90F5-D6D8-AE04-D6FD3F91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07/10/2024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9485A-9FFC-05E0-1F6F-377CD409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9A904-41FC-DFC3-B43E-46D65019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29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E534D-416E-946E-903E-7BBB242B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3E3E8B-5E06-1AB1-274D-1BEBCE9F7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F3D40-669B-F093-20AE-D4ABB7F8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07/10/2024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F92659-6B2A-50DC-C940-A1F22685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D8163C-1555-9BAE-C514-BBD32250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3822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6733B-460C-B2E7-02ED-A20E68C5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0646E-6FD2-2E42-8BAB-4827930C1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C3004F-7B83-26EB-31B6-4B892EFC4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1E533-7092-97E9-3275-0398B310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07/10/2024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F2FA06-2CEF-CFC9-9691-597334BE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0C1354-196A-2DA5-E2E6-98C61C69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1978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474F9-FDF5-F9C3-D1C9-1F1433A2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3647C6-33F9-D69F-7FA4-829F90275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DECF2D-369A-96B1-5977-1EA09EA8F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BEFCBA-237F-3BC0-B1BF-58A9843CA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40D8C8-D3AC-7C75-4D5A-DFCAB69CA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25787C-0123-32E6-7032-B830ED32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07/10/2024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2045C7-CDD9-6C5F-073B-ED6AC81B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2B8D11-65CC-5222-C88A-9BCF3966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95225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6F9CC-BCF6-82EE-38D0-791279FB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B49994-B667-7CCE-A8BA-BB6F061B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07/10/2024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E29155-6038-CD9A-620B-0C355068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B14145-F0A3-2C38-3383-B5E19F89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928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9DA578-5E85-0C0D-D833-586E0E5E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07/10/2024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63FFC2-4C4E-8DC4-ACC9-A61C1259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9A0920-51FE-A23A-B0C2-074C538E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1188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86049-5938-8CDB-1087-8544304EA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E557DB-33AC-D8F5-ED5D-4A73DBFE6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731EEE-86E8-1CAD-84A9-5D0108C8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626493-6EE9-5919-F2D9-711A6DF41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07/10/2024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7C275E-4D2B-0870-1510-B013451B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C123A0-0227-255B-929E-C79AC53A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5356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0C9BF-515B-315A-A3F1-42AB23F5B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9D1114-9997-D134-CF5C-7507E7497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D00470-F1B2-EE31-0281-C7E6C7B81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8FE232-FD6F-B3AE-485C-72678F5DB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07/10/2024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70D6A8-CD80-B64A-FC92-F3C96F90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5A7781-3B8C-1EA2-3925-A4FB19F6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8825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DCDB4-AC7A-5A09-DBE7-A9751B28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5E3A7F-0B8F-389A-2A20-C26098BB7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398B4C-248F-CB02-E64D-A49957D2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07/10/2024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CC4D8C-8700-7C9F-2A22-6243FC26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9B4AA-DE14-79AC-DE5B-DE18FB7B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6367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6D9137-FE15-031C-F459-AAD4C9463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574E8A-933E-6989-3454-F1CFF9981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ADD073-25BB-E8AE-F288-106059FB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07/10/2024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AC884-01DA-545C-EE55-15F2D65B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141523-8935-2338-84B9-D289DEE7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249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ADEA76-BAD6-14A4-3F43-7A44D7B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9457C-2F9F-B8BA-FD22-8CB32B9C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4117A-C927-9246-39E2-6ECA1C8B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fld id="{A81CE695-34C9-0C4C-935F-C9CE81A53A21}" type="datetimeFigureOut">
              <a:rPr kumimoji="1" lang="ko-Kore-KR" altLang="en-US" smtClean="0"/>
              <a:pPr/>
              <a:t>07/10/2024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1BD33F-54C9-E685-FD61-A68A2E7B5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A59F7C-B18A-A322-E08D-E8CF63D20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fld id="{94845DB3-6CBB-354F-BA70-189B252AE394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9594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en.wikipedia.org/wiki/Entropy_(information_theory)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33863-B1E8-B34A-AB3A-78498D071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484" y="1309008"/>
            <a:ext cx="11390464" cy="2387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Noto Sans KR" panose="020B0500000000000000" pitchFamily="34" charset="-128"/>
                <a:ea typeface="Noto Sans KR" panose="020B0500000000000000" pitchFamily="34" charset="-128"/>
              </a:rPr>
              <a:t>Conditional Information Bottleneck Approach For Time Series Imputation</a:t>
            </a:r>
            <a:endParaRPr lang="ko-KR" altLang="en-US" sz="36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7828B390-F77A-27D4-9AB6-B267151A199C}"/>
              </a:ext>
            </a:extLst>
          </p:cNvPr>
          <p:cNvSpPr txBox="1">
            <a:spLocks/>
          </p:cNvSpPr>
          <p:nvPr/>
        </p:nvSpPr>
        <p:spPr>
          <a:xfrm>
            <a:off x="551332" y="4904233"/>
            <a:ext cx="1139875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고려대학교 </a:t>
            </a:r>
            <a:r>
              <a:rPr lang="ko-KR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산업경영공학과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데이터 </a:t>
            </a:r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애널리틱스</a:t>
            </a:r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 및 헬스케어 시스템 연구실</a:t>
            </a:r>
            <a:r>
              <a:rPr lang="en-US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(DAHS)</a:t>
            </a: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석사과정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김홍범</a:t>
            </a:r>
            <a:endParaRPr kumimoji="1" lang="ko-KR" altLang="en-US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A37C8C-A9D8-77B4-6C0D-0338708DD9B6}"/>
              </a:ext>
            </a:extLst>
          </p:cNvPr>
          <p:cNvSpPr/>
          <p:nvPr/>
        </p:nvSpPr>
        <p:spPr>
          <a:xfrm>
            <a:off x="551332" y="3748434"/>
            <a:ext cx="11264616" cy="99077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912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31690-3B0E-06E3-2CC7-CD9929266BAD}"/>
              </a:ext>
            </a:extLst>
          </p:cNvPr>
          <p:cNvSpPr txBox="1"/>
          <p:nvPr/>
        </p:nvSpPr>
        <p:spPr>
          <a:xfrm>
            <a:off x="5461358" y="3070527"/>
            <a:ext cx="60949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“Conditional Information Bottleneck Approach For Time Series Imputation , 16 Jan 2024</a:t>
            </a:r>
          </a:p>
          <a:p>
            <a:endParaRPr lang="en-US" altLang="ko-KR" b="1" dirty="0"/>
          </a:p>
          <a:p>
            <a:r>
              <a:rPr lang="en-US" altLang="ko-KR" b="1" dirty="0"/>
              <a:t>MG Choi</a:t>
            </a:r>
            <a:r>
              <a:rPr lang="nl-NL" altLang="ko-KR" b="1" dirty="0"/>
              <a:t>, CH Lee</a:t>
            </a:r>
          </a:p>
          <a:p>
            <a:endParaRPr lang="en-US" altLang="ko-KR" b="1" dirty="0"/>
          </a:p>
          <a:p>
            <a:r>
              <a:rPr lang="en-US" altLang="ko-KR" b="1" dirty="0"/>
              <a:t>Citation : 2, ICLR 2024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826305C-23D6-8ECD-28C2-9C8288D3C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280" y="1625767"/>
            <a:ext cx="2668942" cy="464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4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ED16E92-FAFC-C28E-E606-4F2CC94DE679}"/>
              </a:ext>
            </a:extLst>
          </p:cNvPr>
          <p:cNvSpPr txBox="1">
            <a:spLocks/>
          </p:cNvSpPr>
          <p:nvPr/>
        </p:nvSpPr>
        <p:spPr>
          <a:xfrm>
            <a:off x="892700" y="1466711"/>
            <a:ext cx="10515600" cy="49628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What is Information Bottleneck(IB)?</a:t>
            </a:r>
          </a:p>
          <a:p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en-US" altLang="ko-KR" sz="2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1028" name="Picture 4" descr="post-thumbnail">
            <a:extLst>
              <a:ext uri="{FF2B5EF4-FFF2-40B4-BE49-F238E27FC236}">
                <a16:creationId xmlns:a16="http://schemas.microsoft.com/office/drawing/2014/main" id="{534A1988-1613-AABF-E1AD-CD8873751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994" y="3070642"/>
            <a:ext cx="4983739" cy="280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170294-6462-6191-0B94-B6DAC261C8F1}"/>
              </a:ext>
            </a:extLst>
          </p:cNvPr>
          <p:cNvSpPr txBox="1"/>
          <p:nvPr/>
        </p:nvSpPr>
        <p:spPr>
          <a:xfrm>
            <a:off x="892700" y="1864004"/>
            <a:ext cx="908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복잡한 신호나 데이터에서 중요한 정보를 필터링하는 방법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(Framework)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다양한 방법론들에 적용 가능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필요한 정보만 캐내어 원하는 목적을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효율적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＂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으로 이루고하자는 욕구의 데이터과학적 실현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6F5AE2F-5D32-73B0-23DD-771F1227A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91" y="3722964"/>
            <a:ext cx="5525452" cy="102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05FE0F-AC5C-1DD7-D9D1-ED974B77255C}"/>
              </a:ext>
            </a:extLst>
          </p:cNvPr>
          <p:cNvSpPr txBox="1"/>
          <p:nvPr/>
        </p:nvSpPr>
        <p:spPr>
          <a:xfrm>
            <a:off x="1605455" y="4967151"/>
            <a:ext cx="473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General Deep Learning Framework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1C96FA-D059-980A-4E0B-A9CE8B2E64B8}"/>
              </a:ext>
            </a:extLst>
          </p:cNvPr>
          <p:cNvSpPr txBox="1"/>
          <p:nvPr/>
        </p:nvSpPr>
        <p:spPr>
          <a:xfrm>
            <a:off x="6934200" y="6287987"/>
            <a:ext cx="4030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https://outstanding-pigeon.tistory.com/8</a:t>
            </a:r>
          </a:p>
        </p:txBody>
      </p:sp>
    </p:spTree>
    <p:extLst>
      <p:ext uri="{BB962C8B-B14F-4D97-AF65-F5344CB8AC3E}">
        <p14:creationId xmlns:p14="http://schemas.microsoft.com/office/powerpoint/2010/main" val="2565761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7ED16E92-FAFC-C28E-E606-4F2CC94DE6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2700" y="1466711"/>
                <a:ext cx="10515600" cy="496282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ko-KR" sz="1800" b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What is Information Bottleneck(IB)?</a:t>
                </a:r>
              </a:p>
              <a:p>
                <a:pPr marL="457200" indent="-457200">
                  <a:buAutoNum type="arabicPeriod"/>
                </a:pPr>
                <a:endParaRPr kumimoji="1" lang="en-US" altLang="ko-KR" sz="1800" b="1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Entropy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: 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데이터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X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대해 기대할 수 있는 정보량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/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불확실성</a:t>
                </a: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𝐸𝑛𝑡𝑟𝑜𝑝𝑦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 :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𝐻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𝑋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  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𝑝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(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𝑋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)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[ −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𝑝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(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𝑋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)]= 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  <m:t>𝑥</m:t>
                              </m:r>
                            </m:sub>
                            <m:sup/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  <m:t>(−</m:t>
                              </m:r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𝑝</m:t>
                                  </m:r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(</m:t>
                                  </m:r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𝑥</m:t>
                                  </m:r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))</m:t>
                                  </m:r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  <m:t>𝑝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  <m:t>(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  <m:t>𝑥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/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Conditional Entropy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Y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가 주어졌을 때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X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기대할 수 있는 정보량</a:t>
                </a: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𝐻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𝑋</m:t>
                          </m:r>
                        </m:e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𝑌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 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𝑝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(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𝑋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,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𝑌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)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[−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𝑝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(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𝑋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|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𝑌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)]=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𝐻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(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𝑋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,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𝑌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) 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𝐻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(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𝑌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Relative entropy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 = </a:t>
                </a:r>
                <a:r>
                  <a:rPr lang="en-US" altLang="ko-KR" sz="18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Kullback-Leibler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(KL) distance)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𝐾𝐿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𝑝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𝑞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 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𝑝</m:t>
                                  </m:r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(</m:t>
                                  </m:r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𝑋</m:t>
                                  </m:r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𝑞</m:t>
                                  </m:r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(</m:t>
                                  </m:r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𝑋</m:t>
                                  </m:r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Mutual Information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𝐼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𝑋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;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𝑌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 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𝐾𝐿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𝑝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𝑥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,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𝑦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)</m:t>
                      </m:r>
                      <m:d>
                        <m:dPr>
                          <m:begChr m:val="‖"/>
                          <m:endChr m:val="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d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)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 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𝐻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𝑋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𝐻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𝑋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|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𝑌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)</m:t>
                      </m:r>
                    </m:oMath>
                  </m:oMathPara>
                </a14:m>
                <a:endParaRPr lang="en-US" altLang="ko-KR" sz="1800" b="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/>
                <a:endParaRPr lang="en-US" altLang="ko-KR" sz="1800" b="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3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X</a:t>
                </a:r>
                <a:r>
                  <a:rPr lang="ko-KR" altLang="en-US" sz="13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와</a:t>
                </a:r>
                <a:r>
                  <a:rPr lang="en-US" altLang="ko-KR" sz="13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Y</a:t>
                </a:r>
                <a:r>
                  <a:rPr lang="ko-KR" altLang="en-US" sz="13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통계적 의존성이 클수록 두 </a:t>
                </a:r>
                <a:r>
                  <a:rPr lang="ko-KR" altLang="en-US" sz="13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분포간의</a:t>
                </a:r>
                <a:r>
                  <a:rPr lang="ko-KR" altLang="en-US" sz="13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차이가 커짐</a:t>
                </a:r>
                <a:endParaRPr kumimoji="1" lang="en-US" altLang="ko-KR" sz="1800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:endParaRPr kumimoji="1" lang="en-US" altLang="ko-KR" sz="1800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</mc:Choice>
        <mc:Fallback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7ED16E92-FAFC-C28E-E606-4F2CC94DE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00" y="1466711"/>
                <a:ext cx="10515600" cy="4962823"/>
              </a:xfrm>
              <a:prstGeom prst="rect">
                <a:avLst/>
              </a:prstGeom>
              <a:blipFill>
                <a:blip r:embed="rId3"/>
                <a:stretch>
                  <a:fillRect l="-464" t="-12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9E916F9-49C2-922E-2FEF-191CB53D12F1}"/>
              </a:ext>
            </a:extLst>
          </p:cNvPr>
          <p:cNvSpPr txBox="1"/>
          <p:nvPr/>
        </p:nvSpPr>
        <p:spPr>
          <a:xfrm>
            <a:off x="5832565" y="6183312"/>
            <a:ext cx="53231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dirty="0">
                <a:hlinkClick r:id="rId4"/>
              </a:rPr>
              <a:t>https://en.wikipedia.org/wiki/Entropy_(information_theory)</a:t>
            </a:r>
            <a:endParaRPr lang="en-US" altLang="ko-KR" sz="1300" dirty="0"/>
          </a:p>
          <a:p>
            <a:r>
              <a:rPr lang="en-US" altLang="ko-KR" sz="13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Cover, Thomas M. </a:t>
            </a:r>
            <a:r>
              <a:rPr lang="en-US" altLang="ko-KR" sz="1300" b="0" i="1" dirty="0">
                <a:solidFill>
                  <a:srgbClr val="222222"/>
                </a:solidFill>
                <a:effectLst/>
                <a:latin typeface="-apple-system"/>
              </a:rPr>
              <a:t>Elements of information theory</a:t>
            </a:r>
            <a:r>
              <a:rPr lang="en-US" altLang="ko-KR" sz="13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. John Wiley &amp; Sons, 1999. </a:t>
            </a:r>
            <a:endParaRPr lang="ko-KR" altLang="en-US" sz="13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0E64A4A-E6BD-C5ED-94CD-94CACCF62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3160" y="3536593"/>
            <a:ext cx="2804568" cy="1822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86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7ED16E92-FAFC-C28E-E606-4F2CC94DE6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2700" y="1466711"/>
                <a:ext cx="10515600" cy="496282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ko-KR" sz="1800" b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What is Information Bottleneck(IB)?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kumimoji="1" lang="en-US" altLang="ko-KR" sz="1800" b="1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:r>
                  <a:rPr kumimoji="1" lang="en-US" altLang="ko-KR" sz="1800" b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Markov chain</a:t>
                </a:r>
                <a:endParaRPr kumimoji="1" lang="en-US" altLang="ko-KR" sz="100" b="1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Data-preprocessing inequality(DPI)</a:t>
                </a:r>
                <a:endParaRPr kumimoji="1" lang="en-US" altLang="ko-KR" b="1" i="1" dirty="0">
                  <a:latin typeface="Cambria Math" panose="02040503050406030204" pitchFamily="18" charset="0"/>
                  <a:ea typeface="Noto Sans KR" panose="020B0500000000000000" pitchFamily="34" charset="-127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1" i="1" smtClean="0">
                          <a:latin typeface="Cambria Math" panose="02040503050406030204" pitchFamily="18" charset="0"/>
                          <a:ea typeface="Noto Sans KR" panose="020B0500000000000000" pitchFamily="34" charset="-127"/>
                        </a:rPr>
                        <m:t>𝑰</m:t>
                      </m:r>
                      <m:d>
                        <m:dPr>
                          <m:ctrlP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Noto Sans KR" panose="020B0500000000000000" pitchFamily="34" charset="-127"/>
                            </a:rPr>
                          </m:ctrlPr>
                        </m:dPr>
                        <m:e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Noto Sans KR" panose="020B0500000000000000" pitchFamily="34" charset="-127"/>
                            </a:rPr>
                            <m:t>𝑿</m:t>
                          </m:r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Noto Sans KR" panose="020B0500000000000000" pitchFamily="34" charset="-127"/>
                            </a:rPr>
                            <m:t>;</m:t>
                          </m:r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Noto Sans KR" panose="020B0500000000000000" pitchFamily="34" charset="-127"/>
                            </a:rPr>
                            <m:t>𝒀</m:t>
                          </m:r>
                        </m:e>
                      </m:d>
                      <m:r>
                        <a:rPr kumimoji="1" lang="en-US" altLang="ko-KR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kumimoji="1" lang="en-US" altLang="ko-KR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</m:t>
                      </m:r>
                      <m:d>
                        <m:dPr>
                          <m:ctrlP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</m:oMath>
                  </m:oMathPara>
                </a14:m>
                <a:endParaRPr kumimoji="1" lang="en-US" altLang="ko-KR" b="1" dirty="0">
                  <a:latin typeface="Noto Sans KR" panose="020B0500000000000000" pitchFamily="34" charset="-127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Noto Sans KR" panose="020B0500000000000000" pitchFamily="34" charset="-127"/>
                    <a:ea typeface="Cambria Math" panose="02040503050406030204" pitchFamily="18" charset="0"/>
                  </a:rPr>
                  <a:t>DPI corollary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kumimoji="1"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kumimoji="1"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ko-KR" dirty="0">
                  <a:latin typeface="Noto Sans KR" panose="020B0500000000000000" pitchFamily="34" charset="-127"/>
                  <a:ea typeface="Cambria Math" panose="02040503050406030204" pitchFamily="18" charset="0"/>
                </a:endParaRPr>
              </a:p>
              <a:p>
                <a:pPr lvl="1"/>
                <a:endParaRPr kumimoji="1" lang="en-US" altLang="ko-KR" dirty="0">
                  <a:latin typeface="Noto Sans KR" panose="020B0500000000000000" pitchFamily="34" charset="-127"/>
                  <a:ea typeface="Cambria Math" panose="02040503050406030204" pitchFamily="18" charset="0"/>
                </a:endParaRPr>
              </a:p>
              <a:p>
                <a:r>
                  <a:rPr kumimoji="1" lang="en-US" altLang="ko-KR" sz="1800" b="1" dirty="0">
                    <a:latin typeface="Noto Sans KR" panose="020B0500000000000000" pitchFamily="34" charset="-127"/>
                    <a:ea typeface="Cambria Math" panose="02040503050406030204" pitchFamily="18" charset="0"/>
                  </a:rPr>
                  <a:t>IB principle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ko-KR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  <m:d>
                            <m:d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</m:e>
                          </m:d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  <m:d>
                            <m:d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</m:e>
                          </m:d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r>
                            <a:rPr kumimoji="1" lang="ko-KR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  <m:d>
                            <m:d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ko-KR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</m:e>
                          </m:d>
                        </m:e>
                      </m:func>
                      <m:r>
                        <a:rPr kumimoji="1" lang="en-US" altLang="ko-KR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ko-KR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ko-KR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ko-KR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kumimoji="1" lang="en-US" altLang="ko-KR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  </m:t>
                      </m:r>
                      <m:r>
                        <a:rPr kumimoji="1" lang="ko-KR" alt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kumimoji="1" lang="ko-KR" alt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kumimoji="1" lang="en-US" altLang="ko-KR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kumimoji="1" lang="en-US" altLang="ko-KR" sz="1800" b="1" dirty="0">
                  <a:latin typeface="Noto Sans KR" panose="020B0500000000000000" pitchFamily="34" charset="-127"/>
                  <a:ea typeface="Cambria Math" panose="02040503050406030204" pitchFamily="18" charset="0"/>
                </a:endParaRPr>
              </a:p>
              <a:p>
                <a:endParaRPr kumimoji="1" lang="en-US" altLang="ko-KR" sz="1800" b="1" dirty="0">
                  <a:latin typeface="Noto Sans KR" panose="020B0500000000000000" pitchFamily="34" charset="-127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ko-KR" alt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가 </a:t>
                </a: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크면 클수록 </a:t>
                </a:r>
                <a14:m>
                  <m:oMath xmlns:m="http://schemas.openxmlformats.org/officeDocument/2006/math">
                    <m:r>
                      <a:rPr kumimoji="1" lang="en-US" altLang="ko-KR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kumimoji="1" lang="en-US" altLang="ko-K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ko-KR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kumimoji="1" lang="en-US" altLang="ko-KR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를 굳이 </a:t>
                </a: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X</a:t>
                </a:r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를 </a:t>
                </a: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Compress</a:t>
                </a:r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할 필요가 없음</a:t>
                </a: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(Z=X</a:t>
                </a:r>
                <a:r>
                  <a:rPr kumimoji="1" lang="ko-KR" altLang="en-US" sz="15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일때가</a:t>
                </a:r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kumimoji="1" lang="en-US" altLang="ko-K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ko-KR" altLang="en-US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ko-KR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kumimoji="1" lang="en-US" altLang="ko-KR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가 최대</a:t>
                </a: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ko-KR" alt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가 </a:t>
                </a: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0</a:t>
                </a:r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이면 </a:t>
                </a:r>
                <a14:m>
                  <m:oMath xmlns:m="http://schemas.openxmlformats.org/officeDocument/2006/math">
                    <m:r>
                      <a:rPr kumimoji="1" lang="en-US" altLang="ko-KR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kumimoji="1" lang="en-US" altLang="ko-K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ko-KR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kumimoji="1" lang="en-US" altLang="ko-KR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를 최소화하는 문제</a:t>
                </a: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Z</a:t>
                </a:r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</a:t>
                </a:r>
                <a14:m>
                  <m:oMath xmlns:m="http://schemas.openxmlformats.org/officeDocument/2006/math">
                    <m:r>
                      <a:rPr kumimoji="1" lang="ko-KR" altLang="en-US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정보 </a:t>
                </a: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en-US" altLang="ko-KR" sz="18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kumimoji="1"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Conclusion</a:t>
                </a:r>
              </a:p>
              <a:p>
                <a:endParaRPr kumimoji="1" lang="en-US" altLang="ko-KR" sz="18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IB :</a:t>
                </a:r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관심 있는 </a:t>
                </a:r>
                <a14:m>
                  <m:oMath xmlns:m="http://schemas.openxmlformats.org/officeDocument/2006/math">
                    <m:r>
                      <a:rPr kumimoji="1" lang="ko-KR" alt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대한 정보를 얻기 위해 데이터 </a:t>
                </a: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X</a:t>
                </a:r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를 가공 </a:t>
                </a: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-&gt; General</a:t>
                </a:r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한 모형에도 정보 </a:t>
                </a:r>
                <a:r>
                  <a:rPr kumimoji="1" lang="ko-KR" altLang="en-US" sz="15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손실량을</a:t>
                </a:r>
                <a:r>
                  <a:rPr kumimoji="1"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최소화하는 </a:t>
                </a:r>
                <a:r>
                  <a:rPr kumimoji="1"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framework</a:t>
                </a:r>
              </a:p>
            </p:txBody>
          </p:sp>
        </mc:Choice>
        <mc:Fallback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7ED16E92-FAFC-C28E-E606-4F2CC94DE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00" y="1466711"/>
                <a:ext cx="10515600" cy="4962823"/>
              </a:xfrm>
              <a:prstGeom prst="rect">
                <a:avLst/>
              </a:prstGeom>
              <a:blipFill>
                <a:blip r:embed="rId3"/>
                <a:stretch>
                  <a:fillRect l="-464" t="-12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17A2AE9C-1493-F08F-1034-8D1D58FE2624}"/>
              </a:ext>
            </a:extLst>
          </p:cNvPr>
          <p:cNvGrpSpPr/>
          <p:nvPr/>
        </p:nvGrpSpPr>
        <p:grpSpPr>
          <a:xfrm>
            <a:off x="5753100" y="1679478"/>
            <a:ext cx="2310960" cy="434340"/>
            <a:chOff x="6096000" y="1554480"/>
            <a:chExt cx="2310960" cy="434340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77EEE223-B204-D73F-EB8D-B8150424ACE6}"/>
                </a:ext>
              </a:extLst>
            </p:cNvPr>
            <p:cNvSpPr/>
            <p:nvPr/>
          </p:nvSpPr>
          <p:spPr>
            <a:xfrm>
              <a:off x="6096000" y="1554480"/>
              <a:ext cx="434340" cy="43434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X</a:t>
              </a:r>
              <a:endParaRPr lang="ko-KR" altLang="en-US" b="1" dirty="0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5E410D3-8000-9736-CD3D-1027A7FED968}"/>
                </a:ext>
              </a:extLst>
            </p:cNvPr>
            <p:cNvCxnSpPr>
              <a:stCxn id="11" idx="6"/>
            </p:cNvCxnSpPr>
            <p:nvPr/>
          </p:nvCxnSpPr>
          <p:spPr>
            <a:xfrm>
              <a:off x="6530340" y="1771650"/>
              <a:ext cx="487680" cy="38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E4B4AD1-8F83-039F-2E06-A76F5D4E3FEB}"/>
                </a:ext>
              </a:extLst>
            </p:cNvPr>
            <p:cNvSpPr/>
            <p:nvPr/>
          </p:nvSpPr>
          <p:spPr>
            <a:xfrm>
              <a:off x="7034310" y="1554480"/>
              <a:ext cx="434340" cy="43434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Y</a:t>
              </a:r>
              <a:endParaRPr lang="ko-KR" altLang="en-US" b="1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9DC13299-7887-23FD-9E2F-374A6DF5840B}"/>
                </a:ext>
              </a:extLst>
            </p:cNvPr>
            <p:cNvCxnSpPr/>
            <p:nvPr/>
          </p:nvCxnSpPr>
          <p:spPr>
            <a:xfrm>
              <a:off x="7468650" y="1771650"/>
              <a:ext cx="487680" cy="38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431ED365-8653-810A-0E6B-C0C53F5E3634}"/>
                </a:ext>
              </a:extLst>
            </p:cNvPr>
            <p:cNvSpPr/>
            <p:nvPr/>
          </p:nvSpPr>
          <p:spPr>
            <a:xfrm>
              <a:off x="7972620" y="1554480"/>
              <a:ext cx="434340" cy="43434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Z</a:t>
              </a:r>
              <a:endParaRPr lang="ko-KR" altLang="en-US" b="1" dirty="0"/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55A1EDB-768A-1A9C-B727-96333951F3A8}"/>
              </a:ext>
            </a:extLst>
          </p:cNvPr>
          <p:cNvSpPr/>
          <p:nvPr/>
        </p:nvSpPr>
        <p:spPr>
          <a:xfrm>
            <a:off x="6526310" y="3854450"/>
            <a:ext cx="306290" cy="2832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4159F9C-1B09-A212-92AD-21DF15B526F9}"/>
              </a:ext>
            </a:extLst>
          </p:cNvPr>
          <p:cNvCxnSpPr>
            <a:cxnSpLocks/>
          </p:cNvCxnSpPr>
          <p:nvPr/>
        </p:nvCxnSpPr>
        <p:spPr>
          <a:xfrm flipV="1">
            <a:off x="6675120" y="3540034"/>
            <a:ext cx="1090749" cy="314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AF11D3B-87BC-6CE7-53A4-083DAD101736}"/>
              </a:ext>
            </a:extLst>
          </p:cNvPr>
          <p:cNvSpPr txBox="1"/>
          <p:nvPr/>
        </p:nvSpPr>
        <p:spPr>
          <a:xfrm>
            <a:off x="7765869" y="3429000"/>
            <a:ext cx="279545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관심 있는 정보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A75456-0FAE-DB3B-1DBD-457110B1BCC3}"/>
              </a:ext>
            </a:extLst>
          </p:cNvPr>
          <p:cNvSpPr txBox="1"/>
          <p:nvPr/>
        </p:nvSpPr>
        <p:spPr>
          <a:xfrm>
            <a:off x="4737781" y="3721388"/>
            <a:ext cx="9535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Lagrange multipliers</a:t>
            </a:r>
            <a:endParaRPr lang="ko-KR" altLang="en-US" sz="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D4CBF1-793D-6DC9-FA4A-70C02E2729DF}"/>
              </a:ext>
            </a:extLst>
          </p:cNvPr>
          <p:cNvSpPr txBox="1"/>
          <p:nvPr/>
        </p:nvSpPr>
        <p:spPr>
          <a:xfrm>
            <a:off x="3905594" y="6399760"/>
            <a:ext cx="7720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Shwartz-Ziv, </a:t>
            </a:r>
            <a:r>
              <a:rPr lang="en-US" altLang="ko-KR" sz="10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Ravid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, and Naftali </a:t>
            </a:r>
            <a:r>
              <a:rPr lang="en-US" altLang="ko-KR" sz="10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Tishby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. "Opening the black box of deep neural networks via information." </a:t>
            </a:r>
            <a:r>
              <a:rPr lang="en-US" altLang="ko-KR" sz="1000" b="0" i="1" dirty="0" err="1">
                <a:solidFill>
                  <a:srgbClr val="222222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arXiv</a:t>
            </a:r>
            <a:r>
              <a:rPr lang="en-US" altLang="ko-KR" sz="1000" b="0" i="1" dirty="0">
                <a:solidFill>
                  <a:srgbClr val="222222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preprint arXiv:1703.00810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 (2017).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5611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7EAA5-59F9-22CE-E354-2034FE85565D}"/>
              </a:ext>
            </a:extLst>
          </p:cNvPr>
          <p:cNvSpPr txBox="1"/>
          <p:nvPr/>
        </p:nvSpPr>
        <p:spPr>
          <a:xfrm>
            <a:off x="892700" y="1428750"/>
            <a:ext cx="103595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Time series imputation  challenging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Account for underlying 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temporal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Allow for multiple imputations to facilitate 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uncertainty quantification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for real-world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Motivation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3E566CD-BDC4-5248-6B2A-03FFC2A0E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0" y="3429000"/>
            <a:ext cx="5624513" cy="2641025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93C06EC8-B66C-3AB6-D281-DD749048605B}"/>
              </a:ext>
            </a:extLst>
          </p:cNvPr>
          <p:cNvSpPr/>
          <p:nvPr/>
        </p:nvSpPr>
        <p:spPr>
          <a:xfrm>
            <a:off x="7366000" y="3428999"/>
            <a:ext cx="414338" cy="226325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B01650E-B6B0-539F-A4FC-CC6AB8D7D11C}"/>
              </a:ext>
            </a:extLst>
          </p:cNvPr>
          <p:cNvSpPr/>
          <p:nvPr/>
        </p:nvSpPr>
        <p:spPr>
          <a:xfrm>
            <a:off x="4094162" y="3452927"/>
            <a:ext cx="414338" cy="226325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10BF8E7-7972-471C-929F-AB79A88047D6}"/>
              </a:ext>
            </a:extLst>
          </p:cNvPr>
          <p:cNvCxnSpPr/>
          <p:nvPr/>
        </p:nvCxnSpPr>
        <p:spPr>
          <a:xfrm>
            <a:off x="8661400" y="5046155"/>
            <a:ext cx="50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EE90A59-D343-B65F-9966-9EAEA2DFB235}"/>
              </a:ext>
            </a:extLst>
          </p:cNvPr>
          <p:cNvSpPr txBox="1"/>
          <p:nvPr/>
        </p:nvSpPr>
        <p:spPr>
          <a:xfrm>
            <a:off x="9169400" y="4899961"/>
            <a:ext cx="26289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Another IB approach(Gaussian)</a:t>
            </a:r>
            <a:endParaRPr lang="ko-KR" alt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DAD63327-8021-E232-10DB-780307177F6C}"/>
              </a:ext>
            </a:extLst>
          </p:cNvPr>
          <p:cNvCxnSpPr/>
          <p:nvPr/>
        </p:nvCxnSpPr>
        <p:spPr>
          <a:xfrm>
            <a:off x="8610600" y="5519014"/>
            <a:ext cx="50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144FB8E-B100-EC48-575B-94D80B70A96C}"/>
              </a:ext>
            </a:extLst>
          </p:cNvPr>
          <p:cNvSpPr txBox="1"/>
          <p:nvPr/>
        </p:nvSpPr>
        <p:spPr>
          <a:xfrm>
            <a:off x="9118600" y="5372820"/>
            <a:ext cx="2387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Conventional IB approach</a:t>
            </a:r>
            <a:endParaRPr lang="ko-KR" alt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5059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47EAA5-59F9-22CE-E354-2034FE85565D}"/>
                  </a:ext>
                </a:extLst>
              </p:cNvPr>
              <p:cNvSpPr txBox="1"/>
              <p:nvPr/>
            </p:nvSpPr>
            <p:spPr>
              <a:xfrm>
                <a:off x="892700" y="1428750"/>
                <a:ext cx="10359500" cy="4582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Definition 1 (Imputation)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𝑜</m:t>
                        </m:r>
                      </m:sup>
                    </m:sSup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: </m:t>
                    </m:r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random</m:t>
                    </m:r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variables</m:t>
                    </m:r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for</m:t>
                    </m:r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partially</m:t>
                    </m:r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observed</m:t>
                    </m:r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features</m:t>
                    </m:r>
                  </m:oMath>
                </a14:m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: missing features of 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𝑜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𝑚</m:t>
                        </m:r>
                      </m:sup>
                    </m:sSup>
                  </m:oMath>
                </a14:m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Unsupervised IB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en-US" altLang="ko-KR" sz="18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ko-KR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  <m:d>
                            <m:d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kumimoji="1" lang="en-US" altLang="ko-K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kumimoji="1" lang="en-US" altLang="ko-K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r>
                            <a:rPr kumimoji="1" lang="ko-KR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sSub>
                            <m:sSubPr>
                              <m:ctrlP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kumimoji="1" lang="ko-KR" alt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en-US" altLang="ko-KR" sz="1800" b="1" dirty="0">
                  <a:latin typeface="Noto Sans KR" panose="020B0200000000000000" pitchFamily="50" charset="-127"/>
                  <a:ea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kumimoji="1" lang="en-US" altLang="ko-KR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</a:t>
                </a:r>
                <a:r>
                  <a:rPr kumimoji="1" lang="ko-KR" altLang="en-US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ko-KR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: learnable parameters </a:t>
                </a:r>
              </a:p>
              <a:p>
                <a:pPr algn="r"/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Objective(</a:t>
                </a:r>
                <a:r>
                  <a:rPr lang="en-US" altLang="ko-KR" i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Multiple imputation</a:t>
                </a:r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𝑡</m:t>
                        </m:r>
                      </m:sub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𝑜</m:t>
                        </m:r>
                      </m:sup>
                    </m:sSubSup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: </m:t>
                    </m:r>
                    <m:r>
                      <m:rPr>
                        <m:nor/>
                      </m:rPr>
                      <a:rPr lang="en-US" altLang="ko-KR" b="0" i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Observed</m:t>
                    </m:r>
                    <m:r>
                      <m:rPr>
                        <m:nor/>
                      </m:rPr>
                      <a:rPr lang="en-US" altLang="ko-KR" b="0" i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b="0" i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features</m:t>
                    </m:r>
                    <m:r>
                      <m:rPr>
                        <m:nor/>
                      </m:rPr>
                      <a:rPr lang="en-US" altLang="ko-KR" b="0" i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b="0" i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at</m:t>
                    </m:r>
                    <m:r>
                      <m:rPr>
                        <m:nor/>
                      </m:rPr>
                      <a:rPr lang="en-US" altLang="ko-KR" b="0" i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b="0" i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each</m:t>
                    </m:r>
                    <m:r>
                      <m:rPr>
                        <m:nor/>
                      </m:rPr>
                      <a:rPr lang="en-US" altLang="ko-KR" b="0" i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b="0" i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time</m:t>
                    </m:r>
                    <m:r>
                      <m:rPr>
                        <m:nor/>
                      </m:rPr>
                      <a:rPr lang="en-US" altLang="ko-KR" b="0" i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b="0" i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step</m:t>
                    </m:r>
                  </m:oMath>
                </a14:m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𝑡</m:t>
                        </m:r>
                      </m:sub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Missing features at each time step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𝑡</m:t>
                        </m:r>
                      </m:sub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𝑜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Sup>
                      <m:sSubSupPr>
                        <m:ctrlP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𝑡</m:t>
                        </m:r>
                      </m:sub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𝑚</m:t>
                        </m:r>
                      </m:sup>
                    </m:sSubSup>
                  </m:oMath>
                </a14:m>
                <a:endParaRPr lang="en-US" altLang="ko-KR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en-US" altLang="ko-KR" sz="18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en-US" altLang="ko-KR" sz="18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ko-KR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kumimoji="1" lang="en-US" altLang="ko-K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Sup>
                                <m:sSubSupPr>
                                  <m:ctrlPr>
                                    <a:rPr kumimoji="1" lang="en-US" altLang="ko-K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US" altLang="ko-K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kumimoji="1" lang="en-US" altLang="ko-K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kumimoji="1" lang="en-US" altLang="ko-K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  <m:sup>
                                  <m:r>
                                    <a:rPr kumimoji="1" lang="en-US" altLang="ko-K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𝒐</m:t>
                                  </m:r>
                                </m:sup>
                              </m:sSubSup>
                            </m:e>
                          </m:d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Sup>
                                <m:sSubSup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  <m:sup>
                                  <m: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𝒐</m:t>
                                  </m:r>
                                </m:sup>
                              </m:sSubSup>
                            </m:e>
                          </m:d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ko-KR" alt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kumimoji="1" lang="ko-KR" alt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kumimoji="1"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47EAA5-59F9-22CE-E354-2034FE855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00" y="1428750"/>
                <a:ext cx="10359500" cy="4582408"/>
              </a:xfrm>
              <a:prstGeom prst="rect">
                <a:avLst/>
              </a:prstGeom>
              <a:blipFill>
                <a:blip r:embed="rId3"/>
                <a:stretch>
                  <a:fillRect l="-588" t="-665" r="-8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0615D01-278E-EE25-BB87-D975A67A94EE}"/>
              </a:ext>
            </a:extLst>
          </p:cNvPr>
          <p:cNvCxnSpPr/>
          <p:nvPr/>
        </p:nvCxnSpPr>
        <p:spPr>
          <a:xfrm>
            <a:off x="8362950" y="5626100"/>
            <a:ext cx="10985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B786CA9-B778-4AF9-AD32-B799750858EA}"/>
              </a:ext>
            </a:extLst>
          </p:cNvPr>
          <p:cNvSpPr/>
          <p:nvPr/>
        </p:nvSpPr>
        <p:spPr>
          <a:xfrm>
            <a:off x="5067300" y="5570559"/>
            <a:ext cx="280988" cy="2275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40F2210-CEFE-0810-1782-EC0CD11600EE}"/>
              </a:ext>
            </a:extLst>
          </p:cNvPr>
          <p:cNvCxnSpPr/>
          <p:nvPr/>
        </p:nvCxnSpPr>
        <p:spPr>
          <a:xfrm>
            <a:off x="5397500" y="5753096"/>
            <a:ext cx="215900" cy="95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D1A4EF-D70D-DB59-C33A-BA57997D8CB8}"/>
              </a:ext>
            </a:extLst>
          </p:cNvPr>
          <p:cNvSpPr txBox="1"/>
          <p:nvPr/>
        </p:nvSpPr>
        <p:spPr>
          <a:xfrm>
            <a:off x="5568950" y="5768195"/>
            <a:ext cx="694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Temporal dynamics</a:t>
            </a:r>
            <a:endParaRPr lang="ko-KR" alt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669A5E-C35D-4DDC-F04B-C84FB1E916E5}"/>
              </a:ext>
            </a:extLst>
          </p:cNvPr>
          <p:cNvSpPr txBox="1"/>
          <p:nvPr/>
        </p:nvSpPr>
        <p:spPr>
          <a:xfrm>
            <a:off x="9480550" y="5428734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e.g.,</a:t>
            </a:r>
            <a:r>
              <a:rPr lang="ko-KR" altLang="en-US" dirty="0"/>
              <a:t> </a:t>
            </a:r>
            <a:r>
              <a:rPr lang="en-US" altLang="ko-KR" dirty="0"/>
              <a:t>RNN</a:t>
            </a:r>
            <a:r>
              <a:rPr lang="ko-KR" altLang="en-US" dirty="0"/>
              <a:t> </a:t>
            </a:r>
            <a:r>
              <a:rPr lang="en-US" altLang="ko-KR" dirty="0"/>
              <a:t>or</a:t>
            </a:r>
            <a:r>
              <a:rPr lang="ko-KR" altLang="en-US" dirty="0"/>
              <a:t> </a:t>
            </a:r>
            <a:r>
              <a:rPr lang="en-US" altLang="ko-KR" dirty="0"/>
              <a:t>Transformer</a:t>
            </a:r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A8373C6-8B28-4F5D-7012-8A6BA891002B}"/>
              </a:ext>
            </a:extLst>
          </p:cNvPr>
          <p:cNvCxnSpPr>
            <a:cxnSpLocks/>
          </p:cNvCxnSpPr>
          <p:nvPr/>
        </p:nvCxnSpPr>
        <p:spPr>
          <a:xfrm>
            <a:off x="3989650" y="6356350"/>
            <a:ext cx="772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7BEDB4-C1F2-F48C-FB7B-B902DFFA3C31}"/>
                  </a:ext>
                </a:extLst>
              </p:cNvPr>
              <p:cNvSpPr txBox="1"/>
              <p:nvPr/>
            </p:nvSpPr>
            <p:spPr>
              <a:xfrm>
                <a:off x="4762500" y="6162241"/>
                <a:ext cx="5657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0000"/>
                    </a:solidFill>
                  </a:rPr>
                  <a:t>Loss of information(rely on particular time point(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)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7BEDB4-C1F2-F48C-FB7B-B902DFFA3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6162241"/>
                <a:ext cx="5657850" cy="369332"/>
              </a:xfrm>
              <a:prstGeom prst="rect">
                <a:avLst/>
              </a:prstGeom>
              <a:blipFill>
                <a:blip r:embed="rId4"/>
                <a:stretch>
                  <a:fillRect l="-862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566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47EAA5-59F9-22CE-E354-2034FE85565D}"/>
                  </a:ext>
                </a:extLst>
              </p:cNvPr>
              <p:cNvSpPr txBox="1"/>
              <p:nvPr/>
            </p:nvSpPr>
            <p:spPr>
              <a:xfrm>
                <a:off x="892700" y="1428750"/>
                <a:ext cx="10359500" cy="1454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Definition 2 (Time Series Imputation)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𝑋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\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𝑡</m:t>
                        </m:r>
                      </m:sub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𝑜</m:t>
                        </m:r>
                      </m:sup>
                    </m:sSubSup>
                    <m:r>
                      <m:rPr>
                        <m:nor/>
                      </m:rPr>
                      <a: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m:t>: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𝑟𝑒𝑝𝑟𝑒𝑠𝑒𝑛𝑡𝑠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𝑡h𝑒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𝑟𝑎𝑛𝑑𝑜𝑚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𝑣𝑎𝑟𝑖𝑎𝑏𝑙𝑒𝑠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𝑓𝑜𝑟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𝑡h𝑒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𝑟𝑒𝑚𝑎𝑖𝑛𝑖𝑛𝑔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𝑖𝑛𝑝𝑢𝑡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𝑜𝑏𝑠𝑒𝑟𝑣𝑎𝑡𝑖𝑜𝑛𝑠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,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𝑒𝑥𝑐𝑙𝑢𝑑𝑖𝑛𝑔</m:t>
                    </m:r>
                    <m:sSubSup>
                      <m:sSubSupPr>
                        <m:ctrlP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𝑋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𝑡</m:t>
                        </m:r>
                      </m:sub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𝑜</m:t>
                        </m:r>
                      </m:sup>
                    </m:sSubSup>
                  </m:oMath>
                </a14:m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en-US" altLang="ko-KR" sz="18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ko-KR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Sup>
                                <m:sSubSup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kumimoji="1" lang="en-US" altLang="ko-K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kumimoji="1" lang="en-US" altLang="ko-K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1" lang="en-US" altLang="ko-K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b>
                                        <m:sup>
                                          <m:r>
                                            <a:rPr kumimoji="1" lang="en-US" altLang="ko-K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𝒐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\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b>
                                <m:sup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𝒐</m:t>
                                  </m:r>
                                </m:sup>
                              </m:sSubSup>
                            </m:e>
                          </m:d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ko-KR" alt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sSub>
                            <m:sSubPr>
                              <m:ctrlP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kumimoji="1" lang="ko-KR" alt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kumimoji="1"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47EAA5-59F9-22CE-E354-2034FE855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00" y="1428750"/>
                <a:ext cx="10359500" cy="1454950"/>
              </a:xfrm>
              <a:prstGeom prst="rect">
                <a:avLst/>
              </a:prstGeom>
              <a:blipFill>
                <a:blip r:embed="rId3"/>
                <a:stretch>
                  <a:fillRect l="-588" t="-2092" b="-832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7E9747DC-928D-3D68-B62A-72194ECC53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76" r="351" b="1"/>
          <a:stretch/>
        </p:blipFill>
        <p:spPr>
          <a:xfrm>
            <a:off x="3251332" y="3697302"/>
            <a:ext cx="5168768" cy="2569198"/>
          </a:xfrm>
          <a:prstGeom prst="rect">
            <a:avLst/>
          </a:prstGeom>
        </p:spPr>
      </p:pic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9CFFC868-5A82-B773-1E52-3B33FBD9D3B7}"/>
              </a:ext>
            </a:extLst>
          </p:cNvPr>
          <p:cNvSpPr/>
          <p:nvPr/>
        </p:nvSpPr>
        <p:spPr>
          <a:xfrm rot="5400000">
            <a:off x="5546329" y="2131752"/>
            <a:ext cx="208756" cy="1519237"/>
          </a:xfrm>
          <a:prstGeom prst="rightBrace">
            <a:avLst>
              <a:gd name="adj1" fmla="val 8333"/>
              <a:gd name="adj2" fmla="val 51085"/>
            </a:avLst>
          </a:prstGeom>
          <a:ln w="19050">
            <a:solidFill>
              <a:srgbClr val="479FF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4AB906E4-D0CB-DD28-21F3-A49D271C2938}"/>
              </a:ext>
            </a:extLst>
          </p:cNvPr>
          <p:cNvSpPr/>
          <p:nvPr/>
        </p:nvSpPr>
        <p:spPr>
          <a:xfrm rot="5400000">
            <a:off x="7070328" y="2407977"/>
            <a:ext cx="208756" cy="966787"/>
          </a:xfrm>
          <a:prstGeom prst="rightBrace">
            <a:avLst>
              <a:gd name="adj1" fmla="val 8333"/>
              <a:gd name="adj2" fmla="val 51085"/>
            </a:avLst>
          </a:prstGeom>
          <a:ln w="19050">
            <a:solidFill>
              <a:srgbClr val="479FF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FBA2AE-1BCC-8235-43EB-0077ABB47F1B}"/>
              </a:ext>
            </a:extLst>
          </p:cNvPr>
          <p:cNvSpPr txBox="1"/>
          <p:nvPr/>
        </p:nvSpPr>
        <p:spPr>
          <a:xfrm>
            <a:off x="4729775" y="2995749"/>
            <a:ext cx="2444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Conditional Regularization</a:t>
            </a:r>
            <a:endParaRPr lang="ko-KR" altLang="en-US" sz="1000" b="1" i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619F67-DE41-8035-3600-2D572B4FA976}"/>
              </a:ext>
            </a:extLst>
          </p:cNvPr>
          <p:cNvSpPr txBox="1"/>
          <p:nvPr/>
        </p:nvSpPr>
        <p:spPr>
          <a:xfrm>
            <a:off x="6691312" y="2995748"/>
            <a:ext cx="1185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Reconstruction</a:t>
            </a:r>
            <a:endParaRPr lang="ko-KR" altLang="en-US" sz="1000" b="1" i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4401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7EAA5-59F9-22CE-E354-2034FE85565D}"/>
              </a:ext>
            </a:extLst>
          </p:cNvPr>
          <p:cNvSpPr txBox="1"/>
          <p:nvPr/>
        </p:nvSpPr>
        <p:spPr>
          <a:xfrm>
            <a:off x="892700" y="1428750"/>
            <a:ext cx="10359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Deep Variational Conditional Information Bottleneck On Time Series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2F89988-0867-F1CA-ECEC-65F3A915628F}"/>
              </a:ext>
            </a:extLst>
          </p:cNvPr>
          <p:cNvGrpSpPr/>
          <p:nvPr/>
        </p:nvGrpSpPr>
        <p:grpSpPr>
          <a:xfrm>
            <a:off x="3048000" y="1828860"/>
            <a:ext cx="6096000" cy="951691"/>
            <a:chOff x="3048000" y="2290279"/>
            <a:chExt cx="6096000" cy="951691"/>
          </a:xfrm>
        </p:grpSpPr>
        <p:sp>
          <p:nvSpPr>
            <p:cNvPr id="3" name="오른쪽 중괄호 2">
              <a:extLst>
                <a:ext uri="{FF2B5EF4-FFF2-40B4-BE49-F238E27FC236}">
                  <a16:creationId xmlns:a16="http://schemas.microsoft.com/office/drawing/2014/main" id="{AB5E2F2A-28AC-6E2F-5328-CA95F58066E3}"/>
                </a:ext>
              </a:extLst>
            </p:cNvPr>
            <p:cNvSpPr/>
            <p:nvPr/>
          </p:nvSpPr>
          <p:spPr>
            <a:xfrm rot="5400000">
              <a:off x="5546329" y="2131752"/>
              <a:ext cx="208756" cy="1519237"/>
            </a:xfrm>
            <a:prstGeom prst="rightBrace">
              <a:avLst>
                <a:gd name="adj1" fmla="val 8333"/>
                <a:gd name="adj2" fmla="val 51085"/>
              </a:avLst>
            </a:prstGeom>
            <a:ln w="19050">
              <a:solidFill>
                <a:srgbClr val="479FF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오른쪽 중괄호 3">
              <a:extLst>
                <a:ext uri="{FF2B5EF4-FFF2-40B4-BE49-F238E27FC236}">
                  <a16:creationId xmlns:a16="http://schemas.microsoft.com/office/drawing/2014/main" id="{3FFF85DE-16CB-2000-7672-3FC0B3D62B54}"/>
                </a:ext>
              </a:extLst>
            </p:cNvPr>
            <p:cNvSpPr/>
            <p:nvPr/>
          </p:nvSpPr>
          <p:spPr>
            <a:xfrm rot="5400000">
              <a:off x="7070328" y="2407977"/>
              <a:ext cx="208756" cy="966787"/>
            </a:xfrm>
            <a:prstGeom prst="rightBrace">
              <a:avLst>
                <a:gd name="adj1" fmla="val 8333"/>
                <a:gd name="adj2" fmla="val 51085"/>
              </a:avLst>
            </a:prstGeom>
            <a:ln w="19050">
              <a:solidFill>
                <a:srgbClr val="479FF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3EB4F3-3104-9CF8-BA83-B2706CDD9357}"/>
                </a:ext>
              </a:extLst>
            </p:cNvPr>
            <p:cNvSpPr txBox="1"/>
            <p:nvPr/>
          </p:nvSpPr>
          <p:spPr>
            <a:xfrm>
              <a:off x="4729775" y="2995749"/>
              <a:ext cx="24449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i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Conditional Regularization</a:t>
              </a:r>
              <a:endParaRPr lang="ko-KR" altLang="en-US" sz="1000" b="1" i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829140-F622-B257-8EC5-03B8F1455466}"/>
                </a:ext>
              </a:extLst>
            </p:cNvPr>
            <p:cNvSpPr txBox="1"/>
            <p:nvPr/>
          </p:nvSpPr>
          <p:spPr>
            <a:xfrm>
              <a:off x="6691312" y="2995748"/>
              <a:ext cx="11855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i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Reconstruction</a:t>
              </a:r>
              <a:endParaRPr lang="ko-KR" altLang="en-US" sz="1000" b="1" i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E3AF105-7CA2-073F-F29D-52292758490C}"/>
                    </a:ext>
                  </a:extLst>
                </p:cNvPr>
                <p:cNvSpPr txBox="1"/>
                <p:nvPr/>
              </p:nvSpPr>
              <p:spPr>
                <a:xfrm>
                  <a:off x="3048000" y="2290279"/>
                  <a:ext cx="6096000" cy="5575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ko-KR" sz="1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kumimoji="1" lang="en-US" altLang="ko-KR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𝝓</m:t>
                                </m:r>
                                <m: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ko-KR" altLang="en-US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sSubSup>
                                  <m:sSubSupPr>
                                    <m:ctrlP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kumimoji="1" lang="en-US" altLang="ko-KR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kumimoji="1" lang="en-US" altLang="ko-KR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kumimoji="1" lang="en-US" altLang="ko-KR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𝑿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kumimoji="1" lang="en-US" altLang="ko-KR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b>
                                          <m:sup>
                                            <m:r>
                                              <a:rPr kumimoji="1" lang="en-US" altLang="ko-KR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𝒐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\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  <m:sup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𝒐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kumimoji="1"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ko-KR" alt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  <m:sSub>
                              <m:sSubPr>
                                <m:ctrlP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kumimoji="1" lang="ko-KR" alt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kumimoji="1" lang="en-US" altLang="ko-K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kumimoji="1" lang="en-US" altLang="ko-K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kumimoji="1"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E3AF105-7CA2-073F-F29D-522927584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2290279"/>
                  <a:ext cx="6096000" cy="557589"/>
                </a:xfrm>
                <a:prstGeom prst="rect">
                  <a:avLst/>
                </a:prstGeom>
                <a:blipFill>
                  <a:blip r:embed="rId3"/>
                  <a:stretch>
                    <a:fillRect t="-157143" b="-22087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9F4901-F445-218B-BCEB-1C12974EA621}"/>
              </a:ext>
            </a:extLst>
          </p:cNvPr>
          <p:cNvSpPr/>
          <p:nvPr/>
        </p:nvSpPr>
        <p:spPr>
          <a:xfrm>
            <a:off x="6410326" y="1878850"/>
            <a:ext cx="1519238" cy="881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1F08529-411C-80FE-B4B0-42EBC24B9EB0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628700" y="2760750"/>
            <a:ext cx="3541245" cy="6682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568743C-9F2E-EC7B-641F-329A6E22378E}"/>
              </a:ext>
            </a:extLst>
          </p:cNvPr>
          <p:cNvSpPr txBox="1"/>
          <p:nvPr/>
        </p:nvSpPr>
        <p:spPr>
          <a:xfrm>
            <a:off x="892700" y="3237776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Maximizing Reconstruction</a:t>
            </a:r>
            <a:endParaRPr lang="ko-KR" altLang="en-US" b="1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9135D5E-407C-753E-030D-D38F5BC53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0" y="3703483"/>
            <a:ext cx="10217150" cy="1143752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91154F95-BC18-2A03-89EB-62E55DC4926A}"/>
              </a:ext>
            </a:extLst>
          </p:cNvPr>
          <p:cNvSpPr/>
          <p:nvPr/>
        </p:nvSpPr>
        <p:spPr>
          <a:xfrm>
            <a:off x="2495550" y="4275359"/>
            <a:ext cx="5886450" cy="6487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AF3D3A-F365-5684-CFF5-8100ADDE2D23}"/>
              </a:ext>
            </a:extLst>
          </p:cNvPr>
          <p:cNvSpPr txBox="1"/>
          <p:nvPr/>
        </p:nvSpPr>
        <p:spPr>
          <a:xfrm>
            <a:off x="8451850" y="4423393"/>
            <a:ext cx="153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Lower Bound</a:t>
            </a:r>
            <a:endParaRPr lang="ko-KR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2A01FBD-F948-1749-40EC-FE4B86B86F41}"/>
                  </a:ext>
                </a:extLst>
              </p:cNvPr>
              <p:cNvSpPr txBox="1"/>
              <p:nvPr/>
            </p:nvSpPr>
            <p:spPr>
              <a:xfrm>
                <a:off x="1073150" y="5080000"/>
                <a:ext cx="10102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altLang="ko-KR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-&gt; isotropic Gaussian</a:t>
                </a:r>
                <a:r>
                  <a:rPr lang="ko-KR" altLang="en-US" dirty="0"/>
                  <a:t>으로 추정됨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2A01FBD-F948-1749-40EC-FE4B86B86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50" y="5080000"/>
                <a:ext cx="10102850" cy="369332"/>
              </a:xfrm>
              <a:prstGeom prst="rect">
                <a:avLst/>
              </a:prstGeom>
              <a:blipFill>
                <a:blip r:embed="rId5"/>
                <a:stretch>
                  <a:fillRect t="-119672" b="-1836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EE61447-F722-05D0-D559-ADB6BFC9E6A4}"/>
              </a:ext>
            </a:extLst>
          </p:cNvPr>
          <p:cNvSpPr txBox="1"/>
          <p:nvPr/>
        </p:nvSpPr>
        <p:spPr>
          <a:xfrm>
            <a:off x="8610600" y="2114239"/>
            <a:ext cx="297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Variational decomposition</a:t>
            </a:r>
          </a:p>
          <a:p>
            <a:r>
              <a:rPr lang="en-US" altLang="ko-KR" b="1" dirty="0"/>
              <a:t>(</a:t>
            </a:r>
            <a:r>
              <a:rPr lang="ko-KR" altLang="en-US" b="1" dirty="0"/>
              <a:t>단순한 분포로 근사</a:t>
            </a:r>
            <a:r>
              <a:rPr lang="en-US" altLang="ko-KR" b="1" dirty="0"/>
              <a:t>(ELBO))</a:t>
            </a:r>
            <a:endParaRPr lang="ko-KR" altLang="en-US" b="1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5DB1879-9902-0929-3A36-ADBC872057DD}"/>
              </a:ext>
            </a:extLst>
          </p:cNvPr>
          <p:cNvCxnSpPr/>
          <p:nvPr/>
        </p:nvCxnSpPr>
        <p:spPr>
          <a:xfrm>
            <a:off x="8210550" y="2325573"/>
            <a:ext cx="2933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5599D15-5F41-F76C-398B-CD35247F9772}"/>
              </a:ext>
            </a:extLst>
          </p:cNvPr>
          <p:cNvSpPr txBox="1"/>
          <p:nvPr/>
        </p:nvSpPr>
        <p:spPr>
          <a:xfrm>
            <a:off x="4154556" y="6415801"/>
            <a:ext cx="7871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Voloshynovskiy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Slava, et al. "Information bottleneck through variational glasses." </a:t>
            </a:r>
            <a:r>
              <a:rPr lang="en-US" altLang="ko-KR" sz="1000" b="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arXiv</a:t>
            </a:r>
            <a:r>
              <a:rPr lang="en-US" altLang="ko-KR" sz="10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preprint arXiv:1912.00830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(2019).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552458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7EAA5-59F9-22CE-E354-2034FE85565D}"/>
              </a:ext>
            </a:extLst>
          </p:cNvPr>
          <p:cNvSpPr txBox="1"/>
          <p:nvPr/>
        </p:nvSpPr>
        <p:spPr>
          <a:xfrm>
            <a:off x="892700" y="1428750"/>
            <a:ext cx="10359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Deep Variational Conditional Information Bottleneck On Time Series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2F89988-0867-F1CA-ECEC-65F3A915628F}"/>
              </a:ext>
            </a:extLst>
          </p:cNvPr>
          <p:cNvGrpSpPr/>
          <p:nvPr/>
        </p:nvGrpSpPr>
        <p:grpSpPr>
          <a:xfrm>
            <a:off x="3048000" y="1828860"/>
            <a:ext cx="6096000" cy="951691"/>
            <a:chOff x="3048000" y="2290279"/>
            <a:chExt cx="6096000" cy="951691"/>
          </a:xfrm>
        </p:grpSpPr>
        <p:sp>
          <p:nvSpPr>
            <p:cNvPr id="3" name="오른쪽 중괄호 2">
              <a:extLst>
                <a:ext uri="{FF2B5EF4-FFF2-40B4-BE49-F238E27FC236}">
                  <a16:creationId xmlns:a16="http://schemas.microsoft.com/office/drawing/2014/main" id="{AB5E2F2A-28AC-6E2F-5328-CA95F58066E3}"/>
                </a:ext>
              </a:extLst>
            </p:cNvPr>
            <p:cNvSpPr/>
            <p:nvPr/>
          </p:nvSpPr>
          <p:spPr>
            <a:xfrm rot="5400000">
              <a:off x="5546329" y="2131752"/>
              <a:ext cx="208756" cy="1519237"/>
            </a:xfrm>
            <a:prstGeom prst="rightBrace">
              <a:avLst>
                <a:gd name="adj1" fmla="val 8333"/>
                <a:gd name="adj2" fmla="val 51085"/>
              </a:avLst>
            </a:prstGeom>
            <a:ln w="19050">
              <a:solidFill>
                <a:srgbClr val="479FF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오른쪽 중괄호 3">
              <a:extLst>
                <a:ext uri="{FF2B5EF4-FFF2-40B4-BE49-F238E27FC236}">
                  <a16:creationId xmlns:a16="http://schemas.microsoft.com/office/drawing/2014/main" id="{3FFF85DE-16CB-2000-7672-3FC0B3D62B54}"/>
                </a:ext>
              </a:extLst>
            </p:cNvPr>
            <p:cNvSpPr/>
            <p:nvPr/>
          </p:nvSpPr>
          <p:spPr>
            <a:xfrm rot="5400000">
              <a:off x="7070328" y="2407977"/>
              <a:ext cx="208756" cy="966787"/>
            </a:xfrm>
            <a:prstGeom prst="rightBrace">
              <a:avLst>
                <a:gd name="adj1" fmla="val 8333"/>
                <a:gd name="adj2" fmla="val 51085"/>
              </a:avLst>
            </a:prstGeom>
            <a:ln w="19050">
              <a:solidFill>
                <a:srgbClr val="479FF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3EB4F3-3104-9CF8-BA83-B2706CDD9357}"/>
                </a:ext>
              </a:extLst>
            </p:cNvPr>
            <p:cNvSpPr txBox="1"/>
            <p:nvPr/>
          </p:nvSpPr>
          <p:spPr>
            <a:xfrm>
              <a:off x="4729775" y="2995749"/>
              <a:ext cx="24449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i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Conditional Regularization</a:t>
              </a:r>
              <a:endParaRPr lang="ko-KR" altLang="en-US" sz="1000" b="1" i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829140-F622-B257-8EC5-03B8F1455466}"/>
                </a:ext>
              </a:extLst>
            </p:cNvPr>
            <p:cNvSpPr txBox="1"/>
            <p:nvPr/>
          </p:nvSpPr>
          <p:spPr>
            <a:xfrm>
              <a:off x="6691312" y="2995748"/>
              <a:ext cx="11855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i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Reconstruction</a:t>
              </a:r>
              <a:endParaRPr lang="ko-KR" altLang="en-US" sz="1000" b="1" i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E3AF105-7CA2-073F-F29D-52292758490C}"/>
                    </a:ext>
                  </a:extLst>
                </p:cNvPr>
                <p:cNvSpPr txBox="1"/>
                <p:nvPr/>
              </p:nvSpPr>
              <p:spPr>
                <a:xfrm>
                  <a:off x="3048000" y="2290279"/>
                  <a:ext cx="6096000" cy="5575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ko-KR" sz="1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kumimoji="1" lang="en-US" altLang="ko-KR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𝝓</m:t>
                                </m:r>
                                <m: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ko-KR" altLang="en-US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sSubSup>
                                  <m:sSubSupPr>
                                    <m:ctrlP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kumimoji="1" lang="en-US" altLang="ko-KR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kumimoji="1" lang="en-US" altLang="ko-KR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kumimoji="1" lang="en-US" altLang="ko-KR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𝑿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kumimoji="1" lang="en-US" altLang="ko-KR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b>
                                          <m:sup>
                                            <m:r>
                                              <a:rPr kumimoji="1" lang="en-US" altLang="ko-KR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𝒐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\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  <m:sup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𝒐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kumimoji="1"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ko-KR" alt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  <m:sSub>
                              <m:sSubPr>
                                <m:ctrlP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kumimoji="1" lang="ko-KR" alt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kumimoji="1" lang="en-US" altLang="ko-K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kumimoji="1" lang="en-US" altLang="ko-K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kumimoji="1"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E3AF105-7CA2-073F-F29D-522927584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2290279"/>
                  <a:ext cx="6096000" cy="557589"/>
                </a:xfrm>
                <a:prstGeom prst="rect">
                  <a:avLst/>
                </a:prstGeom>
                <a:blipFill>
                  <a:blip r:embed="rId3"/>
                  <a:stretch>
                    <a:fillRect t="-157143" b="-22087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9F4901-F445-218B-BCEB-1C12974EA621}"/>
              </a:ext>
            </a:extLst>
          </p:cNvPr>
          <p:cNvSpPr/>
          <p:nvPr/>
        </p:nvSpPr>
        <p:spPr>
          <a:xfrm>
            <a:off x="6410326" y="1878850"/>
            <a:ext cx="1519238" cy="881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1F08529-411C-80FE-B4B0-42EBC24B9EB0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803650" y="2760750"/>
            <a:ext cx="3366295" cy="11606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5599D15-5F41-F76C-398B-CD35247F9772}"/>
              </a:ext>
            </a:extLst>
          </p:cNvPr>
          <p:cNvSpPr txBox="1"/>
          <p:nvPr/>
        </p:nvSpPr>
        <p:spPr>
          <a:xfrm>
            <a:off x="4154556" y="6415801"/>
            <a:ext cx="7871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Voloshynovskiy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Slava, et al. "Information bottleneck through variational glasses." </a:t>
            </a:r>
            <a:r>
              <a:rPr lang="en-US" altLang="ko-KR" sz="1000" b="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arXiv</a:t>
            </a:r>
            <a:r>
              <a:rPr lang="en-US" altLang="ko-KR" sz="10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preprint arXiv:1912.00830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(2019).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1F497F1-1F5C-FFC6-CBE4-C4E8CA82C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137" y="3980874"/>
            <a:ext cx="5572125" cy="390525"/>
          </a:xfrm>
          <a:prstGeom prst="rect">
            <a:avLst/>
          </a:prstGeom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C86435D-ECCD-3DFC-C382-2C8515F97A60}"/>
              </a:ext>
            </a:extLst>
          </p:cNvPr>
          <p:cNvSpPr/>
          <p:nvPr/>
        </p:nvSpPr>
        <p:spPr>
          <a:xfrm>
            <a:off x="5099050" y="3921421"/>
            <a:ext cx="1517650" cy="4499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5601A2F-6158-F0E4-6650-8972F14ABAEA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5857875" y="4371399"/>
            <a:ext cx="0" cy="78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16258D2-4910-245B-D2F3-3DAF1C574BA8}"/>
                  </a:ext>
                </a:extLst>
              </p:cNvPr>
              <p:cNvSpPr txBox="1"/>
              <p:nvPr/>
            </p:nvSpPr>
            <p:spPr>
              <a:xfrm>
                <a:off x="5175249" y="5283200"/>
                <a:ext cx="4444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Target(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kumimoji="1"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kumimoji="1"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에 대한 정보량을 </a:t>
                </a:r>
                <a:r>
                  <a:rPr lang="ko-KR" altLang="en-US" dirty="0" err="1"/>
                  <a:t>잃게함</a:t>
                </a:r>
                <a:endParaRPr lang="ko-KR" alt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16258D2-4910-245B-D2F3-3DAF1C574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249" y="5283200"/>
                <a:ext cx="4444999" cy="369332"/>
              </a:xfrm>
              <a:prstGeom prst="rect">
                <a:avLst/>
              </a:prstGeom>
              <a:blipFill>
                <a:blip r:embed="rId5"/>
                <a:stretch>
                  <a:fillRect l="-1235" t="-13333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241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7EAA5-59F9-22CE-E354-2034FE85565D}"/>
              </a:ext>
            </a:extLst>
          </p:cNvPr>
          <p:cNvSpPr txBox="1"/>
          <p:nvPr/>
        </p:nvSpPr>
        <p:spPr>
          <a:xfrm>
            <a:off x="892700" y="1428750"/>
            <a:ext cx="10359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Deep Variational Conditional Information Bottleneck On Time Series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2F89988-0867-F1CA-ECEC-65F3A915628F}"/>
              </a:ext>
            </a:extLst>
          </p:cNvPr>
          <p:cNvGrpSpPr/>
          <p:nvPr/>
        </p:nvGrpSpPr>
        <p:grpSpPr>
          <a:xfrm>
            <a:off x="3048000" y="1828860"/>
            <a:ext cx="6096000" cy="951691"/>
            <a:chOff x="3048000" y="2290279"/>
            <a:chExt cx="6096000" cy="951691"/>
          </a:xfrm>
        </p:grpSpPr>
        <p:sp>
          <p:nvSpPr>
            <p:cNvPr id="3" name="오른쪽 중괄호 2">
              <a:extLst>
                <a:ext uri="{FF2B5EF4-FFF2-40B4-BE49-F238E27FC236}">
                  <a16:creationId xmlns:a16="http://schemas.microsoft.com/office/drawing/2014/main" id="{AB5E2F2A-28AC-6E2F-5328-CA95F58066E3}"/>
                </a:ext>
              </a:extLst>
            </p:cNvPr>
            <p:cNvSpPr/>
            <p:nvPr/>
          </p:nvSpPr>
          <p:spPr>
            <a:xfrm rot="5400000">
              <a:off x="5546329" y="2131752"/>
              <a:ext cx="208756" cy="1519237"/>
            </a:xfrm>
            <a:prstGeom prst="rightBrace">
              <a:avLst>
                <a:gd name="adj1" fmla="val 8333"/>
                <a:gd name="adj2" fmla="val 51085"/>
              </a:avLst>
            </a:prstGeom>
            <a:ln w="19050">
              <a:solidFill>
                <a:srgbClr val="479FF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오른쪽 중괄호 3">
              <a:extLst>
                <a:ext uri="{FF2B5EF4-FFF2-40B4-BE49-F238E27FC236}">
                  <a16:creationId xmlns:a16="http://schemas.microsoft.com/office/drawing/2014/main" id="{3FFF85DE-16CB-2000-7672-3FC0B3D62B54}"/>
                </a:ext>
              </a:extLst>
            </p:cNvPr>
            <p:cNvSpPr/>
            <p:nvPr/>
          </p:nvSpPr>
          <p:spPr>
            <a:xfrm rot="5400000">
              <a:off x="7070328" y="2407977"/>
              <a:ext cx="208756" cy="966787"/>
            </a:xfrm>
            <a:prstGeom prst="rightBrace">
              <a:avLst>
                <a:gd name="adj1" fmla="val 8333"/>
                <a:gd name="adj2" fmla="val 51085"/>
              </a:avLst>
            </a:prstGeom>
            <a:ln w="19050">
              <a:solidFill>
                <a:srgbClr val="479FF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3EB4F3-3104-9CF8-BA83-B2706CDD9357}"/>
                </a:ext>
              </a:extLst>
            </p:cNvPr>
            <p:cNvSpPr txBox="1"/>
            <p:nvPr/>
          </p:nvSpPr>
          <p:spPr>
            <a:xfrm>
              <a:off x="4729775" y="2995749"/>
              <a:ext cx="24449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i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Conditional Regularization</a:t>
              </a:r>
              <a:endParaRPr lang="ko-KR" altLang="en-US" sz="1000" b="1" i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829140-F622-B257-8EC5-03B8F1455466}"/>
                </a:ext>
              </a:extLst>
            </p:cNvPr>
            <p:cNvSpPr txBox="1"/>
            <p:nvPr/>
          </p:nvSpPr>
          <p:spPr>
            <a:xfrm>
              <a:off x="6691312" y="2995748"/>
              <a:ext cx="11855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i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Reconstruction</a:t>
              </a:r>
              <a:endParaRPr lang="ko-KR" altLang="en-US" sz="1000" b="1" i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E3AF105-7CA2-073F-F29D-52292758490C}"/>
                    </a:ext>
                  </a:extLst>
                </p:cNvPr>
                <p:cNvSpPr txBox="1"/>
                <p:nvPr/>
              </p:nvSpPr>
              <p:spPr>
                <a:xfrm>
                  <a:off x="3048000" y="2290279"/>
                  <a:ext cx="6096000" cy="5575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ko-KR" sz="1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kumimoji="1" lang="en-US" altLang="ko-KR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𝝓</m:t>
                                </m:r>
                                <m: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ko-KR" altLang="en-US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sSubSup>
                                  <m:sSubSupPr>
                                    <m:ctrlP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kumimoji="1" lang="en-US" altLang="ko-KR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kumimoji="1" lang="en-US" altLang="ko-KR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kumimoji="1" lang="en-US" altLang="ko-KR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𝑿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kumimoji="1" lang="en-US" altLang="ko-KR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b>
                                          <m:sup>
                                            <m:r>
                                              <a:rPr kumimoji="1" lang="en-US" altLang="ko-KR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𝒐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\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  <m:sup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𝒐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kumimoji="1"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ko-KR" alt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  <m:sSub>
                              <m:sSubPr>
                                <m:ctrlP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kumimoji="1" lang="ko-KR" alt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kumimoji="1"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kumimoji="1"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kumimoji="1" lang="en-US" altLang="ko-K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kumimoji="1" lang="en-US" altLang="ko-K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kumimoji="1"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E3AF105-7CA2-073F-F29D-522927584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2290279"/>
                  <a:ext cx="6096000" cy="557589"/>
                </a:xfrm>
                <a:prstGeom prst="rect">
                  <a:avLst/>
                </a:prstGeom>
                <a:blipFill>
                  <a:blip r:embed="rId3"/>
                  <a:stretch>
                    <a:fillRect t="-157143" b="-22087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9F4901-F445-218B-BCEB-1C12974EA621}"/>
              </a:ext>
            </a:extLst>
          </p:cNvPr>
          <p:cNvSpPr/>
          <p:nvPr/>
        </p:nvSpPr>
        <p:spPr>
          <a:xfrm>
            <a:off x="4777408" y="1878850"/>
            <a:ext cx="1742662" cy="881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1F08529-411C-80FE-B4B0-42EBC24B9EB0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596017" y="2760750"/>
            <a:ext cx="1052722" cy="6682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568743C-9F2E-EC7B-641F-329A6E22378E}"/>
              </a:ext>
            </a:extLst>
          </p:cNvPr>
          <p:cNvSpPr txBox="1"/>
          <p:nvPr/>
        </p:nvSpPr>
        <p:spPr>
          <a:xfrm>
            <a:off x="892700" y="3237776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Minimizing Conditional Regularization</a:t>
            </a:r>
            <a:endParaRPr lang="ko-KR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3475C5A-3774-898B-3197-7F15D70A9272}"/>
                  </a:ext>
                </a:extLst>
              </p:cNvPr>
              <p:cNvSpPr txBox="1"/>
              <p:nvPr/>
            </p:nvSpPr>
            <p:spPr>
              <a:xfrm>
                <a:off x="3094264" y="3515558"/>
                <a:ext cx="6097088" cy="557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en-US" altLang="ko-KR" sz="18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ko-KR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  <m:d>
                            <m:dPr>
                              <m:ctrlP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Sup>
                                <m:sSubSup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kumimoji="1" lang="en-US" altLang="ko-K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kumimoji="1" lang="en-US" altLang="ko-K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1" lang="en-US" altLang="ko-K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b>
                                        <m:sup>
                                          <m:r>
                                            <a:rPr kumimoji="1" lang="en-US" altLang="ko-K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𝒐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\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b>
                                <m:sup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𝒐</m:t>
                                  </m:r>
                                </m:sup>
                              </m:sSubSup>
                            </m:e>
                          </m:d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kumimoji="1"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ko-KR" alt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lim>
                              </m:limLow>
                            </m:fName>
                            <m:e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  <m:d>
                                <m:d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𝒁</m:t>
                                      </m:r>
                                    </m:e>
                                    <m:sub>
                                      <m: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𝒕</m:t>
                                      </m:r>
                                    </m:sub>
                                  </m:s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sSubSup>
                                    <m:sSubSupPr>
                                      <m:ctrlP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kumimoji="1" lang="en-US" altLang="ko-KR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kumimoji="1" lang="en-US" altLang="ko-KR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:</m:t>
                                      </m:r>
                                      <m:r>
                                        <a:rPr kumimoji="1" lang="en-US" altLang="ko-KR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𝑻</m:t>
                                      </m:r>
                                    </m:sub>
                                    <m:sup>
                                      <m: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𝒐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kumimoji="1" lang="ko-KR" alt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Sup>
                                <m:sSubSup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\</m:t>
                                  </m:r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𝑜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3475C5A-3774-898B-3197-7F15D70A9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264" y="3515558"/>
                <a:ext cx="6097088" cy="557589"/>
              </a:xfrm>
              <a:prstGeom prst="rect">
                <a:avLst/>
              </a:prstGeom>
              <a:blipFill>
                <a:blip r:embed="rId4"/>
                <a:stretch>
                  <a:fillRect t="-157143" b="-2208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2AD2071-23DC-B3FE-FB58-24325BA14EE4}"/>
              </a:ext>
            </a:extLst>
          </p:cNvPr>
          <p:cNvCxnSpPr>
            <a:cxnSpLocks/>
          </p:cNvCxnSpPr>
          <p:nvPr/>
        </p:nvCxnSpPr>
        <p:spPr>
          <a:xfrm>
            <a:off x="5393540" y="3515558"/>
            <a:ext cx="510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C95AEFC-F2A7-9AB8-615A-B5AFE7C6A343}"/>
              </a:ext>
            </a:extLst>
          </p:cNvPr>
          <p:cNvSpPr txBox="1"/>
          <p:nvPr/>
        </p:nvSpPr>
        <p:spPr>
          <a:xfrm>
            <a:off x="5277938" y="3237776"/>
            <a:ext cx="13486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Chain rule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DD2C26-BE61-914B-B382-C418CF65DF08}"/>
              </a:ext>
            </a:extLst>
          </p:cNvPr>
          <p:cNvSpPr/>
          <p:nvPr/>
        </p:nvSpPr>
        <p:spPr>
          <a:xfrm>
            <a:off x="5749925" y="3602117"/>
            <a:ext cx="1511300" cy="470017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E99DFC4-FF26-5851-4EAD-3F5164654F7E}"/>
              </a:ext>
            </a:extLst>
          </p:cNvPr>
          <p:cNvSpPr/>
          <p:nvPr/>
        </p:nvSpPr>
        <p:spPr>
          <a:xfrm>
            <a:off x="7334250" y="3602116"/>
            <a:ext cx="1511300" cy="470017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FACDA3-00E3-23A2-2F53-D29910312267}"/>
              </a:ext>
            </a:extLst>
          </p:cNvPr>
          <p:cNvSpPr txBox="1"/>
          <p:nvPr/>
        </p:nvSpPr>
        <p:spPr>
          <a:xfrm>
            <a:off x="892700" y="4613106"/>
            <a:ext cx="8879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dirty="0"/>
              <a:t>Encourage the latent representation to be concise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dirty="0"/>
              <a:t>Capture the underlying temporal dynamics</a:t>
            </a:r>
            <a:endParaRPr lang="ko-KR" altLang="en-US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B090B5AA-BDF3-9EC7-5B8C-474B7CEFE21E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4777408" y="4072134"/>
            <a:ext cx="1728167" cy="540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CA650212-EFC2-B723-2132-391E612B575A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5585460" y="4072133"/>
            <a:ext cx="2504440" cy="1208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86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12</a:t>
            </a:fld>
            <a:endParaRPr kumimoji="1"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7EAA5-59F9-22CE-E354-2034FE85565D}"/>
              </a:ext>
            </a:extLst>
          </p:cNvPr>
          <p:cNvSpPr txBox="1"/>
          <p:nvPr/>
        </p:nvSpPr>
        <p:spPr>
          <a:xfrm>
            <a:off x="892700" y="1428750"/>
            <a:ext cx="10359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Deep Variational Conditional Information Bottleneck On Time Series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68743C-9F2E-EC7B-641F-329A6E22378E}"/>
              </a:ext>
            </a:extLst>
          </p:cNvPr>
          <p:cNvSpPr txBox="1"/>
          <p:nvPr/>
        </p:nvSpPr>
        <p:spPr>
          <a:xfrm>
            <a:off x="943500" y="1924451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Minimizing Conditional Regularization</a:t>
            </a:r>
            <a:endParaRPr lang="ko-KR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3475C5A-3774-898B-3197-7F15D70A9272}"/>
                  </a:ext>
                </a:extLst>
              </p:cNvPr>
              <p:cNvSpPr txBox="1"/>
              <p:nvPr/>
            </p:nvSpPr>
            <p:spPr>
              <a:xfrm>
                <a:off x="3145064" y="2202233"/>
                <a:ext cx="6097088" cy="557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en-US" altLang="ko-KR" sz="18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r>
                                <a:rPr kumimoji="1" lang="en-US" altLang="ko-KR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ko-KR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  <m:d>
                            <m:dPr>
                              <m:ctrlP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Sup>
                                <m:sSubSup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kumimoji="1" lang="en-US" altLang="ko-K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kumimoji="1" lang="en-US" altLang="ko-K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1" lang="en-US" altLang="ko-K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b>
                                        <m:sup>
                                          <m:r>
                                            <a:rPr kumimoji="1" lang="en-US" altLang="ko-K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𝒐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\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b>
                                <m:sup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𝒐</m:t>
                                  </m:r>
                                </m:sup>
                              </m:sSubSup>
                            </m:e>
                          </m:d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kumimoji="1"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ko-KR" alt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lim>
                              </m:limLow>
                            </m:fName>
                            <m:e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  <m:d>
                                <m:d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𝒁</m:t>
                                      </m:r>
                                    </m:e>
                                    <m:sub>
                                      <m: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𝒕</m:t>
                                      </m:r>
                                    </m:sub>
                                  </m:s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sSubSup>
                                    <m:sSubSupPr>
                                      <m:ctrlP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kumimoji="1" lang="en-US" altLang="ko-KR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kumimoji="1" lang="en-US" altLang="ko-KR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:</m:t>
                                      </m:r>
                                      <m:r>
                                        <a:rPr kumimoji="1" lang="en-US" altLang="ko-KR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𝑻</m:t>
                                      </m:r>
                                    </m:sub>
                                    <m:sup>
                                      <m:r>
                                        <a:rPr kumimoji="1" lang="en-US" altLang="ko-K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𝒐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kumimoji="1" lang="ko-KR" alt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kumimoji="1"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Sup>
                                <m:sSubSup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\</m:t>
                                  </m:r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  <a:ea typeface="Noto Sans KR" panose="020B0200000000000000" pitchFamily="50" charset="-127"/>
                                    </a:rPr>
                                    <m:t>𝑜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3475C5A-3774-898B-3197-7F15D70A9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064" y="2202233"/>
                <a:ext cx="6097088" cy="557589"/>
              </a:xfrm>
              <a:prstGeom prst="rect">
                <a:avLst/>
              </a:prstGeom>
              <a:blipFill>
                <a:blip r:embed="rId3"/>
                <a:stretch>
                  <a:fillRect t="-155435" b="-2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DD2C26-BE61-914B-B382-C418CF65DF08}"/>
              </a:ext>
            </a:extLst>
          </p:cNvPr>
          <p:cNvSpPr/>
          <p:nvPr/>
        </p:nvSpPr>
        <p:spPr>
          <a:xfrm>
            <a:off x="5800725" y="2288792"/>
            <a:ext cx="1511300" cy="470017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E99DFC4-FF26-5851-4EAD-3F5164654F7E}"/>
              </a:ext>
            </a:extLst>
          </p:cNvPr>
          <p:cNvSpPr/>
          <p:nvPr/>
        </p:nvSpPr>
        <p:spPr>
          <a:xfrm>
            <a:off x="7385050" y="2288791"/>
            <a:ext cx="1511300" cy="470017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03DDA73-88E9-C451-2DF1-7F53E30F8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500" y="3254472"/>
            <a:ext cx="5756275" cy="372651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CEEFAB4-67D9-C663-91BF-5FFAE740BA48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3821637" y="2758809"/>
            <a:ext cx="2734738" cy="430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C253758-C88A-1DDE-9AE1-AFAF15EE124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5617029" y="2758808"/>
            <a:ext cx="2523671" cy="1996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961CFAF7-7731-C644-11DC-273B2FB3C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928769"/>
            <a:ext cx="7002463" cy="1413643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17763E67-2FFC-3EB2-D55D-B7ABFB3691E9}"/>
              </a:ext>
            </a:extLst>
          </p:cNvPr>
          <p:cNvSpPr/>
          <p:nvPr/>
        </p:nvSpPr>
        <p:spPr>
          <a:xfrm>
            <a:off x="2426225" y="3249927"/>
            <a:ext cx="3600450" cy="3726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4C325B1-F797-75B3-1822-8A40019A57B5}"/>
              </a:ext>
            </a:extLst>
          </p:cNvPr>
          <p:cNvSpPr/>
          <p:nvPr/>
        </p:nvSpPr>
        <p:spPr>
          <a:xfrm>
            <a:off x="1936750" y="4865786"/>
            <a:ext cx="5060950" cy="14766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2D041F-B7B7-B385-7419-FE2816EA7B8C}"/>
              </a:ext>
            </a:extLst>
          </p:cNvPr>
          <p:cNvSpPr txBox="1"/>
          <p:nvPr/>
        </p:nvSpPr>
        <p:spPr>
          <a:xfrm>
            <a:off x="3461275" y="3603529"/>
            <a:ext cx="153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Upper Bound</a:t>
            </a:r>
            <a:endParaRPr lang="ko-KR" altLang="en-US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3E23C1-849E-8F55-4925-618CA4D8D7F0}"/>
              </a:ext>
            </a:extLst>
          </p:cNvPr>
          <p:cNvSpPr txBox="1"/>
          <p:nvPr/>
        </p:nvSpPr>
        <p:spPr>
          <a:xfrm>
            <a:off x="3566049" y="6352143"/>
            <a:ext cx="4382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Lower Bound – contrastive learning</a:t>
            </a:r>
            <a:endParaRPr lang="ko-KR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7DC825B-DC78-64D9-89D6-500792A24F8C}"/>
                  </a:ext>
                </a:extLst>
              </p:cNvPr>
              <p:cNvSpPr txBox="1"/>
              <p:nvPr/>
            </p:nvSpPr>
            <p:spPr>
              <a:xfrm>
                <a:off x="838200" y="3948759"/>
                <a:ext cx="9283700" cy="324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kumimoji="1" lang="en-US" altLang="ko-KR" sz="1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13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sz="1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kumimoji="1" lang="en-US" altLang="ko-KR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ko-KR" sz="1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Sup>
                          <m:sSubSupPr>
                            <m:ctrlPr>
                              <a:rPr kumimoji="1" lang="en-US" altLang="ko-KR" sz="1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ko-KR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1:</m:t>
                            </m:r>
                            <m:r>
                              <a:rPr kumimoji="1" lang="en-US" altLang="ko-KR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kumimoji="1" lang="en-US" altLang="ko-KR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e>
                    </m:d>
                    <m:r>
                      <a:rPr lang="en-US" altLang="ko-KR" sz="1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3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3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3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ko-KR" alt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ko-KR" sz="1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ko-KR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1:</m:t>
                            </m:r>
                            <m:r>
                              <a:rPr kumimoji="1" lang="en-US" altLang="ko-KR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kumimoji="1" lang="en-US" altLang="ko-KR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e>
                    </m:d>
                    <m:r>
                      <a:rPr lang="en-US" altLang="ko-KR" sz="13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sz="1300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1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kumimoji="1" lang="en-US" altLang="ko-KR" sz="13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𝝓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1:</m:t>
                                </m:r>
                                <m:r>
                                  <a:rPr kumimoji="1"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r>
                                  <a:rPr kumimoji="1"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p>
                            </m:sSubSup>
                          </m:e>
                        </m:d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ko-KR" altLang="en-US" sz="1300" dirty="0"/>
                  <a:t> </a:t>
                </a:r>
                <a:r>
                  <a:rPr lang="en-US" altLang="ko-KR" sz="1300" dirty="0"/>
                  <a:t>-&gt; Stochastic encoder(Multivariate Gaussian)</a:t>
                </a:r>
                <a:endParaRPr lang="ko-KR" altLang="en-US" sz="13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7DC825B-DC78-64D9-89D6-500792A24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48759"/>
                <a:ext cx="9283700" cy="324641"/>
              </a:xfrm>
              <a:prstGeom prst="rect">
                <a:avLst/>
              </a:prstGeom>
              <a:blipFill>
                <a:blip r:embed="rId6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8444CE6-1D5B-81B4-0725-8D846E7E299B}"/>
              </a:ext>
            </a:extLst>
          </p:cNvPr>
          <p:cNvCxnSpPr>
            <a:cxnSpLocks/>
          </p:cNvCxnSpPr>
          <p:nvPr/>
        </p:nvCxnSpPr>
        <p:spPr>
          <a:xfrm>
            <a:off x="7727950" y="5626289"/>
            <a:ext cx="1466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77CFA47-4A5D-421B-7C6D-093992B907AF}"/>
              </a:ext>
            </a:extLst>
          </p:cNvPr>
          <p:cNvSpPr txBox="1"/>
          <p:nvPr/>
        </p:nvSpPr>
        <p:spPr>
          <a:xfrm>
            <a:off x="9194800" y="5357877"/>
            <a:ext cx="26640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InfoNCE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minimization</a:t>
            </a:r>
          </a:p>
          <a:p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(contrastive learning)</a:t>
            </a:r>
            <a:endParaRPr lang="ko-KR" alt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8550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13</a:t>
            </a:fld>
            <a:endParaRPr kumimoji="1"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7EAA5-59F9-22CE-E354-2034FE85565D}"/>
              </a:ext>
            </a:extLst>
          </p:cNvPr>
          <p:cNvSpPr txBox="1"/>
          <p:nvPr/>
        </p:nvSpPr>
        <p:spPr>
          <a:xfrm>
            <a:off x="892700" y="1428750"/>
            <a:ext cx="10359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Deep Variational Conditional Information Bottleneck On Time Series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961CFAF7-7731-C644-11DC-273B2FB3C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00" y="1924451"/>
            <a:ext cx="7002463" cy="141364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C3E23C1-849E-8F55-4925-618CA4D8D7F0}"/>
              </a:ext>
            </a:extLst>
          </p:cNvPr>
          <p:cNvSpPr txBox="1"/>
          <p:nvPr/>
        </p:nvSpPr>
        <p:spPr>
          <a:xfrm>
            <a:off x="892700" y="3918732"/>
            <a:ext cx="311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Kernel</a:t>
            </a:r>
            <a:r>
              <a:rPr lang="ko-KR" altLang="en-US" b="1" dirty="0"/>
              <a:t> </a:t>
            </a:r>
            <a:r>
              <a:rPr lang="en-US" altLang="ko-KR" b="1" dirty="0"/>
              <a:t>coefficient</a:t>
            </a:r>
            <a:r>
              <a:rPr lang="ko-KR" altLang="en-US" b="1" dirty="0"/>
              <a:t> </a:t>
            </a:r>
            <a:r>
              <a:rPr lang="en-US" altLang="ko-KR" b="1" dirty="0"/>
              <a:t>function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DC4B48-4025-6410-9966-142D00C10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0" y="4374842"/>
            <a:ext cx="6096000" cy="5241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804A4B-9A39-CD6D-2092-67FE27B3DC31}"/>
              </a:ext>
            </a:extLst>
          </p:cNvPr>
          <p:cNvSpPr txBox="1"/>
          <p:nvPr/>
        </p:nvSpPr>
        <p:spPr>
          <a:xfrm>
            <a:off x="892700" y="4985785"/>
            <a:ext cx="10302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Cauchy kernel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두 데이터 포인터의 간의 거리를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정규화함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노이즈에 덜 민감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Periodic kernel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데이터의 주기적 패턴 파악에 용이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8343D1-5EA6-8BC6-6163-CB315FB1B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587" y="1932596"/>
            <a:ext cx="3716025" cy="24422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4ED2DA-ABF7-86A6-0FE3-47C36C4C360D}"/>
              </a:ext>
            </a:extLst>
          </p:cNvPr>
          <p:cNvSpPr txBox="1"/>
          <p:nvPr/>
        </p:nvSpPr>
        <p:spPr>
          <a:xfrm>
            <a:off x="8216537" y="2299063"/>
            <a:ext cx="1623051" cy="2178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AF692C-1CEE-EEE6-6D68-E24726B11A8D}"/>
              </a:ext>
            </a:extLst>
          </p:cNvPr>
          <p:cNvSpPr txBox="1"/>
          <p:nvPr/>
        </p:nvSpPr>
        <p:spPr>
          <a:xfrm>
            <a:off x="9876725" y="2276931"/>
            <a:ext cx="1901024" cy="217850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E2819E-DDAD-F1D0-4347-43A2052B7815}"/>
              </a:ext>
            </a:extLst>
          </p:cNvPr>
          <p:cNvSpPr txBox="1"/>
          <p:nvPr/>
        </p:nvSpPr>
        <p:spPr>
          <a:xfrm>
            <a:off x="8566150" y="4542212"/>
            <a:ext cx="1530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Positive pair(maximize)</a:t>
            </a:r>
            <a:endParaRPr lang="ko-KR" altLang="en-US" sz="10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D8A7E-40F2-EDDB-CBE5-E1B6270B3CE2}"/>
              </a:ext>
            </a:extLst>
          </p:cNvPr>
          <p:cNvSpPr txBox="1"/>
          <p:nvPr/>
        </p:nvSpPr>
        <p:spPr>
          <a:xfrm>
            <a:off x="10429875" y="4517778"/>
            <a:ext cx="1530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Positive pair(minimize)</a:t>
            </a:r>
            <a:endParaRPr lang="ko-KR" altLang="en-US" sz="1000" dirty="0">
              <a:solidFill>
                <a:srgbClr val="00B0F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8185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14</a:t>
            </a:fld>
            <a:endParaRPr kumimoji="1" lang="ko-Kore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47EAA5-59F9-22CE-E354-2034FE85565D}"/>
                  </a:ext>
                </a:extLst>
              </p:cNvPr>
              <p:cNvSpPr txBox="1"/>
              <p:nvPr/>
            </p:nvSpPr>
            <p:spPr>
              <a:xfrm>
                <a:off x="892700" y="1428750"/>
                <a:ext cx="10359500" cy="803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Optimization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b="1" i="1" smtClean="0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Noto Sans KR" panose="020B0200000000000000" pitchFamily="50" charset="-127"/>
                                </a:rPr>
                                <m:t>min</m:t>
                              </m:r>
                            </m:e>
                            <m:lim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ko-KR" alt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kumimoji="1"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ko-KR" alt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r>
                                <a:rPr kumimoji="1"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ko-KR" alt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  <m:sup>
                              <m:r>
                                <a:rPr kumimoji="1"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bSup>
                        </m:e>
                      </m:func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+ </m:t>
                      </m:r>
                      <m:sSubSup>
                        <m:sSubSupPr>
                          <m:ctrlPr>
                            <a:rPr kumimoji="1"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kumimoji="1"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sub>
                        <m:sup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kumimoji="1" lang="en-US" altLang="ko-K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Sup>
                        <m:sSubSupPr>
                          <m:ctrlPr>
                            <a:rPr kumimoji="1"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ko-KR" alt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𝜸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kumimoji="1"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sub>
                        <m:sup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altLang="ko-KR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47EAA5-59F9-22CE-E354-2034FE855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00" y="1428750"/>
                <a:ext cx="10359500" cy="803040"/>
              </a:xfrm>
              <a:prstGeom prst="rect">
                <a:avLst/>
              </a:prstGeom>
              <a:blipFill>
                <a:blip r:embed="rId3"/>
                <a:stretch>
                  <a:fillRect l="-471" t="-3788" b="-15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그림 18">
            <a:extLst>
              <a:ext uri="{FF2B5EF4-FFF2-40B4-BE49-F238E27FC236}">
                <a16:creationId xmlns:a16="http://schemas.microsoft.com/office/drawing/2014/main" id="{B5812E61-E237-0809-EB98-9DAD07136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717" y="1691997"/>
            <a:ext cx="4087305" cy="233560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5036B1E-D2C5-F872-1272-94EE30C2C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2843" y="3986366"/>
            <a:ext cx="4167051" cy="2083526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C88C9972-CC3E-061B-0D4A-10D5CEF05A82}"/>
              </a:ext>
            </a:extLst>
          </p:cNvPr>
          <p:cNvGrpSpPr/>
          <p:nvPr/>
        </p:nvGrpSpPr>
        <p:grpSpPr>
          <a:xfrm>
            <a:off x="1372015" y="2394658"/>
            <a:ext cx="5414538" cy="4168140"/>
            <a:chOff x="1248195" y="2553335"/>
            <a:chExt cx="5414538" cy="416814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9E2AB4-06B9-58CD-34C0-8216B70CF0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-1" r="49654" b="-3544"/>
            <a:stretch/>
          </p:blipFill>
          <p:spPr>
            <a:xfrm>
              <a:off x="1248195" y="2553335"/>
              <a:ext cx="5414538" cy="4168140"/>
            </a:xfrm>
            <a:prstGeom prst="rect">
              <a:avLst/>
            </a:prstGeom>
          </p:spPr>
        </p:pic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4ED2244-602C-0A69-864E-3E597C457F0A}"/>
                </a:ext>
              </a:extLst>
            </p:cNvPr>
            <p:cNvCxnSpPr>
              <a:cxnSpLocks/>
            </p:cNvCxnSpPr>
            <p:nvPr/>
          </p:nvCxnSpPr>
          <p:spPr>
            <a:xfrm>
              <a:off x="6662733" y="2593975"/>
              <a:ext cx="0" cy="360045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6240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Experiments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15</a:t>
            </a:fld>
            <a:endParaRPr kumimoji="1" lang="ko-Kore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018B4-A17E-868A-3A7F-42E2A5131B22}"/>
              </a:ext>
            </a:extLst>
          </p:cNvPr>
          <p:cNvSpPr txBox="1"/>
          <p:nvPr/>
        </p:nvSpPr>
        <p:spPr>
          <a:xfrm>
            <a:off x="892700" y="1428750"/>
            <a:ext cx="103595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Measures feature-wise reconstruction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NLL(Negative log-likelihood and MSE(Means squared error)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Imputed values on artificially missing features</a:t>
            </a:r>
          </a:p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Prediction performance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Imputed values to predict the target labels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AUROC, MSE</a:t>
            </a:r>
          </a:p>
          <a:p>
            <a:pPr marL="0" indent="0">
              <a:buNone/>
            </a:pP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Time series Imputation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Predictive Methods</a:t>
            </a:r>
          </a:p>
          <a:p>
            <a:pPr lvl="1"/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M-RNN, BRITS(2018) : RNN-based</a:t>
            </a:r>
          </a:p>
          <a:p>
            <a:pPr lvl="1"/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SATIS(2023) -&gt; self-attention mechanism -&gt; Single imputation(Uncertainty)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Generative Methods </a:t>
            </a:r>
          </a:p>
          <a:p>
            <a:pPr lvl="1"/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GP-VAE : Autoencoder architecture</a:t>
            </a:r>
          </a:p>
          <a:p>
            <a:pPr lvl="1"/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CSDI : diffusion-based approach</a:t>
            </a:r>
          </a:p>
          <a:p>
            <a:pPr lvl="1"/>
            <a:r>
              <a:rPr lang="en-US" altLang="ko-KR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mTANs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: attention-based autoencoder approach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3AE0684-5AB3-4587-0204-E77DEDF65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242" y="5248437"/>
            <a:ext cx="6126481" cy="139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16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Experiments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16</a:t>
            </a:fld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1A0F01-462E-975A-DEB9-7422358FE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981011"/>
            <a:ext cx="10515600" cy="23234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F346B3-20EF-37F1-F64A-0E92A0EA2E8B}"/>
              </a:ext>
            </a:extLst>
          </p:cNvPr>
          <p:cNvSpPr txBox="1"/>
          <p:nvPr/>
        </p:nvSpPr>
        <p:spPr>
          <a:xfrm>
            <a:off x="971550" y="2037107"/>
            <a:ext cx="4762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HealingMNIST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: Time step 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마다 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60% MNAR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lang="ko-KR" altLang="en-US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결측된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데이터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흰픽셀의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결측 확률이 검은 픽셀의 두배</a:t>
            </a:r>
            <a:endParaRPr lang="en-US" altLang="ko-KR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5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RoatedMNIST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: </a:t>
            </a:r>
            <a:r>
              <a:rPr lang="ko-KR" altLang="en-US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랜덤한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결측을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가지는 데이터셋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Time </a:t>
            </a:r>
            <a:r>
              <a:rPr lang="en-US" altLang="ko-KR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depdency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기반으로 결측 값을 </a:t>
            </a:r>
            <a:r>
              <a:rPr lang="ko-KR" altLang="en-US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재구성해야함</a:t>
            </a:r>
            <a:endParaRPr lang="ko-KR" alt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074" name="Picture 2" descr="figure 1">
            <a:extLst>
              <a:ext uri="{FF2B5EF4-FFF2-40B4-BE49-F238E27FC236}">
                <a16:creationId xmlns:a16="http://schemas.microsoft.com/office/drawing/2014/main" id="{7B92128A-4E3C-9D26-69CA-42B94C1976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9" t="83899" r="40829"/>
          <a:stretch/>
        </p:blipFill>
        <p:spPr bwMode="auto">
          <a:xfrm>
            <a:off x="7118350" y="1871948"/>
            <a:ext cx="2550942" cy="73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otated MNIST dataset. The first and second rows are the ground truth... |  Download Scientific Diagram">
            <a:extLst>
              <a:ext uri="{FF2B5EF4-FFF2-40B4-BE49-F238E27FC236}">
                <a16:creationId xmlns:a16="http://schemas.microsoft.com/office/drawing/2014/main" id="{720F5CB2-102D-DCD7-1D4D-126F74D4DE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8" t="1615" b="76005"/>
          <a:stretch/>
        </p:blipFill>
        <p:spPr bwMode="auto">
          <a:xfrm>
            <a:off x="6813550" y="2781760"/>
            <a:ext cx="3168650" cy="73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DAC7B2-0877-1B00-78D1-1D5C983E3971}"/>
              </a:ext>
            </a:extLst>
          </p:cNvPr>
          <p:cNvSpPr txBox="1"/>
          <p:nvPr/>
        </p:nvSpPr>
        <p:spPr>
          <a:xfrm>
            <a:off x="892700" y="1428750"/>
            <a:ext cx="10359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Imputation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on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Image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Sequences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5915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Experiments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17</a:t>
            </a:fld>
            <a:endParaRPr kumimoji="1" lang="ko-Kore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DAC7B2-0877-1B00-78D1-1D5C983E3971}"/>
              </a:ext>
            </a:extLst>
          </p:cNvPr>
          <p:cNvSpPr txBox="1"/>
          <p:nvPr/>
        </p:nvSpPr>
        <p:spPr>
          <a:xfrm>
            <a:off x="892700" y="1428750"/>
            <a:ext cx="10359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Imputation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on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Image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Sequences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DDFAE0-E5D7-857C-F56D-A4E4E732C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91371"/>
            <a:ext cx="5033159" cy="33554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C705263-E924-E63A-3CB5-7F638A23F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801" y="2603844"/>
            <a:ext cx="5222661" cy="34817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B9C6DB-307D-7F3A-BD63-1911D19CA710}"/>
              </a:ext>
            </a:extLst>
          </p:cNvPr>
          <p:cNvSpPr txBox="1"/>
          <p:nvPr/>
        </p:nvSpPr>
        <p:spPr>
          <a:xfrm>
            <a:off x="892700" y="1932993"/>
            <a:ext cx="9378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Missing</a:t>
            </a:r>
            <a:r>
              <a:rPr lang="ko-KR" altLang="en-US" dirty="0"/>
              <a:t> </a:t>
            </a:r>
            <a:r>
              <a:rPr lang="en-US" altLang="ko-KR" dirty="0"/>
              <a:t>Patterns</a:t>
            </a:r>
            <a:r>
              <a:rPr lang="ko-KR" altLang="en-US" dirty="0"/>
              <a:t> </a:t>
            </a:r>
            <a:r>
              <a:rPr lang="en-US" altLang="ko-KR" dirty="0"/>
              <a:t>: Random, Temporal +/- (positive/negative temporal correlation), Spatial(neighboring pixels have correlate missing prob)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Missing Raito : 10% ~ 90% with random missing pattern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B9B3E-66A3-156A-ED7D-348D505B42DD}"/>
              </a:ext>
            </a:extLst>
          </p:cNvPr>
          <p:cNvSpPr txBox="1"/>
          <p:nvPr/>
        </p:nvSpPr>
        <p:spPr>
          <a:xfrm>
            <a:off x="5416550" y="6254787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HealingMNIST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674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Experiments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18</a:t>
            </a:fld>
            <a:endParaRPr kumimoji="1" lang="ko-Kore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DAC7B2-0877-1B00-78D1-1D5C983E3971}"/>
              </a:ext>
            </a:extLst>
          </p:cNvPr>
          <p:cNvSpPr txBox="1"/>
          <p:nvPr/>
        </p:nvSpPr>
        <p:spPr>
          <a:xfrm>
            <a:off x="892700" y="1429762"/>
            <a:ext cx="10359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Imputation for weather forecasting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75123F-39A2-3B13-ED68-15A5A0C4DF9F}"/>
              </a:ext>
            </a:extLst>
          </p:cNvPr>
          <p:cNvSpPr txBox="1"/>
          <p:nvPr/>
        </p:nvSpPr>
        <p:spPr>
          <a:xfrm>
            <a:off x="943641" y="2341196"/>
            <a:ext cx="466516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Beijing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air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Quality, US LOCAL : time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series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measurements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are collected every hour.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Temporal kernels(</a:t>
            </a:r>
            <a:r>
              <a:rPr lang="en-US" altLang="ko-KR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Periodic kernel )</a:t>
            </a:r>
            <a:endParaRPr lang="ko-KR" alt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AFEA60-EF54-205B-DFED-E006F2CDA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144" y="1569108"/>
            <a:ext cx="5776743" cy="221720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519BCCB-BAB6-D076-4015-3A429AF3D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24495"/>
            <a:ext cx="3780001" cy="2520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8F7A6BF-427B-E8CF-8BEB-AEAB2DAD5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390" y="3925662"/>
            <a:ext cx="3778250" cy="251883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C66E9F-4FE7-F3CA-12D5-179B836CC934}"/>
              </a:ext>
            </a:extLst>
          </p:cNvPr>
          <p:cNvSpPr txBox="1"/>
          <p:nvPr/>
        </p:nvSpPr>
        <p:spPr>
          <a:xfrm>
            <a:off x="3390900" y="6508750"/>
            <a:ext cx="10922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Beijing</a:t>
            </a:r>
            <a:endParaRPr lang="ko-KR" altLang="en-US" sz="13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661E11-CA36-9505-94C9-36BDD954C523}"/>
              </a:ext>
            </a:extLst>
          </p:cNvPr>
          <p:cNvSpPr txBox="1"/>
          <p:nvPr/>
        </p:nvSpPr>
        <p:spPr>
          <a:xfrm>
            <a:off x="8312150" y="6444495"/>
            <a:ext cx="10922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US Local</a:t>
            </a:r>
            <a:endParaRPr lang="ko-KR" altLang="en-US" sz="13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5379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Experiments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19</a:t>
            </a:fld>
            <a:endParaRPr kumimoji="1" lang="ko-Kore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DAC7B2-0877-1B00-78D1-1D5C983E3971}"/>
              </a:ext>
            </a:extLst>
          </p:cNvPr>
          <p:cNvSpPr txBox="1"/>
          <p:nvPr/>
        </p:nvSpPr>
        <p:spPr>
          <a:xfrm>
            <a:off x="892700" y="1429762"/>
            <a:ext cx="10359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Imputation for electrical health records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F157B0-26E6-6B4A-94CB-6B0D3D226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6475"/>
            <a:ext cx="5493075" cy="37309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5D457A-5110-1C58-6709-EF700DD58715}"/>
              </a:ext>
            </a:extLst>
          </p:cNvPr>
          <p:cNvSpPr txBox="1"/>
          <p:nvPr/>
        </p:nvSpPr>
        <p:spPr>
          <a:xfrm>
            <a:off x="892700" y="3263315"/>
            <a:ext cx="4716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1" dirty="0"/>
              <a:t>Physionet2012 – </a:t>
            </a:r>
            <a:r>
              <a:rPr lang="en-US" altLang="ko-KR" b="1" i="1" dirty="0"/>
              <a:t>Mortality</a:t>
            </a:r>
            <a:r>
              <a:rPr lang="ko-KR" altLang="en-US" b="1" i="1" dirty="0"/>
              <a:t> </a:t>
            </a:r>
            <a:r>
              <a:rPr lang="en-US" altLang="ko-KR" b="1" i="1" dirty="0"/>
              <a:t>Prediction</a:t>
            </a:r>
            <a:r>
              <a:rPr lang="ko-KR" altLang="en-US" b="1" i="1" dirty="0"/>
              <a:t> </a:t>
            </a:r>
            <a:r>
              <a:rPr lang="ko-KR" altLang="en-US" b="1" i="1" dirty="0" err="1"/>
              <a:t>Challenge</a:t>
            </a:r>
            <a:endParaRPr lang="en-US" altLang="ko-KR" b="1" i="1" dirty="0"/>
          </a:p>
          <a:p>
            <a:r>
              <a:rPr lang="en-US" altLang="ko-KR" b="1" dirty="0"/>
              <a:t>ICU </a:t>
            </a:r>
            <a:r>
              <a:rPr lang="ko-KR" altLang="en-US" b="1" dirty="0"/>
              <a:t>환자의 </a:t>
            </a:r>
            <a:r>
              <a:rPr lang="en-US" altLang="ko-KR" b="1" dirty="0"/>
              <a:t>48</a:t>
            </a:r>
            <a:r>
              <a:rPr lang="ko-KR" altLang="en-US" b="1" dirty="0"/>
              <a:t>시간 병원 기록</a:t>
            </a:r>
            <a:r>
              <a:rPr lang="en-US" altLang="ko-KR" b="1" dirty="0"/>
              <a:t>(</a:t>
            </a:r>
            <a:r>
              <a:rPr lang="ko-KR" altLang="en-US" b="1" dirty="0"/>
              <a:t>환자 사망 예측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Missing ratio </a:t>
            </a:r>
            <a:r>
              <a:rPr lang="en-US" altLang="ko-KR" dirty="0"/>
              <a:t>: 80%</a:t>
            </a:r>
          </a:p>
        </p:txBody>
      </p:sp>
    </p:spTree>
    <p:extLst>
      <p:ext uri="{BB962C8B-B14F-4D97-AF65-F5344CB8AC3E}">
        <p14:creationId xmlns:p14="http://schemas.microsoft.com/office/powerpoint/2010/main" val="4208195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5. Conclusion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D6D28F-3355-98E4-D7A0-CC7AD386DB1D}"/>
              </a:ext>
            </a:extLst>
          </p:cNvPr>
          <p:cNvSpPr txBox="1"/>
          <p:nvPr/>
        </p:nvSpPr>
        <p:spPr>
          <a:xfrm>
            <a:off x="892700" y="1552138"/>
            <a:ext cx="9448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Key idea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ko-KR" dirty="0">
                <a:latin typeface="Arial" panose="020B0604020202020204" pitchFamily="34" charset="0"/>
              </a:rPr>
              <a:t>Conditional IB : capture temporal dependency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Imputation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방법론으로 인한 예측 성능 향상 입증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다양한 시계열 데이터셋에서 모두 우수한 성능을 보임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다양한 모델에서의 활용 가능성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Limitation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대용량 데이터셋에서의 검증을 하지 않음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계산 복잡도 및 시간 비용에서의 한계가 존재함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9541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2849598" y="375911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3698209" y="3053170"/>
            <a:ext cx="4795581" cy="7516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THANK YOU</a:t>
            </a:r>
            <a:endParaRPr kumimoji="1" lang="ko-KR" altLang="en-US" sz="5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8217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18215</TotalTime>
  <Words>1317</Words>
  <Application>Microsoft Office PowerPoint</Application>
  <PresentationFormat>와이드스크린</PresentationFormat>
  <Paragraphs>259</Paragraphs>
  <Slides>21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-apple-system</vt:lpstr>
      <vt:lpstr>Noto Sans KR</vt:lpstr>
      <vt:lpstr>Noto Sans KR Medium</vt:lpstr>
      <vt:lpstr>Arial</vt:lpstr>
      <vt:lpstr>Calibri</vt:lpstr>
      <vt:lpstr>Cambria Math</vt:lpstr>
      <vt:lpstr>Wingdings</vt:lpstr>
      <vt:lpstr>Office 테마</vt:lpstr>
      <vt:lpstr>Conditional Information Bottleneck Approach For Time Series Imputation</vt:lpstr>
      <vt:lpstr>1. Introduction</vt:lpstr>
      <vt:lpstr>2. Introduction</vt:lpstr>
      <vt:lpstr>2. Introduction</vt:lpstr>
      <vt:lpstr>2. Introduction</vt:lpstr>
      <vt:lpstr>2. Introduction</vt:lpstr>
      <vt:lpstr>3. Method</vt:lpstr>
      <vt:lpstr>3. Method</vt:lpstr>
      <vt:lpstr>3. Method</vt:lpstr>
      <vt:lpstr>3. Method</vt:lpstr>
      <vt:lpstr>3. Method</vt:lpstr>
      <vt:lpstr>3. Method</vt:lpstr>
      <vt:lpstr>3. Method</vt:lpstr>
      <vt:lpstr>3. Method</vt:lpstr>
      <vt:lpstr>4. Experiments</vt:lpstr>
      <vt:lpstr>4. Experiments</vt:lpstr>
      <vt:lpstr>4. Experiments</vt:lpstr>
      <vt:lpstr>4. Experiments</vt:lpstr>
      <vt:lpstr>4. Experiments</vt:lpstr>
      <vt:lpstr>5. Conclusion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Review :  Toward a Fully Automated Artificial Pancreas System Using a Bioinspired Reinforcement Learning Design : In Silico Validation</dc:title>
  <dc:creator>박찬영[ 대학원석사과정재학 / 산업경영공학과 ]</dc:creator>
  <cp:lastModifiedBy>hongbum kim</cp:lastModifiedBy>
  <cp:revision>74</cp:revision>
  <dcterms:created xsi:type="dcterms:W3CDTF">2022-12-08T07:49:53Z</dcterms:created>
  <dcterms:modified xsi:type="dcterms:W3CDTF">2024-07-12T04:30:48Z</dcterms:modified>
</cp:coreProperties>
</file>